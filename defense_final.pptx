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3" r:id="rId4"/>
    <p:sldId id="258" r:id="rId5"/>
    <p:sldId id="260" r:id="rId6"/>
    <p:sldId id="274" r:id="rId7"/>
    <p:sldId id="261" r:id="rId8"/>
    <p:sldId id="275" r:id="rId9"/>
    <p:sldId id="262" r:id="rId10"/>
    <p:sldId id="263" r:id="rId11"/>
    <p:sldId id="267" r:id="rId12"/>
    <p:sldId id="268" r:id="rId13"/>
    <p:sldId id="264" r:id="rId14"/>
    <p:sldId id="271" r:id="rId18"/>
    <p:sldId id="276" r:id="rId15"/>
    <p:sldId id="270" r:id="rId16"/>
    <p:sldId id="279" r:id="rId17"/>
    <p:sldId id="277" r:id="rId19"/>
    <p:sldId id="278" r:id="rId20"/>
    <p:sldId id="272"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79" userDrawn="1">
          <p15:clr>
            <a:srgbClr val="A4A3A4"/>
          </p15:clr>
        </p15:guide>
        <p15:guide id="2" pos="625" userDrawn="1">
          <p15:clr>
            <a:srgbClr val="A4A3A4"/>
          </p15:clr>
        </p15:guide>
        <p15:guide id="3" pos="3713" userDrawn="1">
          <p15:clr>
            <a:srgbClr val="A4A3A4"/>
          </p15:clr>
        </p15:guide>
        <p15:guide id="4" pos="7444" userDrawn="1">
          <p15:clr>
            <a:srgbClr val="A4A3A4"/>
          </p15:clr>
        </p15:guide>
        <p15:guide id="6" orient="horz" pos="2670" userDrawn="1">
          <p15:clr>
            <a:srgbClr val="A4A3A4"/>
          </p15:clr>
        </p15:guide>
        <p15:guide id="7" orient="horz" pos="42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C79B"/>
    <a:srgbClr val="B7DF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2" d="100"/>
          <a:sy n="82" d="100"/>
        </p:scale>
        <p:origin x="523" y="72"/>
      </p:cViewPr>
      <p:guideLst>
        <p:guide orient="horz" pos="3979"/>
        <p:guide pos="625"/>
        <p:guide pos="3713"/>
        <p:guide pos="7444"/>
        <p:guide orient="horz" pos="2670"/>
        <p:guide orient="horz" pos="4208"/>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 Id="rId25" Type="http://schemas.openxmlformats.org/officeDocument/2006/relationships/tags" Target="tags/tag2.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研究内容依据《刘方珂_开题答辩PPT_按模板清理版》第2页。SAC负责调节DWA参数，视觉在电梯区域触发。</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l="30" b="20755"/>
          <a:stretch>
            <a:fillRect/>
          </a:stretch>
        </p:blipFill>
        <p:spPr>
          <a:xfrm>
            <a:off x="0" y="1257300"/>
            <a:ext cx="12192000" cy="56007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8" name="矩形 7"/>
          <p:cNvSpPr/>
          <p:nvPr userDrawn="1"/>
        </p:nvSpPr>
        <p:spPr>
          <a:xfrm>
            <a:off x="0" y="0"/>
            <a:ext cx="12192000" cy="6858000"/>
          </a:xfrm>
          <a:prstGeom prst="rect">
            <a:avLst/>
          </a:prstGeom>
          <a:gradFill flip="none" rotWithShape="1">
            <a:gsLst>
              <a:gs pos="50000">
                <a:schemeClr val="bg1"/>
              </a:gs>
              <a:gs pos="10000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73E79A00-F72E-4DAB-9A64-F641B48BF8A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E7FFBC3-F5CD-4D99-AB58-6D5FBE6636A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BEB6A5B-8A86-4F09-82E1-5F6CD379E54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A948623-9F2C-4C76-BC61-DEB76E82A0A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8.pn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9.pn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室内, 桌子, 风景, 大&#10;&#10;描述已自动生成"/>
          <p:cNvPicPr>
            <a:picLocks noChangeAspect="1"/>
          </p:cNvPicPr>
          <p:nvPr/>
        </p:nvPicPr>
        <p:blipFill rotWithShape="1">
          <a:blip r:embed="rId1">
            <a:extLst>
              <a:ext uri="{28A0092B-C50C-407E-A947-70E740481C1C}">
                <a14:useLocalDpi xmlns:a14="http://schemas.microsoft.com/office/drawing/2010/main" val="0"/>
              </a:ext>
            </a:extLst>
          </a:blip>
          <a:srcRect t="13697" b="10305"/>
          <a:stretch>
            <a:fillRect/>
          </a:stretch>
        </p:blipFill>
        <p:spPr>
          <a:xfrm>
            <a:off x="-1" y="-1"/>
            <a:ext cx="12192000" cy="6680016"/>
          </a:xfrm>
          <a:prstGeom prst="rect">
            <a:avLst/>
          </a:prstGeom>
        </p:spPr>
      </p:pic>
      <p:sp>
        <p:nvSpPr>
          <p:cNvPr id="6" name="矩形 5"/>
          <p:cNvSpPr/>
          <p:nvPr/>
        </p:nvSpPr>
        <p:spPr>
          <a:xfrm>
            <a:off x="-1" y="-1"/>
            <a:ext cx="12192000" cy="6858001"/>
          </a:xfrm>
          <a:prstGeom prst="rect">
            <a:avLst/>
          </a:prstGeom>
          <a:gradFill>
            <a:gsLst>
              <a:gs pos="0">
                <a:schemeClr val="bg1">
                  <a:alpha val="90000"/>
                </a:schemeClr>
              </a:gs>
              <a:gs pos="100000">
                <a:schemeClr val="bg1">
                  <a:alpha val="97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p:cNvSpPr/>
          <p:nvPr/>
        </p:nvSpPr>
        <p:spPr>
          <a:xfrm>
            <a:off x="3078" y="5828145"/>
            <a:ext cx="12185843" cy="1029856"/>
          </a:xfrm>
          <a:custGeom>
            <a:avLst/>
            <a:gdLst>
              <a:gd name="connsiteX0" fmla="*/ 9144000 w 9144000"/>
              <a:gd name="connsiteY0" fmla="*/ 351527 h 453306"/>
              <a:gd name="connsiteX1" fmla="*/ 9144000 w 9144000"/>
              <a:gd name="connsiteY1" fmla="*/ 453306 h 453306"/>
              <a:gd name="connsiteX2" fmla="*/ 6883480 w 9144000"/>
              <a:gd name="connsiteY2" fmla="*/ 453306 h 453306"/>
              <a:gd name="connsiteX3" fmla="*/ 7031169 w 9144000"/>
              <a:gd name="connsiteY3" fmla="*/ 450745 h 453306"/>
              <a:gd name="connsiteX4" fmla="*/ 8721899 w 9144000"/>
              <a:gd name="connsiteY4" fmla="*/ 380661 h 453306"/>
              <a:gd name="connsiteX5" fmla="*/ 0 w 9144000"/>
              <a:gd name="connsiteY5" fmla="*/ 0 h 453306"/>
              <a:gd name="connsiteX6" fmla="*/ 20239 w 9144000"/>
              <a:gd name="connsiteY6" fmla="*/ 6796 h 453306"/>
              <a:gd name="connsiteX7" fmla="*/ 4554173 w 9144000"/>
              <a:gd name="connsiteY7" fmla="*/ 450745 h 453306"/>
              <a:gd name="connsiteX8" fmla="*/ 4701864 w 9144000"/>
              <a:gd name="connsiteY8" fmla="*/ 453306 h 453306"/>
              <a:gd name="connsiteX9" fmla="*/ 0 w 9144000"/>
              <a:gd name="connsiteY9" fmla="*/ 453306 h 453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53306">
                <a:moveTo>
                  <a:pt x="9144000" y="351527"/>
                </a:moveTo>
                <a:lnTo>
                  <a:pt x="9144000" y="453306"/>
                </a:lnTo>
                <a:lnTo>
                  <a:pt x="6883480" y="453306"/>
                </a:lnTo>
                <a:lnTo>
                  <a:pt x="7031169" y="450745"/>
                </a:lnTo>
                <a:cubicBezTo>
                  <a:pt x="7631238" y="436794"/>
                  <a:pt x="8199449" y="412907"/>
                  <a:pt x="8721899" y="380661"/>
                </a:cubicBezTo>
                <a:close/>
                <a:moveTo>
                  <a:pt x="0" y="0"/>
                </a:moveTo>
                <a:lnTo>
                  <a:pt x="20239" y="6796"/>
                </a:lnTo>
                <a:cubicBezTo>
                  <a:pt x="743960" y="231363"/>
                  <a:pt x="2453931" y="401917"/>
                  <a:pt x="4554173" y="450745"/>
                </a:cubicBezTo>
                <a:lnTo>
                  <a:pt x="4701864" y="453306"/>
                </a:lnTo>
                <a:lnTo>
                  <a:pt x="0" y="45330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b="1" dirty="0">
              <a:solidFill>
                <a:schemeClr val="bg1"/>
              </a:solidFill>
              <a:latin typeface="微软雅黑" panose="020B0503020204020204" charset="-122"/>
              <a:ea typeface="微软雅黑" panose="020B0503020204020204" charset="-122"/>
            </a:endParaRPr>
          </a:p>
        </p:txBody>
      </p:sp>
      <p:sp>
        <p:nvSpPr>
          <p:cNvPr id="24" name="任意多边形: 形状 23"/>
          <p:cNvSpPr/>
          <p:nvPr/>
        </p:nvSpPr>
        <p:spPr>
          <a:xfrm flipH="1">
            <a:off x="-1" y="5828145"/>
            <a:ext cx="12192000" cy="1029856"/>
          </a:xfrm>
          <a:custGeom>
            <a:avLst/>
            <a:gdLst>
              <a:gd name="connsiteX0" fmla="*/ 9144000 w 9144000"/>
              <a:gd name="connsiteY0" fmla="*/ 351527 h 453306"/>
              <a:gd name="connsiteX1" fmla="*/ 9144000 w 9144000"/>
              <a:gd name="connsiteY1" fmla="*/ 453306 h 453306"/>
              <a:gd name="connsiteX2" fmla="*/ 6883480 w 9144000"/>
              <a:gd name="connsiteY2" fmla="*/ 453306 h 453306"/>
              <a:gd name="connsiteX3" fmla="*/ 7031169 w 9144000"/>
              <a:gd name="connsiteY3" fmla="*/ 450745 h 453306"/>
              <a:gd name="connsiteX4" fmla="*/ 8721899 w 9144000"/>
              <a:gd name="connsiteY4" fmla="*/ 380661 h 453306"/>
              <a:gd name="connsiteX5" fmla="*/ 0 w 9144000"/>
              <a:gd name="connsiteY5" fmla="*/ 0 h 453306"/>
              <a:gd name="connsiteX6" fmla="*/ 20239 w 9144000"/>
              <a:gd name="connsiteY6" fmla="*/ 6796 h 453306"/>
              <a:gd name="connsiteX7" fmla="*/ 4554173 w 9144000"/>
              <a:gd name="connsiteY7" fmla="*/ 450745 h 453306"/>
              <a:gd name="connsiteX8" fmla="*/ 4701864 w 9144000"/>
              <a:gd name="connsiteY8" fmla="*/ 453306 h 453306"/>
              <a:gd name="connsiteX9" fmla="*/ 0 w 9144000"/>
              <a:gd name="connsiteY9" fmla="*/ 453306 h 453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53306">
                <a:moveTo>
                  <a:pt x="9144000" y="351527"/>
                </a:moveTo>
                <a:lnTo>
                  <a:pt x="9144000" y="453306"/>
                </a:lnTo>
                <a:lnTo>
                  <a:pt x="6883480" y="453306"/>
                </a:lnTo>
                <a:lnTo>
                  <a:pt x="7031169" y="450745"/>
                </a:lnTo>
                <a:cubicBezTo>
                  <a:pt x="7631238" y="436794"/>
                  <a:pt x="8199449" y="412907"/>
                  <a:pt x="8721899" y="380661"/>
                </a:cubicBezTo>
                <a:close/>
                <a:moveTo>
                  <a:pt x="0" y="0"/>
                </a:moveTo>
                <a:lnTo>
                  <a:pt x="20239" y="6796"/>
                </a:lnTo>
                <a:cubicBezTo>
                  <a:pt x="743960" y="231363"/>
                  <a:pt x="2453931" y="401917"/>
                  <a:pt x="4554173" y="450745"/>
                </a:cubicBezTo>
                <a:lnTo>
                  <a:pt x="4701864" y="453306"/>
                </a:lnTo>
                <a:lnTo>
                  <a:pt x="0" y="45330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b="1" dirty="0">
              <a:solidFill>
                <a:schemeClr val="bg1"/>
              </a:solidFill>
              <a:latin typeface="微软雅黑" panose="020B0503020204020204" charset="-122"/>
              <a:ea typeface="微软雅黑" panose="020B0503020204020204" charset="-122"/>
            </a:endParaRPr>
          </a:p>
        </p:txBody>
      </p:sp>
      <p:grpSp>
        <p:nvGrpSpPr>
          <p:cNvPr id="29" name="组合 28"/>
          <p:cNvGrpSpPr/>
          <p:nvPr/>
        </p:nvGrpSpPr>
        <p:grpSpPr>
          <a:xfrm>
            <a:off x="-1" y="0"/>
            <a:ext cx="12192000" cy="1427677"/>
            <a:chOff x="0" y="0"/>
            <a:chExt cx="12192000" cy="1427677"/>
          </a:xfrm>
        </p:grpSpPr>
        <p:pic>
          <p:nvPicPr>
            <p:cNvPr id="22" name="图片 21"/>
            <p:cNvPicPr>
              <a:picLocks noChangeAspect="1"/>
            </p:cNvPicPr>
            <p:nvPr/>
          </p:nvPicPr>
          <p:blipFill>
            <a:blip r:embed="rId2">
              <a:alphaModFix amt="40000"/>
              <a:duotone>
                <a:schemeClr val="accent1">
                  <a:shade val="45000"/>
                  <a:satMod val="135000"/>
                </a:schemeClr>
                <a:prstClr val="white"/>
              </a:duotone>
            </a:blip>
            <a:stretch>
              <a:fillRect/>
            </a:stretch>
          </p:blipFill>
          <p:spPr>
            <a:xfrm flipV="1">
              <a:off x="7629876" y="0"/>
              <a:ext cx="4562124" cy="1427677"/>
            </a:xfrm>
            <a:prstGeom prst="rect">
              <a:avLst/>
            </a:prstGeom>
          </p:spPr>
        </p:pic>
        <p:pic>
          <p:nvPicPr>
            <p:cNvPr id="25" name="图片 24"/>
            <p:cNvPicPr>
              <a:picLocks noChangeAspect="1"/>
            </p:cNvPicPr>
            <p:nvPr/>
          </p:nvPicPr>
          <p:blipFill>
            <a:blip r:embed="rId2">
              <a:alphaModFix amt="40000"/>
              <a:duotone>
                <a:schemeClr val="accent1">
                  <a:shade val="45000"/>
                  <a:satMod val="135000"/>
                </a:schemeClr>
                <a:prstClr val="white"/>
              </a:duotone>
            </a:blip>
            <a:stretch>
              <a:fillRect/>
            </a:stretch>
          </p:blipFill>
          <p:spPr>
            <a:xfrm flipH="1" flipV="1">
              <a:off x="0" y="0"/>
              <a:ext cx="4562124" cy="1427677"/>
            </a:xfrm>
            <a:prstGeom prst="rect">
              <a:avLst/>
            </a:prstGeom>
          </p:spPr>
        </p:pic>
      </p:grpSp>
      <p:sp>
        <p:nvSpPr>
          <p:cNvPr id="26" name="矩形 25"/>
          <p:cNvSpPr/>
          <p:nvPr/>
        </p:nvSpPr>
        <p:spPr>
          <a:xfrm>
            <a:off x="-1" y="1263389"/>
            <a:ext cx="12192000" cy="2933681"/>
          </a:xfrm>
          <a:prstGeom prst="rect">
            <a:avLst/>
          </a:prstGeom>
          <a:solidFill>
            <a:schemeClr val="bg1"/>
          </a:solidFill>
          <a:ln>
            <a:noFill/>
          </a:ln>
          <a:effectLst>
            <a:outerShdw blurRad="279400" sx="85000" sy="85000" algn="ctr" rotWithShape="0">
              <a:srgbClr val="0C62C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a:off x="311149" y="4209219"/>
            <a:ext cx="11569700" cy="0"/>
          </a:xfrm>
          <a:prstGeom prst="line">
            <a:avLst/>
          </a:prstGeom>
          <a:ln w="19050">
            <a:gradFill>
              <a:gsLst>
                <a:gs pos="0">
                  <a:schemeClr val="accent1">
                    <a:alpha val="0"/>
                  </a:schemeClr>
                </a:gs>
                <a:gs pos="50000">
                  <a:schemeClr val="accent1">
                    <a:alpha val="30000"/>
                  </a:schemeClr>
                </a:gs>
                <a:gs pos="100000">
                  <a:schemeClr val="accent1">
                    <a:alpha val="0"/>
                  </a:schemeClr>
                </a:gs>
              </a:gsLst>
              <a:lin ang="10800000" scaled="0"/>
            </a:gradFill>
            <a:tailEnd type="none"/>
          </a:ln>
          <a:effectLst/>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365760" y="1517904"/>
            <a:ext cx="11457432" cy="2286000"/>
          </a:xfrm>
          <a:prstGeom prst="rect">
            <a:avLst/>
          </a:prstGeom>
          <a:noFill/>
        </p:spPr>
        <p:txBody>
          <a:bodyPr wrap="square" lIns="18288" rIns="18288" tIns="18288" bIns="18288" anchor="ctr">
            <a:noAutofit/>
          </a:bodyPr>
          <a:lstStyle/>
          <a:p>
            <a:pPr algn="ctr" marL="0" indent="0">
              <a:lnSpc>
                <a:spcPct val="135000"/>
              </a:lnSpc>
              <a:spcBef>
                <a:spcPts val="0"/>
              </a:spcBef>
              <a:spcAft>
                <a:spcPts val="0"/>
              </a:spcAft>
              <a:buNone/>
            </a:pPr>
            <a:r>
              <a:rPr sz="3500" b="1" lang="zh-CN">
                <a:solidFill>
                  <a:srgbClr val="002FA8"/>
                </a:solidFill>
                <a:latin typeface="Noto Sans CJK SC"/>
                <a:ea typeface="Noto Sans CJK SC"/>
                <a:cs typeface="Noto Sans CJK SC"/>
              </a:rPr>
              <a:t>融合视觉感知与强化学习的动态室内环境</a:t>
            </a:r>
            <a:endParaRPr lang="zh-CN" altLang="en-US" sz="5400" dirty="0">
              <a:solidFill>
                <a:schemeClr val="accent1"/>
              </a:solidFill>
              <a:latin typeface="思源宋体 CN Heavy" panose="02020900000000000000" pitchFamily="18" charset="-122"/>
              <a:ea typeface="思源宋体 CN Heavy" panose="02020900000000000000" pitchFamily="18" charset="-122"/>
              <a:cs typeface="Times New Roman" panose="02020603050405020304" pitchFamily="18" charset="0"/>
            </a:endParaRPr>
          </a:p>
          <a:p>
            <a:pPr algn="ctr" marL="0" indent="0">
              <a:lnSpc>
                <a:spcPct val="135000"/>
              </a:lnSpc>
              <a:spcBef>
                <a:spcPts val="0"/>
              </a:spcBef>
              <a:spcAft>
                <a:spcPts val="0"/>
              </a:spcAft>
              <a:buNone/>
            </a:pPr>
            <a:r>
              <a:rPr sz="3500" b="1" lang="zh-CN">
                <a:solidFill>
                  <a:srgbClr val="002FA8"/>
                </a:solidFill>
                <a:latin typeface="Noto Sans CJK SC"/>
                <a:ea typeface="Noto Sans CJK SC"/>
                <a:cs typeface="Noto Sans CJK SC"/>
              </a:rPr>
              <a:t>无人车规划与控制方法研究</a:t>
            </a:r>
          </a:p>
        </p:txBody>
      </p:sp>
      <p:grpSp>
        <p:nvGrpSpPr>
          <p:cNvPr id="52" name="组合 51"/>
          <p:cNvGrpSpPr/>
          <p:nvPr/>
        </p:nvGrpSpPr>
        <p:grpSpPr>
          <a:xfrm>
            <a:off x="4561628" y="4776827"/>
            <a:ext cx="3256704" cy="482838"/>
            <a:chOff x="4467649" y="4533984"/>
            <a:chExt cx="3256704" cy="482838"/>
          </a:xfrm>
        </p:grpSpPr>
        <p:sp>
          <p:nvSpPr>
            <p:cNvPr id="50" name="矩形: 圆角 49"/>
            <p:cNvSpPr/>
            <p:nvPr/>
          </p:nvSpPr>
          <p:spPr>
            <a:xfrm>
              <a:off x="4467649" y="4533984"/>
              <a:ext cx="3256704" cy="482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思源黑体 CN Light"/>
                <a:cs typeface="+mn-cs"/>
              </a:endParaRPr>
            </a:p>
          </p:txBody>
        </p:sp>
        <p:sp>
          <p:nvSpPr>
            <p:cNvPr id="51" name="文本框 50"/>
            <p:cNvSpPr txBox="1"/>
            <p:nvPr/>
          </p:nvSpPr>
          <p:spPr>
            <a:xfrm>
              <a:off x="4937761" y="4545841"/>
              <a:ext cx="2316480" cy="460375"/>
            </a:xfrm>
            <a:prstGeom prst="rect">
              <a:avLst/>
            </a:prstGeom>
            <a:noFill/>
          </p:spPr>
          <p:txBody>
            <a:bodyPr wrap="none" rtlCol="0">
              <a:spAutoFit/>
            </a:bodyPr>
            <a:lstStyle/>
            <a:p>
              <a:pPr defTabSz="457200">
                <a:tabLst>
                  <a:tab pos="2778125" algn="l"/>
                </a:tabLst>
              </a:pPr>
              <a:r>
                <a:rPr lang="zh-CN" altLang="en-US" sz="2400" dirty="0">
                  <a:solidFill>
                    <a:srgbClr val="FFFFFF"/>
                  </a:solidFill>
                  <a:latin typeface="思源黑体 CN Bold" panose="020B0800000000000000" charset="-122"/>
                  <a:ea typeface="思源黑体 CN Bold" panose="020B0800000000000000" charset="-122"/>
                </a:rPr>
                <a:t>答辩人：</a:t>
              </a:r>
              <a:r>
                <a:rPr lang="zh-CN" altLang="en-US" sz="2400" dirty="0">
                  <a:solidFill>
                    <a:srgbClr val="FFFFFF"/>
                  </a:solidFill>
                  <a:latin typeface="思源黑体 CN Bold" panose="020B0800000000000000" charset="-122"/>
                  <a:ea typeface="思源黑体 CN Bold" panose="020B0800000000000000" charset="-122"/>
                </a:rPr>
                <a:t>刘方珂</a:t>
              </a:r>
              <a:endParaRPr lang="zh-CN" altLang="en-US" sz="2400" dirty="0">
                <a:solidFill>
                  <a:srgbClr val="FFFFFF"/>
                </a:solidFill>
                <a:latin typeface="思源黑体 CN Bold" panose="020B0800000000000000" charset="-122"/>
                <a:ea typeface="思源黑体 CN Bold" panose="020B0800000000000000" charset="-122"/>
              </a:endParaRPr>
            </a:p>
          </p:txBody>
        </p:sp>
      </p:grpSp>
      <p:pic>
        <p:nvPicPr>
          <p:cNvPr id="4" name="图片 83"/>
          <p:cNvPicPr>
            <a:picLocks noChangeAspect="1"/>
          </p:cNvPicPr>
          <p:nvPr/>
        </p:nvPicPr>
        <p:blipFill>
          <a:blip r:embed="rId3">
            <a:extLst>
              <a:ext uri="{96DAC541-7B7A-43D3-8B79-37D633B846F1}">
                <asvg:svgBlip xmlns:asvg="http://schemas.microsoft.com/office/drawing/2016/SVG/main" r:embed="rId4"/>
              </a:ext>
            </a:extLst>
          </a:blip>
          <a:srcRect/>
          <a:stretch>
            <a:fillRect/>
          </a:stretch>
        </p:blipFill>
        <p:spPr>
          <a:xfrm>
            <a:off x="10032400" y="125408"/>
            <a:ext cx="1786483" cy="5242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rotWithShape="1">
          <a:blip r:embed="rId1">
            <a:alphaModFix amt="15000"/>
          </a:blip>
          <a:srcRect t="2152" b="44416"/>
          <a:stretch>
            <a:fillRect/>
          </a:stretch>
        </p:blipFill>
        <p:spPr>
          <a:xfrm>
            <a:off x="3" y="0"/>
            <a:ext cx="12191997" cy="2728686"/>
          </a:xfrm>
          <a:prstGeom prst="rect">
            <a:avLst/>
          </a:prstGeom>
        </p:spPr>
      </p:pic>
      <p:pic>
        <p:nvPicPr>
          <p:cNvPr id="60" name="图片 59"/>
          <p:cNvPicPr>
            <a:picLocks noChangeAspect="1"/>
          </p:cNvPicPr>
          <p:nvPr/>
        </p:nvPicPr>
        <p:blipFill rotWithShape="1">
          <a:blip r:embed="rId2"/>
          <a:srcRect l="36895" r="29736"/>
          <a:stretch>
            <a:fillRect/>
          </a:stretch>
        </p:blipFill>
        <p:spPr>
          <a:xfrm>
            <a:off x="317" y="1143000"/>
            <a:ext cx="4068319" cy="5715000"/>
          </a:xfrm>
          <a:custGeom>
            <a:avLst/>
            <a:gdLst>
              <a:gd name="connsiteX0" fmla="*/ 0 w 4068319"/>
              <a:gd name="connsiteY0" fmla="*/ 0 h 5715000"/>
              <a:gd name="connsiteX1" fmla="*/ 4068319 w 4068319"/>
              <a:gd name="connsiteY1" fmla="*/ 0 h 5715000"/>
              <a:gd name="connsiteX2" fmla="*/ 4068319 w 4068319"/>
              <a:gd name="connsiteY2" fmla="*/ 5715000 h 5715000"/>
              <a:gd name="connsiteX3" fmla="*/ 0 w 4068319"/>
              <a:gd name="connsiteY3" fmla="*/ 5715000 h 5715000"/>
            </a:gdLst>
            <a:ahLst/>
            <a:cxnLst>
              <a:cxn ang="0">
                <a:pos x="connsiteX0" y="connsiteY0"/>
              </a:cxn>
              <a:cxn ang="0">
                <a:pos x="connsiteX1" y="connsiteY1"/>
              </a:cxn>
              <a:cxn ang="0">
                <a:pos x="connsiteX2" y="connsiteY2"/>
              </a:cxn>
              <a:cxn ang="0">
                <a:pos x="connsiteX3" y="connsiteY3"/>
              </a:cxn>
            </a:cxnLst>
            <a:rect l="l" t="t" r="r" b="b"/>
            <a:pathLst>
              <a:path w="4068319" h="5715000">
                <a:moveTo>
                  <a:pt x="0" y="0"/>
                </a:moveTo>
                <a:lnTo>
                  <a:pt x="4068319" y="0"/>
                </a:lnTo>
                <a:lnTo>
                  <a:pt x="4068319" y="5715000"/>
                </a:lnTo>
                <a:lnTo>
                  <a:pt x="0" y="5715000"/>
                </a:lnTo>
                <a:close/>
              </a:path>
            </a:pathLst>
          </a:custGeom>
        </p:spPr>
      </p:pic>
      <p:sp>
        <p:nvSpPr>
          <p:cNvPr id="36" name="矩形 35"/>
          <p:cNvSpPr/>
          <p:nvPr/>
        </p:nvSpPr>
        <p:spPr>
          <a:xfrm>
            <a:off x="-634" y="0"/>
            <a:ext cx="4068953" cy="6858000"/>
          </a:xfrm>
          <a:prstGeom prst="rect">
            <a:avLst/>
          </a:prstGeom>
          <a:gradFill>
            <a:gsLst>
              <a:gs pos="0">
                <a:schemeClr val="accent1">
                  <a:alpha val="80000"/>
                </a:schemeClr>
              </a:gs>
              <a:gs pos="88000">
                <a:schemeClr val="accent1"/>
              </a:gs>
            </a:gsLst>
            <a:lin ang="162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rgbClr val="F2F2F2"/>
              </a:solidFill>
            </a:endParaRPr>
          </a:p>
        </p:txBody>
      </p:sp>
      <p:sp>
        <p:nvSpPr>
          <p:cNvPr id="37" name="矩形: 圆角 36"/>
          <p:cNvSpPr/>
          <p:nvPr/>
        </p:nvSpPr>
        <p:spPr>
          <a:xfrm>
            <a:off x="1651001" y="902667"/>
            <a:ext cx="10071100" cy="5171217"/>
          </a:xfrm>
          <a:prstGeom prst="roundRect">
            <a:avLst>
              <a:gd name="adj" fmla="val 1931"/>
            </a:avLst>
          </a:prstGeom>
          <a:solidFill>
            <a:schemeClr val="bg1"/>
          </a:solidFill>
          <a:ln w="12700" cap="flat" cmpd="sng" algn="ctr">
            <a:noFill/>
            <a:prstDash val="solid"/>
            <a:miter lim="800000"/>
          </a:ln>
          <a:effectLst>
            <a:outerShdw blurRad="127000" dist="38100" dir="5400000" algn="t" rotWithShape="0">
              <a:schemeClr val="accent1">
                <a:alpha val="5000"/>
              </a:schemeClr>
            </a:outerShdw>
          </a:effectLst>
        </p:spPr>
        <p:txBody>
          <a:bodyPr rtlCol="0" anchor="ctr"/>
          <a:lstStyle/>
          <a:p>
            <a:pPr algn="ctr"/>
            <a:endParaRPr lang="zh-CN" altLang="en-US" sz="1200" kern="0">
              <a:gradFill>
                <a:gsLst>
                  <a:gs pos="0">
                    <a:srgbClr val="CA865F">
                      <a:lumMod val="60000"/>
                      <a:lumOff val="40000"/>
                    </a:srgbClr>
                  </a:gs>
                  <a:gs pos="100000">
                    <a:srgbClr val="CA865F"/>
                  </a:gs>
                </a:gsLst>
                <a:lin ang="2700000" scaled="1"/>
              </a:gradFill>
              <a:latin typeface="Roboto" panose="02000000000000000000"/>
            </a:endParaRPr>
          </a:p>
        </p:txBody>
      </p:sp>
      <p:grpSp>
        <p:nvGrpSpPr>
          <p:cNvPr id="38" name="组合 37"/>
          <p:cNvGrpSpPr/>
          <p:nvPr/>
        </p:nvGrpSpPr>
        <p:grpSpPr>
          <a:xfrm>
            <a:off x="2147597" y="1226118"/>
            <a:ext cx="1667719" cy="4524315"/>
            <a:chOff x="1987941" y="979896"/>
            <a:chExt cx="1667719" cy="4524315"/>
          </a:xfrm>
        </p:grpSpPr>
        <p:sp>
          <p:nvSpPr>
            <p:cNvPr id="39" name="文本框 38"/>
            <p:cNvSpPr txBox="1"/>
            <p:nvPr/>
          </p:nvSpPr>
          <p:spPr>
            <a:xfrm>
              <a:off x="2547664" y="979896"/>
              <a:ext cx="1107996" cy="4524315"/>
            </a:xfrm>
            <a:prstGeom prst="rect">
              <a:avLst/>
            </a:prstGeom>
            <a:noFill/>
          </p:spPr>
          <p:txBody>
            <a:bodyPr wrap="none" rtlCol="0">
              <a:spAutoFit/>
            </a:bodyPr>
            <a:lstStyle/>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汇</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报</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提</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纲</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p:txBody>
        </p:sp>
        <p:sp>
          <p:nvSpPr>
            <p:cNvPr id="40" name="文本框 39"/>
            <p:cNvSpPr txBox="1"/>
            <p:nvPr/>
          </p:nvSpPr>
          <p:spPr>
            <a:xfrm>
              <a:off x="1987941" y="2161966"/>
              <a:ext cx="738664" cy="3133636"/>
            </a:xfrm>
            <a:prstGeom prst="rect">
              <a:avLst/>
            </a:prstGeom>
            <a:noFill/>
            <a:ln>
              <a:noFill/>
            </a:ln>
          </p:spPr>
          <p:txBody>
            <a:bodyPr vert="eaVert" wrap="square" rtlCol="0">
              <a:spAutoFit/>
            </a:bodyPr>
            <a:lstStyle/>
            <a:p>
              <a:pPr algn="dist"/>
              <a:r>
                <a:rPr lang="en-US" altLang="zh-CN" sz="3600" dirty="0">
                  <a:ln>
                    <a:solidFill>
                      <a:schemeClr val="accent1">
                        <a:alpha val="20000"/>
                      </a:schemeClr>
                    </a:solidFill>
                  </a:ln>
                  <a:noFill/>
                  <a:latin typeface="思源黑体 CN Heavy" panose="020B0A00000000000000" pitchFamily="34" charset="-122"/>
                  <a:ea typeface="思源黑体 CN Heavy" panose="020B0A00000000000000" pitchFamily="34" charset="-122"/>
                </a:rPr>
                <a:t>contents</a:t>
              </a:r>
              <a:endParaRPr lang="zh-CN" altLang="en-US" sz="3600" dirty="0">
                <a:ln>
                  <a:solidFill>
                    <a:schemeClr val="accent1">
                      <a:alpha val="20000"/>
                    </a:schemeClr>
                  </a:solidFill>
                </a:ln>
                <a:noFill/>
                <a:latin typeface="思源黑体 CN Heavy" panose="020B0A00000000000000" pitchFamily="34" charset="-122"/>
                <a:ea typeface="思源黑体 CN Heavy" panose="020B0A00000000000000" pitchFamily="34" charset="-122"/>
              </a:endParaRPr>
            </a:p>
          </p:txBody>
        </p:sp>
      </p:grpSp>
      <p:sp>
        <p:nvSpPr>
          <p:cNvPr id="61" name="Rounded Rectangle 60"/>
          <p:cNvSpPr/>
          <p:nvPr/>
        </p:nvSpPr>
        <p:spPr>
          <a:xfrm>
            <a:off x="4645152" y="1133856"/>
            <a:ext cx="6345936" cy="749808"/>
          </a:xfrm>
          <a:prstGeom prst="roundRect">
            <a:avLst>
              <a:gd name="adj" fmla="val 6000"/>
            </a:avLst>
          </a:prstGeom>
          <a:solidFill>
            <a:srgbClr val="FFFFFF"/>
          </a:solidFill>
          <a:ln w="7620">
            <a:solidFill>
              <a:srgbClr val="CBD5E8"/>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55464" y="1252728"/>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01</a:t>
            </a:r>
          </a:p>
        </p:txBody>
      </p:sp>
      <p:cxnSp>
        <p:nvCxnSpPr>
          <p:cNvPr id="63" name="Connector 62"/>
          <p:cNvCxnSpPr/>
          <p:nvPr/>
        </p:nvCxnSpPr>
        <p:spPr>
          <a:xfrm>
            <a:off x="5550408" y="1335024"/>
            <a:ext cx="0" cy="338328"/>
          </a:xfrm>
          <a:prstGeom prst="line">
            <a:avLst/>
          </a:prstGeom>
          <a:ln w="12700">
            <a:solidFill>
              <a:srgbClr val="002FA8"/>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733288" y="1243584"/>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研究背景</a:t>
            </a:r>
          </a:p>
        </p:txBody>
      </p:sp>
      <p:sp>
        <p:nvSpPr>
          <p:cNvPr id="65" name="Rounded Rectangle 64"/>
          <p:cNvSpPr/>
          <p:nvPr/>
        </p:nvSpPr>
        <p:spPr>
          <a:xfrm>
            <a:off x="4645152" y="2103120"/>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855464" y="2221991"/>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02</a:t>
            </a:r>
          </a:p>
        </p:txBody>
      </p:sp>
      <p:cxnSp>
        <p:nvCxnSpPr>
          <p:cNvPr id="67" name="Connector 66"/>
          <p:cNvCxnSpPr/>
          <p:nvPr/>
        </p:nvCxnSpPr>
        <p:spPr>
          <a:xfrm>
            <a:off x="5550408" y="2304288"/>
            <a:ext cx="0" cy="338327"/>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733288" y="2212848"/>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研究内容</a:t>
            </a:r>
          </a:p>
        </p:txBody>
      </p:sp>
      <p:sp>
        <p:nvSpPr>
          <p:cNvPr id="69" name="Rounded Rectangle 68"/>
          <p:cNvSpPr/>
          <p:nvPr/>
        </p:nvSpPr>
        <p:spPr>
          <a:xfrm>
            <a:off x="4645152" y="3072384"/>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5464" y="3191256"/>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03</a:t>
            </a:r>
          </a:p>
        </p:txBody>
      </p:sp>
      <p:cxnSp>
        <p:nvCxnSpPr>
          <p:cNvPr id="71" name="Connector 70"/>
          <p:cNvCxnSpPr/>
          <p:nvPr/>
        </p:nvCxnSpPr>
        <p:spPr>
          <a:xfrm>
            <a:off x="5550408" y="3273552"/>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733288" y="3182112"/>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主要技术路线</a:t>
            </a:r>
          </a:p>
        </p:txBody>
      </p:sp>
      <p:sp>
        <p:nvSpPr>
          <p:cNvPr id="73" name="Rounded Rectangle 72"/>
          <p:cNvSpPr/>
          <p:nvPr/>
        </p:nvSpPr>
        <p:spPr>
          <a:xfrm>
            <a:off x="4645152" y="4041648"/>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55464" y="4160520"/>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04</a:t>
            </a:r>
          </a:p>
        </p:txBody>
      </p:sp>
      <p:cxnSp>
        <p:nvCxnSpPr>
          <p:cNvPr id="75" name="Connector 74"/>
          <p:cNvCxnSpPr/>
          <p:nvPr/>
        </p:nvCxnSpPr>
        <p:spPr>
          <a:xfrm>
            <a:off x="5550408" y="4242816"/>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733288" y="4151376"/>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创新点</a:t>
            </a:r>
          </a:p>
        </p:txBody>
      </p:sp>
      <p:sp>
        <p:nvSpPr>
          <p:cNvPr id="77" name="Rounded Rectangle 76"/>
          <p:cNvSpPr/>
          <p:nvPr/>
        </p:nvSpPr>
        <p:spPr>
          <a:xfrm>
            <a:off x="4645152" y="5010912"/>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855464" y="5129784"/>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05</a:t>
            </a:r>
          </a:p>
        </p:txBody>
      </p:sp>
      <p:cxnSp>
        <p:nvCxnSpPr>
          <p:cNvPr id="79" name="Connector 78"/>
          <p:cNvCxnSpPr/>
          <p:nvPr/>
        </p:nvCxnSpPr>
        <p:spPr>
          <a:xfrm>
            <a:off x="5550408" y="5212080"/>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733288" y="5120640"/>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时间安排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矩形: 圆角 85"/>
          <p:cNvSpPr/>
          <p:nvPr/>
        </p:nvSpPr>
        <p:spPr>
          <a:xfrm>
            <a:off x="371476" y="2225700"/>
            <a:ext cx="5743256" cy="4122604"/>
          </a:xfrm>
          <a:prstGeom prst="roundRect">
            <a:avLst>
              <a:gd name="adj" fmla="val 0"/>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dirty="0">
              <a:solidFill>
                <a:prstClr val="white"/>
              </a:solidFill>
              <a:latin typeface="Roboto" panose="02000000000000000000"/>
            </a:endParaRPr>
          </a:p>
        </p:txBody>
      </p:sp>
      <p:sp>
        <p:nvSpPr>
          <p:cNvPr id="85" name="矩形 84"/>
          <p:cNvSpPr/>
          <p:nvPr/>
        </p:nvSpPr>
        <p:spPr>
          <a:xfrm>
            <a:off x="374539" y="911942"/>
            <a:ext cx="11445986" cy="991462"/>
          </a:xfrm>
          <a:prstGeom prst="rect">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a:solidFill>
                <a:prstClr val="white"/>
              </a:solidFill>
              <a:latin typeface="Roboto" panose="02000000000000000000"/>
            </a:endParaRPr>
          </a:p>
        </p:txBody>
      </p:sp>
      <p:grpSp>
        <p:nvGrpSpPr>
          <p:cNvPr id="29" name="组合 28"/>
          <p:cNvGrpSpPr/>
          <p:nvPr/>
        </p:nvGrpSpPr>
        <p:grpSpPr>
          <a:xfrm>
            <a:off x="354000" y="665339"/>
            <a:ext cx="11484000" cy="65705"/>
            <a:chOff x="208948" y="646179"/>
            <a:chExt cx="8680259" cy="115737"/>
          </a:xfrm>
        </p:grpSpPr>
        <p:sp>
          <p:nvSpPr>
            <p:cNvPr id="30" name="梯形 29"/>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31" name="梯形 30"/>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框 32"/>
          <p:cNvSpPr txBox="1"/>
          <p:nvPr/>
        </p:nvSpPr>
        <p:spPr>
          <a:xfrm>
            <a:off x="875659" y="956712"/>
            <a:ext cx="10941801" cy="902970"/>
          </a:xfrm>
          <a:prstGeom prst="rect">
            <a:avLst/>
          </a:prstGeom>
          <a:noFill/>
        </p:spPr>
        <p:txBody>
          <a:bodyPr wrap="square" lIns="18288" rIns="18288" tIns="18288" bIns="18288" anchor="ctr">
            <a:noAutofit/>
          </a:bodyPr>
          <a:lstStyle>
            <a:defPPr>
              <a:defRPr lang="zh-CN"/>
            </a:defPPr>
            <a:lvl1pPr>
              <a:defRPr sz="2000" b="1">
                <a:latin typeface="Arial" panose="020B0604020202020204" pitchFamily="34" charset="0"/>
                <a:ea typeface="微软雅黑" panose="020B0503020204020204" charset="-122"/>
                <a:cs typeface="Arial" panose="020B0604020202020204" pitchFamily="34" charset="0"/>
              </a:defRPr>
            </a:lvl1pPr>
          </a:lstStyle>
          <a:p>
            <a:pPr marL="0" defTabSz="1069975" eaLnBrk="1" hangingPunct="1" algn="l" indent="0">
              <a:lnSpc>
                <a:spcPct val="118000"/>
              </a:lnSpc>
              <a:spcBef>
                <a:spcPts val="0"/>
              </a:spcBef>
              <a:spcAft>
                <a:spcPts val="0"/>
              </a:spcAft>
              <a:buClr>
                <a:srgbClr val="C00000"/>
              </a:buClr>
              <a:tabLst>
                <a:tab pos="720725" algn="l"/>
              </a:tabLst>
              <a:buNone/>
            </a:pPr>
            <a:r>
              <a:rPr sz="2100" b="0" lang="zh-CN">
                <a:solidFill>
                  <a:srgbClr val="B01E21"/>
                </a:solidFill>
                <a:latin typeface="Noto Sans CJK SC"/>
                <a:ea typeface="Noto Sans CJK SC"/>
                <a:cs typeface="Noto Sans CJK SC"/>
              </a:rPr>
              <a:t>复杂动态环境与多楼层通行需求，对无人车的环境适应能力、自主规划能力和运动安全性提出了更高要求。</a:t>
            </a:r>
            <a:endParaRPr lang="zh-CN" altLang="en-US" sz="2200" dirty="0">
              <a:solidFill>
                <a:srgbClr val="C00000"/>
              </a:solidFill>
              <a:latin typeface="思源黑体 CN Bold" panose="020B0800000000000000" charset="-122"/>
              <a:ea typeface="思源黑体 CN Bold" panose="020B0800000000000000" charset="-122"/>
              <a:cs typeface="Arial" panose="020B0604020202020204" pitchFamily="34" charset="0"/>
            </a:endParaRPr>
          </a:p>
        </p:txBody>
      </p:sp>
      <p:grpSp>
        <p:nvGrpSpPr>
          <p:cNvPr id="34" name="组合 33"/>
          <p:cNvGrpSpPr/>
          <p:nvPr/>
        </p:nvGrpSpPr>
        <p:grpSpPr>
          <a:xfrm>
            <a:off x="441910" y="1129682"/>
            <a:ext cx="316658" cy="173710"/>
            <a:chOff x="1425482" y="1088227"/>
            <a:chExt cx="333375" cy="182880"/>
          </a:xfrm>
        </p:grpSpPr>
        <p:sp>
          <p:nvSpPr>
            <p:cNvPr id="35" name="箭头: 五边形 34"/>
            <p:cNvSpPr/>
            <p:nvPr/>
          </p:nvSpPr>
          <p:spPr>
            <a:xfrm>
              <a:off x="1425482" y="1088227"/>
              <a:ext cx="244261" cy="182880"/>
            </a:xfrm>
            <a:prstGeom prst="homePlate">
              <a:avLst>
                <a:gd name="adj" fmla="val 34375"/>
              </a:avLst>
            </a:prstGeom>
            <a:gradFill>
              <a:gsLst>
                <a:gs pos="0">
                  <a:schemeClr val="accent1">
                    <a:alpha val="50000"/>
                  </a:schemeClr>
                </a:gs>
                <a:gs pos="100000">
                  <a:schemeClr val="bg1">
                    <a:alpha val="0"/>
                  </a:schemeClr>
                </a:gs>
              </a:gsLst>
              <a:lin ang="108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076EBD"/>
                </a:solidFill>
                <a:latin typeface="思源黑体 CN Bold" panose="020B0800000000000000" charset="-122"/>
                <a:ea typeface="思源黑体 CN Bold" panose="020B0800000000000000" charset="-122"/>
              </a:endParaRPr>
            </a:p>
          </p:txBody>
        </p:sp>
        <p:sp>
          <p:nvSpPr>
            <p:cNvPr id="36" name="箭头: V 形 35"/>
            <p:cNvSpPr/>
            <p:nvPr/>
          </p:nvSpPr>
          <p:spPr>
            <a:xfrm>
              <a:off x="1637868" y="1088227"/>
              <a:ext cx="120989" cy="182880"/>
            </a:xfrm>
            <a:prstGeom prst="chevron">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076EBD"/>
                </a:solidFill>
                <a:latin typeface="思源黑体 CN Bold" panose="020B0800000000000000" charset="-122"/>
                <a:ea typeface="思源黑体 CN Bold" panose="020B0800000000000000" charset="-122"/>
              </a:endParaRPr>
            </a:p>
          </p:txBody>
        </p:sp>
      </p:grpSp>
      <p:sp>
        <p:nvSpPr>
          <p:cNvPr id="38" name="矩形: 圆角 37"/>
          <p:cNvSpPr/>
          <p:nvPr/>
        </p:nvSpPr>
        <p:spPr>
          <a:xfrm>
            <a:off x="5993899" y="2084303"/>
            <a:ext cx="5826626" cy="4405398"/>
          </a:xfrm>
          <a:prstGeom prst="roundRect">
            <a:avLst>
              <a:gd name="adj" fmla="val 0"/>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dirty="0">
              <a:solidFill>
                <a:prstClr val="white"/>
              </a:solidFill>
              <a:latin typeface="Roboto" panose="02000000000000000000"/>
            </a:endParaRPr>
          </a:p>
        </p:txBody>
      </p:sp>
      <p:sp>
        <p:nvSpPr>
          <p:cNvPr id="53" name="直角三角形 52"/>
          <p:cNvSpPr/>
          <p:nvPr/>
        </p:nvSpPr>
        <p:spPr>
          <a:xfrm rot="16200000">
            <a:off x="5836140" y="2067940"/>
            <a:ext cx="141396" cy="174123"/>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直接箭头连接符 65"/>
          <p:cNvCxnSpPr/>
          <p:nvPr/>
        </p:nvCxnSpPr>
        <p:spPr>
          <a:xfrm>
            <a:off x="609911" y="2479382"/>
            <a:ext cx="0" cy="3692503"/>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椭圆 67"/>
          <p:cNvSpPr/>
          <p:nvPr/>
        </p:nvSpPr>
        <p:spPr>
          <a:xfrm flipV="1">
            <a:off x="545405" y="2466682"/>
            <a:ext cx="129012" cy="129012"/>
          </a:xfrm>
          <a:prstGeom prst="ellipse">
            <a:avLst/>
          </a:prstGeom>
          <a:solidFill>
            <a:schemeClr val="accent1"/>
          </a:solid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思源黑体 CN Bold" panose="020B0800000000000000" charset="-122"/>
              <a:ea typeface="思源黑体 CN Bold" panose="020B0800000000000000" charset="-122"/>
            </a:endParaRPr>
          </a:p>
        </p:txBody>
      </p:sp>
      <p:sp>
        <p:nvSpPr>
          <p:cNvPr id="69" name="矩形: 圆角 68"/>
          <p:cNvSpPr/>
          <p:nvPr/>
        </p:nvSpPr>
        <p:spPr>
          <a:xfrm>
            <a:off x="875534" y="2317925"/>
            <a:ext cx="5105029" cy="850392"/>
          </a:xfrm>
          <a:prstGeom prst="roundRect">
            <a:avLst>
              <a:gd name="adj" fmla="val 1639"/>
            </a:avLst>
          </a:prstGeom>
          <a:gradFill flip="none" rotWithShape="1">
            <a:gsLst>
              <a:gs pos="50000">
                <a:schemeClr val="accent1">
                  <a:alpha val="5000"/>
                </a:schemeClr>
              </a:gs>
              <a:gs pos="0">
                <a:schemeClr val="accent1">
                  <a:alpha val="10000"/>
                </a:schemeClr>
              </a:gs>
              <a:gs pos="99000">
                <a:schemeClr val="bg1">
                  <a:alpha val="0"/>
                </a:schemeClr>
              </a:gs>
            </a:gsLst>
            <a:lin ang="0" scaled="1"/>
            <a:tileRect/>
          </a:gradFill>
          <a:ln>
            <a:noFill/>
          </a:ln>
          <a:effectLst>
            <a:outerShdw blurRad="419100" sx="101000" sy="101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wrap="square" lIns="64008" rIns="64008" tIns="64008" bIns="64008">
            <a:noAutofit/>
          </a:bodyPr>
          <a:lstStyle/>
          <a:p>
            <a:pPr algn="l" marL="0" indent="0">
              <a:lnSpc>
                <a:spcPct val="110000"/>
              </a:lnSpc>
              <a:spcBef>
                <a:spcPts val="0"/>
              </a:spcBef>
              <a:spcAft>
                <a:spcPts val="0"/>
              </a:spcAft>
              <a:buNone/>
            </a:pPr>
            <a:r>
              <a:rPr sz="1800" b="1" lang="zh-CN">
                <a:solidFill>
                  <a:srgbClr val="002FA8"/>
                </a:solidFill>
                <a:latin typeface="Noto Sans CJK SC"/>
                <a:ea typeface="Noto Sans CJK SC"/>
                <a:cs typeface="Noto Sans CJK SC"/>
              </a:rPr>
              <a:t>① 空间结构复杂</a:t>
            </a:r>
            <a:endParaRPr lang="zh-CN" altLang="en-US" b="1">
              <a:solidFill>
                <a:schemeClr val="tx1"/>
              </a:solidFill>
              <a:latin typeface="思源黑体 CN Bold" panose="020B0800000000000000" charset="-122"/>
              <a:ea typeface="思源黑体 CN Bold" panose="020B0800000000000000" charset="-122"/>
              <a:cs typeface="Times New Roman" panose="02020603050405020304" pitchFamily="18" charset="0"/>
            </a:endParaRPr>
          </a:p>
          <a:p>
            <a:pPr algn="l" marL="0" indent="0">
              <a:lnSpc>
                <a:spcPct val="110000"/>
              </a:lnSpc>
              <a:spcBef>
                <a:spcPts val="0"/>
              </a:spcBef>
              <a:spcAft>
                <a:spcPts val="0"/>
              </a:spcAft>
              <a:buNone/>
            </a:pPr>
            <a:r>
              <a:rPr sz="1650" b="0" lang="zh-CN">
                <a:solidFill>
                  <a:srgbClr val="232D41"/>
                </a:solidFill>
                <a:latin typeface="Noto Sans CJK SC"/>
                <a:ea typeface="Noto Sans CJK SC"/>
                <a:cs typeface="Noto Sans CJK SC"/>
              </a:rPr>
              <a:t>走廊、房间、门、电梯、狭窄区域等结构共存。</a:t>
            </a:r>
          </a:p>
        </p:txBody>
      </p:sp>
      <p:sp>
        <p:nvSpPr>
          <p:cNvPr id="82" name="矩形 81"/>
          <p:cNvSpPr/>
          <p:nvPr/>
        </p:nvSpPr>
        <p:spPr>
          <a:xfrm>
            <a:off x="1056843" y="72054"/>
            <a:ext cx="8321040" cy="601345"/>
          </a:xfrm>
          <a:prstGeom prst="rect">
            <a:avLst/>
          </a:prstGeom>
          <a:effectLst/>
        </p:spPr>
        <p:txBody>
          <a:bodyPr wrap="square" lIns="18288" tIns="18288" rIns="18288" bIns="18288" anchor="ctr">
            <a:noAutofit/>
          </a:bodyPr>
          <a:lstStyle/>
          <a:p>
            <a:pPr marL="0" marR="0" indent="0" algn="l" defTabSz="914400" rtl="0" eaLnBrk="1" fontAlgn="auto" latinLnBrk="0" hangingPunct="1">
              <a:lnSpc>
                <a:spcPct val="112000"/>
              </a:lnSpc>
              <a:spcBef>
                <a:spcPts val="0"/>
              </a:spcBef>
              <a:spcAft>
                <a:spcPts val="0"/>
              </a:spcAft>
              <a:buClrTx/>
              <a:buSzTx/>
              <a:buFontTx/>
              <a:buNone/>
              <a:defRPr/>
              <a:buNone/>
            </a:pPr>
            <a:r>
              <a:rPr sz="2900" b="1" lang="zh-CN">
                <a:solidFill>
                  <a:srgbClr val="002FA8"/>
                </a:solidFill>
                <a:latin typeface="Noto Sans CJK SC"/>
                <a:ea typeface="Noto Sans CJK SC"/>
                <a:cs typeface="Noto Sans CJK SC"/>
              </a:rPr>
              <a:t>室内无人车应用需求</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83" name="文本框 82"/>
          <p:cNvSpPr txBox="1"/>
          <p:nvPr/>
        </p:nvSpPr>
        <p:spPr>
          <a:xfrm>
            <a:off x="252324" y="72054"/>
            <a:ext cx="866006" cy="603242"/>
          </a:xfrm>
          <a:prstGeom prst="rect">
            <a:avLst/>
          </a:prstGeom>
          <a:effectLst/>
        </p:spPr>
        <p:txBody>
          <a:bodyPr wrap="square" lIns="18288" tIns="18288" rIns="18288" bIns="18288" anchor="ctr">
            <a:noAutofit/>
          </a:bodyPr>
          <a:lstStyle>
            <a:defPPr>
              <a:defRPr lang="zh-CN"/>
            </a:defPPr>
            <a:lvl1pPr marR="0" lvl="0" indent="0" fontAlgn="auto">
              <a:lnSpc>
                <a:spcPct val="100000"/>
              </a:lnSpc>
              <a:spcBef>
                <a:spcPts val="0"/>
              </a:spcBef>
              <a:buClrTx/>
              <a:buSzTx/>
              <a:buFontTx/>
              <a:buNone/>
              <a:defRPr sz="3200" b="1">
                <a:solidFill>
                  <a:schemeClr val="accent1"/>
                </a:solidFill>
                <a:latin typeface="思源黑体 CN Heavy" panose="020B0A00000000000000" pitchFamily="34" charset="-122"/>
                <a:ea typeface="思源黑体 CN Heavy" panose="020B0A00000000000000" pitchFamily="34" charset="-122"/>
              </a:defRPr>
            </a:lvl1p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1.1</a:t>
            </a:r>
            <a:endParaRPr lang="zh-CN" altLang="en-US" b="0" dirty="0"/>
          </a:p>
        </p:txBody>
      </p:sp>
      <p:pic>
        <p:nvPicPr>
          <p:cNvPr id="84"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87" name="直角三角形 86"/>
          <p:cNvSpPr/>
          <p:nvPr/>
        </p:nvSpPr>
        <p:spPr>
          <a:xfrm rot="5400000" flipV="1">
            <a:off x="5836140" y="6331941"/>
            <a:ext cx="141396" cy="174123"/>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flipV="1">
            <a:off x="545405" y="3793520"/>
            <a:ext cx="129012" cy="129012"/>
          </a:xfrm>
          <a:prstGeom prst="ellipse">
            <a:avLst/>
          </a:prstGeom>
          <a:solidFill>
            <a:schemeClr val="accent1"/>
          </a:solid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思源黑体 CN Bold" panose="020B0800000000000000" charset="-122"/>
              <a:ea typeface="思源黑体 CN Bold" panose="020B0800000000000000" charset="-122"/>
            </a:endParaRPr>
          </a:p>
        </p:txBody>
      </p:sp>
      <p:sp>
        <p:nvSpPr>
          <p:cNvPr id="112" name="矩形: 圆角 111"/>
          <p:cNvSpPr/>
          <p:nvPr/>
        </p:nvSpPr>
        <p:spPr>
          <a:xfrm>
            <a:off x="888869" y="3397113"/>
            <a:ext cx="5105029" cy="850392"/>
          </a:xfrm>
          <a:prstGeom prst="roundRect">
            <a:avLst>
              <a:gd name="adj" fmla="val 1639"/>
            </a:avLst>
          </a:prstGeom>
          <a:gradFill flip="none" rotWithShape="1">
            <a:gsLst>
              <a:gs pos="50000">
                <a:schemeClr val="accent1">
                  <a:alpha val="5000"/>
                </a:schemeClr>
              </a:gs>
              <a:gs pos="0">
                <a:schemeClr val="accent1">
                  <a:alpha val="10000"/>
                </a:schemeClr>
              </a:gs>
              <a:gs pos="99000">
                <a:schemeClr val="bg1">
                  <a:alpha val="0"/>
                </a:schemeClr>
              </a:gs>
            </a:gsLst>
            <a:lin ang="0" scaled="1"/>
            <a:tileRect/>
          </a:gradFill>
          <a:ln>
            <a:noFill/>
          </a:ln>
          <a:effectLst>
            <a:outerShdw blurRad="419100" sx="101000" sy="101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wrap="square" lIns="64008" rIns="64008" tIns="64008" bIns="64008">
            <a:noAutofit/>
          </a:bodyPr>
          <a:lstStyle/>
          <a:p>
            <a:pPr algn="l" marL="0" indent="0">
              <a:lnSpc>
                <a:spcPct val="110000"/>
              </a:lnSpc>
              <a:spcBef>
                <a:spcPts val="0"/>
              </a:spcBef>
              <a:spcAft>
                <a:spcPts val="0"/>
              </a:spcAft>
              <a:buNone/>
            </a:pPr>
            <a:r>
              <a:rPr sz="1800" b="1" lang="zh-CN">
                <a:solidFill>
                  <a:srgbClr val="002FA8"/>
                </a:solidFill>
                <a:latin typeface="Noto Sans CJK SC"/>
                <a:ea typeface="Noto Sans CJK SC"/>
                <a:cs typeface="Noto Sans CJK SC"/>
              </a:rPr>
              <a:t>② 动态障碍物频繁出现</a:t>
            </a:r>
            <a:endParaRPr lang="zh-CN" altLang="en-US" b="1">
              <a:solidFill>
                <a:schemeClr val="tx1"/>
              </a:solidFill>
              <a:latin typeface="思源黑体 CN Bold" panose="020B0800000000000000" charset="-122"/>
              <a:ea typeface="思源黑体 CN Bold" panose="020B0800000000000000" charset="-122"/>
              <a:cs typeface="Times New Roman" panose="02020603050405020304" pitchFamily="18" charset="0"/>
            </a:endParaRPr>
          </a:p>
          <a:p>
            <a:pPr algn="l" marL="0" indent="0">
              <a:lnSpc>
                <a:spcPct val="110000"/>
              </a:lnSpc>
              <a:spcBef>
                <a:spcPts val="0"/>
              </a:spcBef>
              <a:spcAft>
                <a:spcPts val="0"/>
              </a:spcAft>
              <a:buNone/>
            </a:pPr>
            <a:r>
              <a:rPr sz="1650" b="0" lang="zh-CN">
                <a:solidFill>
                  <a:srgbClr val="232D41"/>
                </a:solidFill>
                <a:latin typeface="Noto Sans CJK SC"/>
                <a:ea typeface="Noto Sans CJK SC"/>
                <a:cs typeface="Noto Sans CJK SC"/>
              </a:rPr>
              <a:t>行人、移动机器人、推车等运动状态具有随机性。</a:t>
            </a:r>
          </a:p>
        </p:txBody>
      </p:sp>
      <p:sp>
        <p:nvSpPr>
          <p:cNvPr id="116" name="椭圆 115"/>
          <p:cNvSpPr/>
          <p:nvPr/>
        </p:nvSpPr>
        <p:spPr>
          <a:xfrm flipV="1">
            <a:off x="545405" y="5120359"/>
            <a:ext cx="129012" cy="129012"/>
          </a:xfrm>
          <a:prstGeom prst="ellipse">
            <a:avLst/>
          </a:prstGeom>
          <a:solidFill>
            <a:schemeClr val="accent1"/>
          </a:solid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思源黑体 CN Bold" panose="020B0800000000000000" charset="-122"/>
              <a:ea typeface="思源黑体 CN Bold" panose="020B0800000000000000" charset="-122"/>
            </a:endParaRPr>
          </a:p>
        </p:txBody>
      </p:sp>
      <p:sp>
        <p:nvSpPr>
          <p:cNvPr id="117" name="矩形: 圆角 116"/>
          <p:cNvSpPr/>
          <p:nvPr/>
        </p:nvSpPr>
        <p:spPr>
          <a:xfrm>
            <a:off x="888869" y="4480112"/>
            <a:ext cx="5105029" cy="850392"/>
          </a:xfrm>
          <a:prstGeom prst="roundRect">
            <a:avLst>
              <a:gd name="adj" fmla="val 1639"/>
            </a:avLst>
          </a:prstGeom>
          <a:gradFill flip="none" rotWithShape="1">
            <a:gsLst>
              <a:gs pos="50000">
                <a:schemeClr val="accent1">
                  <a:alpha val="5000"/>
                </a:schemeClr>
              </a:gs>
              <a:gs pos="0">
                <a:schemeClr val="accent1">
                  <a:alpha val="10000"/>
                </a:schemeClr>
              </a:gs>
              <a:gs pos="99000">
                <a:schemeClr val="bg1">
                  <a:alpha val="0"/>
                </a:schemeClr>
              </a:gs>
            </a:gsLst>
            <a:lin ang="0" scaled="1"/>
            <a:tileRect/>
          </a:gradFill>
          <a:ln>
            <a:noFill/>
          </a:ln>
          <a:effectLst>
            <a:outerShdw blurRad="419100" sx="101000" sy="101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wrap="square" lIns="64008" rIns="64008" tIns="64008" bIns="64008">
            <a:noAutofit/>
          </a:bodyPr>
          <a:lstStyle/>
          <a:p>
            <a:pPr algn="l" marL="0" indent="0">
              <a:lnSpc>
                <a:spcPct val="110000"/>
              </a:lnSpc>
              <a:spcBef>
                <a:spcPts val="0"/>
              </a:spcBef>
              <a:spcAft>
                <a:spcPts val="0"/>
              </a:spcAft>
              <a:buNone/>
            </a:pPr>
            <a:r>
              <a:rPr sz="1800" b="1" lang="zh-CN">
                <a:solidFill>
                  <a:srgbClr val="002FA8"/>
                </a:solidFill>
                <a:latin typeface="Noto Sans CJK SC"/>
                <a:ea typeface="Noto Sans CJK SC"/>
                <a:cs typeface="Noto Sans CJK SC"/>
              </a:rPr>
              <a:t>③ 导航任务具有连续性</a:t>
            </a:r>
            <a:endParaRPr lang="zh-CN" altLang="en-US" b="1">
              <a:solidFill>
                <a:schemeClr val="tx1"/>
              </a:solidFill>
              <a:latin typeface="思源黑体 CN Bold" panose="020B0800000000000000" charset="-122"/>
              <a:ea typeface="思源黑体 CN Bold" panose="020B0800000000000000" charset="-122"/>
              <a:cs typeface="Times New Roman" panose="02020603050405020304" pitchFamily="18" charset="0"/>
            </a:endParaRPr>
          </a:p>
          <a:p>
            <a:pPr algn="l" marL="0" indent="0">
              <a:lnSpc>
                <a:spcPct val="110000"/>
              </a:lnSpc>
              <a:spcBef>
                <a:spcPts val="0"/>
              </a:spcBef>
              <a:spcAft>
                <a:spcPts val="0"/>
              </a:spcAft>
              <a:buNone/>
            </a:pPr>
            <a:r>
              <a:rPr sz="1650" b="0" lang="zh-CN">
                <a:solidFill>
                  <a:srgbClr val="232D41"/>
                </a:solidFill>
                <a:latin typeface="Noto Sans CJK SC"/>
                <a:ea typeface="Noto Sans CJK SC"/>
                <a:cs typeface="Noto Sans CJK SC"/>
              </a:rPr>
              <a:t>定位 → 规划 → 避障 → 控制，全过程自主运行。</a:t>
            </a:r>
          </a:p>
        </p:txBody>
      </p:sp>
      <p:sp>
        <p:nvSpPr>
          <p:cNvPr id="4" name="矩形: 圆角 68"/>
          <p:cNvSpPr/>
          <p:nvPr/>
        </p:nvSpPr>
        <p:spPr>
          <a:xfrm>
            <a:off x="888869" y="5532930"/>
            <a:ext cx="5105029" cy="850392"/>
          </a:xfrm>
          <a:prstGeom prst="roundRect">
            <a:avLst>
              <a:gd name="adj" fmla="val 1639"/>
            </a:avLst>
          </a:prstGeom>
          <a:gradFill flip="none" rotWithShape="1">
            <a:gsLst>
              <a:gs pos="50000">
                <a:schemeClr val="accent1">
                  <a:alpha val="5000"/>
                </a:schemeClr>
              </a:gs>
              <a:gs pos="0">
                <a:schemeClr val="accent1">
                  <a:alpha val="10000"/>
                </a:schemeClr>
              </a:gs>
              <a:gs pos="99000">
                <a:schemeClr val="bg1">
                  <a:alpha val="0"/>
                </a:schemeClr>
              </a:gs>
            </a:gsLst>
            <a:lin ang="0" scaled="1"/>
            <a:tileRect/>
          </a:gradFill>
          <a:ln>
            <a:noFill/>
          </a:ln>
          <a:effectLst>
            <a:outerShdw blurRad="419100" sx="101000" sy="101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wrap="square" lIns="64008" rIns="64008" tIns="64008" bIns="64008">
            <a:noAutofit/>
          </a:bodyPr>
          <a:lstStyle/>
          <a:p>
            <a:pPr algn="l" marL="0" indent="0">
              <a:lnSpc>
                <a:spcPct val="110000"/>
              </a:lnSpc>
              <a:spcBef>
                <a:spcPts val="0"/>
              </a:spcBef>
              <a:spcAft>
                <a:spcPts val="0"/>
              </a:spcAft>
              <a:buNone/>
            </a:pPr>
            <a:r>
              <a:rPr sz="1800" b="1" lang="zh-CN">
                <a:solidFill>
                  <a:srgbClr val="002FA8"/>
                </a:solidFill>
                <a:latin typeface="Noto Sans CJK SC"/>
                <a:ea typeface="Noto Sans CJK SC"/>
                <a:cs typeface="Noto Sans CJK SC"/>
              </a:rPr>
              <a:t>④ 多楼层场景存在自主乘梯需求</a:t>
            </a:r>
            <a:endParaRPr lang="zh-CN" altLang="en-US" b="1">
              <a:solidFill>
                <a:schemeClr val="tx1"/>
              </a:solidFill>
              <a:latin typeface="思源黑体 CN Bold" panose="020B0800000000000000" charset="-122"/>
              <a:ea typeface="思源黑体 CN Bold" panose="020B0800000000000000" charset="-122"/>
              <a:cs typeface="Times New Roman" panose="02020603050405020304" pitchFamily="18" charset="0"/>
            </a:endParaRPr>
          </a:p>
          <a:p>
            <a:pPr algn="l" marL="0" indent="0">
              <a:lnSpc>
                <a:spcPct val="110000"/>
              </a:lnSpc>
              <a:spcBef>
                <a:spcPts val="0"/>
              </a:spcBef>
              <a:spcAft>
                <a:spcPts val="0"/>
              </a:spcAft>
              <a:buNone/>
            </a:pPr>
            <a:r>
              <a:rPr sz="1650" b="0" lang="zh-CN">
                <a:solidFill>
                  <a:srgbClr val="232D41"/>
                </a:solidFill>
                <a:latin typeface="Noto Sans CJK SC"/>
                <a:ea typeface="Noto Sans CJK SC"/>
                <a:cs typeface="Noto Sans CJK SC"/>
              </a:rPr>
              <a:t>单楼层导航难以满足办公楼、医院等应用需求。</a:t>
            </a:r>
          </a:p>
        </p:txBody>
      </p:sp>
      <p:pic>
        <p:nvPicPr>
          <p:cNvPr id="11" name="图片 10"/>
          <p:cNvPicPr>
            <a:picLocks noChangeAspect="1"/>
          </p:cNvPicPr>
          <p:nvPr/>
        </p:nvPicPr>
        <p:blipFill>
          <a:blip r:embed="rId3"/>
          <a:stretch>
            <a:fillRect/>
          </a:stretch>
        </p:blipFill>
        <p:spPr>
          <a:xfrm>
            <a:off x="5996940" y="2085975"/>
            <a:ext cx="5821045" cy="44030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圆角 22"/>
          <p:cNvSpPr/>
          <p:nvPr/>
        </p:nvSpPr>
        <p:spPr>
          <a:xfrm>
            <a:off x="4370070" y="2084070"/>
            <a:ext cx="7447915" cy="4399280"/>
          </a:xfrm>
          <a:prstGeom prst="roundRect">
            <a:avLst>
              <a:gd name="adj" fmla="val 0"/>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dirty="0">
              <a:solidFill>
                <a:prstClr val="white"/>
              </a:solidFill>
              <a:latin typeface="Roboto" panose="02000000000000000000"/>
            </a:endParaRPr>
          </a:p>
        </p:txBody>
      </p:sp>
      <p:grpSp>
        <p:nvGrpSpPr>
          <p:cNvPr id="4" name="组合 3"/>
          <p:cNvGrpSpPr/>
          <p:nvPr/>
        </p:nvGrpSpPr>
        <p:grpSpPr>
          <a:xfrm>
            <a:off x="354000" y="665339"/>
            <a:ext cx="11484000" cy="65705"/>
            <a:chOff x="208948" y="646179"/>
            <a:chExt cx="8680259" cy="115737"/>
          </a:xfrm>
        </p:grpSpPr>
        <p:sp>
          <p:nvSpPr>
            <p:cNvPr id="5" name="梯形 4"/>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6" name="梯形 5"/>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1056843" y="72054"/>
            <a:ext cx="8321040" cy="601345"/>
          </a:xfrm>
          <a:prstGeom prst="rect">
            <a:avLst/>
          </a:prstGeom>
          <a:effectLst/>
        </p:spPr>
        <p:txBody>
          <a:bodyPr wrap="square" lIns="18288" tIns="18288" rIns="18288" bIns="18288" anchor="ctr">
            <a:noAutofit/>
          </a:bodyPr>
          <a:lstStyle/>
          <a:p>
            <a:pPr marL="0" marR="0" indent="0" algn="l" defTabSz="914400" rtl="0" eaLnBrk="1" fontAlgn="auto" latinLnBrk="0" hangingPunct="1">
              <a:lnSpc>
                <a:spcPct val="112000"/>
              </a:lnSpc>
              <a:spcBef>
                <a:spcPts val="0"/>
              </a:spcBef>
              <a:spcAft>
                <a:spcPts val="0"/>
              </a:spcAft>
              <a:buClrTx/>
              <a:buSzTx/>
              <a:buFontTx/>
              <a:buNone/>
              <a:defRPr/>
              <a:buNone/>
            </a:pPr>
            <a:r>
              <a:rPr sz="2900" b="1" lang="zh-CN">
                <a:solidFill>
                  <a:srgbClr val="002FA8"/>
                </a:solidFill>
                <a:latin typeface="Noto Sans CJK SC"/>
                <a:ea typeface="Noto Sans CJK SC"/>
                <a:cs typeface="Noto Sans CJK SC"/>
              </a:rPr>
              <a:t>现有问题与研究必要性</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8" name="文本框 7"/>
          <p:cNvSpPr txBox="1"/>
          <p:nvPr/>
        </p:nvSpPr>
        <p:spPr>
          <a:xfrm>
            <a:off x="252324" y="72054"/>
            <a:ext cx="828040" cy="601345"/>
          </a:xfrm>
          <a:prstGeom prst="rect">
            <a:avLst/>
          </a:prstGeom>
          <a:effectLst/>
        </p:spPr>
        <p:txBody>
          <a:bodyPr wrap="square" lIns="18288" tIns="18288" rIns="18288" bIns="18288" anchor="ctr">
            <a:noAutofit/>
          </a:bodyPr>
          <a:lstStyle>
            <a:defPPr>
              <a:defRPr lang="zh-CN"/>
            </a:defPPr>
            <a:lvl1pPr marR="0" lvl="0" indent="0" fontAlgn="auto">
              <a:lnSpc>
                <a:spcPct val="100000"/>
              </a:lnSpc>
              <a:spcBef>
                <a:spcPts val="0"/>
              </a:spcBef>
              <a:buClrTx/>
              <a:buSzTx/>
              <a:buFontTx/>
              <a:buNone/>
              <a:defRPr sz="3200" b="1">
                <a:solidFill>
                  <a:schemeClr val="accent1"/>
                </a:solidFill>
                <a:latin typeface="思源黑体 CN Heavy" panose="020B0A00000000000000" pitchFamily="34" charset="-122"/>
                <a:ea typeface="思源黑体 CN Heavy" panose="020B0A00000000000000" pitchFamily="34" charset="-122"/>
              </a:defRPr>
            </a:lvl1p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1.2</a:t>
            </a:r>
            <a:endParaRPr lang="en-US" altLang="zh-CN" b="0" dirty="0"/>
          </a:p>
        </p:txBody>
      </p:sp>
      <p:sp>
        <p:nvSpPr>
          <p:cNvPr id="12" name="矩形 11"/>
          <p:cNvSpPr/>
          <p:nvPr/>
        </p:nvSpPr>
        <p:spPr>
          <a:xfrm>
            <a:off x="374539" y="911942"/>
            <a:ext cx="11445986" cy="991462"/>
          </a:xfrm>
          <a:prstGeom prst="rect">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a:solidFill>
                <a:prstClr val="white"/>
              </a:solidFill>
              <a:latin typeface="Roboto" panose="02000000000000000000"/>
            </a:endParaRPr>
          </a:p>
        </p:txBody>
      </p:sp>
      <p:grpSp>
        <p:nvGrpSpPr>
          <p:cNvPr id="14" name="组合 13"/>
          <p:cNvGrpSpPr/>
          <p:nvPr/>
        </p:nvGrpSpPr>
        <p:grpSpPr>
          <a:xfrm>
            <a:off x="441910" y="1129682"/>
            <a:ext cx="316658" cy="173710"/>
            <a:chOff x="1425482" y="1088227"/>
            <a:chExt cx="333375" cy="182880"/>
          </a:xfrm>
        </p:grpSpPr>
        <p:sp>
          <p:nvSpPr>
            <p:cNvPr id="15" name="箭头: 五边形 14"/>
            <p:cNvSpPr/>
            <p:nvPr/>
          </p:nvSpPr>
          <p:spPr>
            <a:xfrm>
              <a:off x="1425482" y="1088227"/>
              <a:ext cx="244261" cy="182880"/>
            </a:xfrm>
            <a:prstGeom prst="homePlate">
              <a:avLst>
                <a:gd name="adj" fmla="val 34375"/>
              </a:avLst>
            </a:prstGeom>
            <a:gradFill>
              <a:gsLst>
                <a:gs pos="0">
                  <a:schemeClr val="accent1">
                    <a:alpha val="50000"/>
                  </a:schemeClr>
                </a:gs>
                <a:gs pos="100000">
                  <a:schemeClr val="bg1">
                    <a:alpha val="0"/>
                  </a:schemeClr>
                </a:gs>
              </a:gsLst>
              <a:lin ang="108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076EBD"/>
                </a:solidFill>
                <a:latin typeface="思源黑体 CN Bold" panose="020B0800000000000000" charset="-122"/>
                <a:ea typeface="思源黑体 CN Bold" panose="020B0800000000000000" charset="-122"/>
              </a:endParaRPr>
            </a:p>
          </p:txBody>
        </p:sp>
        <p:sp>
          <p:nvSpPr>
            <p:cNvPr id="16" name="箭头: V 形 15"/>
            <p:cNvSpPr/>
            <p:nvPr/>
          </p:nvSpPr>
          <p:spPr>
            <a:xfrm>
              <a:off x="1637868" y="1088227"/>
              <a:ext cx="120989" cy="182880"/>
            </a:xfrm>
            <a:prstGeom prst="chevron">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076EBD"/>
                </a:solidFill>
                <a:latin typeface="思源黑体 CN Bold" panose="020B0800000000000000" charset="-122"/>
                <a:ea typeface="思源黑体 CN Bold" panose="020B0800000000000000" charset="-122"/>
              </a:endParaRPr>
            </a:p>
          </p:txBody>
        </p:sp>
      </p:grpSp>
      <p:sp>
        <p:nvSpPr>
          <p:cNvPr id="17" name="矩形: 圆角 16"/>
          <p:cNvSpPr/>
          <p:nvPr/>
        </p:nvSpPr>
        <p:spPr>
          <a:xfrm>
            <a:off x="374539" y="2084302"/>
            <a:ext cx="3816461" cy="1363881"/>
          </a:xfrm>
          <a:prstGeom prst="roundRect">
            <a:avLst>
              <a:gd name="adj" fmla="val 0"/>
            </a:avLst>
          </a:prstGeom>
          <a:gradFill flip="none" rotWithShape="1">
            <a:gsLst>
              <a:gs pos="72000">
                <a:schemeClr val="accent1">
                  <a:alpha val="0"/>
                </a:schemeClr>
              </a:gs>
              <a:gs pos="0">
                <a:schemeClr val="accent1">
                  <a:alpha val="10000"/>
                </a:schemeClr>
              </a:gs>
            </a:gsLst>
            <a:lin ang="8100000" scaled="1"/>
            <a:tileRect/>
          </a:gra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t" wrap="square" lIns="109728" rIns="109728" tIns="109728" bIns="109728">
            <a:noAutofit/>
          </a:bodyPr>
          <a:lstStyle/>
          <a:p>
            <a:pPr marL="0" indent="0" algn="l">
              <a:lnSpc>
                <a:spcPct val="110000"/>
              </a:lnSpc>
              <a:spcBef>
                <a:spcPts val="0"/>
              </a:spcBef>
              <a:spcAft>
                <a:spcPts val="0"/>
              </a:spcAft>
              <a:buFont typeface="Arial" panose="020B0604020202020204" pitchFamily="34" charset="0"/>
              <a:buNone/>
            </a:pPr>
            <a:r>
              <a:rPr sz="1800" b="1" lang="zh-CN">
                <a:solidFill>
                  <a:srgbClr val="002FA8"/>
                </a:solidFill>
                <a:latin typeface="Noto Sans CJK SC"/>
                <a:ea typeface="Noto Sans CJK SC"/>
                <a:cs typeface="Noto Sans CJK SC"/>
              </a:rPr>
              <a:t>固定参数适应性不足</a:t>
            </a:r>
            <a:endParaRPr>
              <a:solidFill>
                <a:schemeClr val="tx1"/>
              </a:solidFill>
              <a:latin typeface="黑体" panose="02010609060101010101" charset="-122"/>
              <a:ea typeface="黑体" panose="02010609060101010101" charset="-122"/>
              <a:cs typeface="黑体" panose="02010609060101010101" charset="-122"/>
              <a:sym typeface="+mn-ea"/>
            </a:endParaRPr>
          </a:p>
          <a:p>
            <a:pPr algn="l" marL="0" indent="0">
              <a:lnSpc>
                <a:spcPct val="110000"/>
              </a:lnSpc>
              <a:spcBef>
                <a:spcPts val="0"/>
              </a:spcBef>
              <a:spcAft>
                <a:spcPts val="0"/>
              </a:spcAft>
              <a:buNone/>
            </a:pPr>
            <a:r>
              <a:rPr sz="1600" b="0" lang="zh-CN">
                <a:solidFill>
                  <a:srgbClr val="232D41"/>
                </a:solidFill>
                <a:latin typeface="Noto Sans CJK SC"/>
                <a:ea typeface="Noto Sans CJK SC"/>
                <a:cs typeface="Noto Sans CJK SC"/>
              </a:rPr>
              <a:t>传统DWA评价权重、最大速度、安全距离多依赖人工设定，难以适应空旷、拥挤和狭窄场景。</a:t>
            </a:r>
          </a:p>
        </p:txBody>
      </p:sp>
      <p:sp>
        <p:nvSpPr>
          <p:cNvPr id="18" name="矩形: 圆角 17"/>
          <p:cNvSpPr/>
          <p:nvPr/>
        </p:nvSpPr>
        <p:spPr>
          <a:xfrm>
            <a:off x="374539" y="3601886"/>
            <a:ext cx="3816461" cy="1363881"/>
          </a:xfrm>
          <a:prstGeom prst="roundRect">
            <a:avLst>
              <a:gd name="adj" fmla="val 0"/>
            </a:avLst>
          </a:prstGeom>
          <a:gradFill flip="none" rotWithShape="1">
            <a:gsLst>
              <a:gs pos="72000">
                <a:schemeClr val="accent1">
                  <a:alpha val="0"/>
                </a:schemeClr>
              </a:gs>
              <a:gs pos="0">
                <a:schemeClr val="accent1">
                  <a:alpha val="10000"/>
                </a:schemeClr>
              </a:gs>
            </a:gsLst>
            <a:lin ang="8100000" scaled="1"/>
            <a:tileRect/>
          </a:gra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t" wrap="square" lIns="109728" rIns="109728" tIns="109728" bIns="109728">
            <a:noAutofit/>
          </a:bodyPr>
          <a:lstStyle/>
          <a:p>
            <a:pPr marL="0" indent="0" algn="l">
              <a:lnSpc>
                <a:spcPct val="110000"/>
              </a:lnSpc>
              <a:spcBef>
                <a:spcPts val="0"/>
              </a:spcBef>
              <a:spcAft>
                <a:spcPts val="0"/>
              </a:spcAft>
              <a:buFont typeface="Arial" panose="020B0604020202020204" pitchFamily="34" charset="0"/>
              <a:buNone/>
            </a:pPr>
            <a:r>
              <a:rPr sz="1800" b="1" lang="zh-CN">
                <a:solidFill>
                  <a:srgbClr val="002FA8"/>
                </a:solidFill>
                <a:latin typeface="Noto Sans CJK SC"/>
                <a:ea typeface="Noto Sans CJK SC"/>
                <a:cs typeface="Noto Sans CJK SC"/>
              </a:rPr>
              <a:t>动态风险刻画不足</a:t>
            </a:r>
            <a:endParaRPr sz="1800">
              <a:solidFill>
                <a:schemeClr val="tx1"/>
              </a:solidFill>
              <a:latin typeface="黑体" panose="02010609060101010101" charset="-122"/>
              <a:ea typeface="黑体" panose="02010609060101010101" charset="-122"/>
              <a:cs typeface="黑体" panose="02010609060101010101" charset="-122"/>
              <a:sym typeface="+mn-ea"/>
            </a:endParaRPr>
          </a:p>
          <a:p>
            <a:pPr algn="l" marL="0" indent="0">
              <a:lnSpc>
                <a:spcPct val="110000"/>
              </a:lnSpc>
              <a:spcBef>
                <a:spcPts val="0"/>
              </a:spcBef>
              <a:spcAft>
                <a:spcPts val="0"/>
              </a:spcAft>
              <a:buNone/>
            </a:pPr>
            <a:r>
              <a:rPr sz="1600" b="0" lang="zh-CN">
                <a:solidFill>
                  <a:srgbClr val="232D41"/>
                </a:solidFill>
                <a:latin typeface="Noto Sans CJK SC"/>
                <a:ea typeface="Noto Sans CJK SC"/>
                <a:cs typeface="Noto Sans CJK SC"/>
              </a:rPr>
              <a:t>仅看当前障碍距离，难以表达相对速度、运动方向和TTC等未来碰撞风险。</a:t>
            </a:r>
          </a:p>
        </p:txBody>
      </p:sp>
      <p:sp>
        <p:nvSpPr>
          <p:cNvPr id="19" name="矩形: 圆角 18"/>
          <p:cNvSpPr/>
          <p:nvPr/>
        </p:nvSpPr>
        <p:spPr>
          <a:xfrm>
            <a:off x="374539" y="5119469"/>
            <a:ext cx="3816461" cy="1363881"/>
          </a:xfrm>
          <a:prstGeom prst="roundRect">
            <a:avLst>
              <a:gd name="adj" fmla="val 0"/>
            </a:avLst>
          </a:prstGeom>
          <a:gradFill flip="none" rotWithShape="1">
            <a:gsLst>
              <a:gs pos="72000">
                <a:schemeClr val="accent1">
                  <a:alpha val="0"/>
                </a:schemeClr>
              </a:gs>
              <a:gs pos="0">
                <a:schemeClr val="accent1">
                  <a:alpha val="10000"/>
                </a:schemeClr>
              </a:gs>
            </a:gsLst>
            <a:lin ang="8100000" scaled="1"/>
            <a:tileRect/>
          </a:gra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t" wrap="square" lIns="109728" rIns="109728" tIns="109728" bIns="109728">
            <a:noAutofit/>
          </a:bodyPr>
          <a:lstStyle/>
          <a:p>
            <a:pPr marL="0" indent="0" algn="l">
              <a:lnSpc>
                <a:spcPct val="110000"/>
              </a:lnSpc>
              <a:spcBef>
                <a:spcPts val="0"/>
              </a:spcBef>
              <a:spcAft>
                <a:spcPts val="0"/>
              </a:spcAft>
              <a:buClrTx/>
              <a:buSzTx/>
              <a:buFont typeface="Arial" panose="020B0604020202020204" pitchFamily="34" charset="0"/>
              <a:buNone/>
            </a:pPr>
            <a:r>
              <a:rPr sz="1800" b="1" lang="zh-CN">
                <a:solidFill>
                  <a:srgbClr val="002FA8"/>
                </a:solidFill>
                <a:latin typeface="Noto Sans CJK SC"/>
                <a:ea typeface="Noto Sans CJK SC"/>
                <a:cs typeface="Noto Sans CJK SC"/>
              </a:rPr>
              <a:t>电梯语义状态难获取</a:t>
            </a:r>
            <a:endParaRPr sz="1800">
              <a:solidFill>
                <a:schemeClr val="tx1"/>
              </a:solidFill>
              <a:latin typeface="黑体" panose="02010609060101010101" charset="-122"/>
              <a:ea typeface="黑体" panose="02010609060101010101" charset="-122"/>
              <a:cs typeface="黑体" panose="02010609060101010101" charset="-122"/>
              <a:sym typeface="+mn-ea"/>
            </a:endParaRPr>
          </a:p>
          <a:p>
            <a:pPr algn="l" marL="0" indent="0">
              <a:lnSpc>
                <a:spcPct val="110000"/>
              </a:lnSpc>
              <a:spcBef>
                <a:spcPts val="0"/>
              </a:spcBef>
              <a:spcAft>
                <a:spcPts val="0"/>
              </a:spcAft>
              <a:buNone/>
            </a:pPr>
            <a:r>
              <a:rPr sz="1600" b="0" lang="zh-CN">
                <a:solidFill>
                  <a:srgbClr val="232D41"/>
                </a:solidFill>
                <a:latin typeface="Noto Sans CJK SC"/>
                <a:ea typeface="Noto Sans CJK SC"/>
                <a:cs typeface="Noto Sans CJK SC"/>
              </a:rPr>
              <a:t>LiDAR擅长几何感知，但难以判断电梯门是否完全打开、入口是否有人。</a:t>
            </a:r>
          </a:p>
        </p:txBody>
      </p:sp>
      <p:sp>
        <p:nvSpPr>
          <p:cNvPr id="41" name="文本框 40"/>
          <p:cNvSpPr txBox="1"/>
          <p:nvPr/>
        </p:nvSpPr>
        <p:spPr>
          <a:xfrm>
            <a:off x="875659" y="956712"/>
            <a:ext cx="10941802" cy="829945"/>
          </a:xfrm>
          <a:prstGeom prst="rect">
            <a:avLst/>
          </a:prstGeom>
          <a:noFill/>
        </p:spPr>
        <p:txBody>
          <a:bodyPr wrap="square" lIns="18288" rIns="18288" tIns="18288" bIns="18288" anchor="ctr">
            <a:noAutofit/>
          </a:bodyPr>
          <a:lstStyle>
            <a:defPPr>
              <a:defRPr lang="zh-CN"/>
            </a:defPPr>
            <a:lvl1pPr>
              <a:defRPr sz="2000" b="1">
                <a:latin typeface="Arial" panose="020B0604020202020204" pitchFamily="34" charset="0"/>
                <a:ea typeface="微软雅黑" panose="020B0503020204020204" charset="-122"/>
                <a:cs typeface="Arial" panose="020B0604020202020204" pitchFamily="34" charset="0"/>
              </a:defRPr>
            </a:lvl1pPr>
          </a:lstStyle>
          <a:p>
            <a:pPr marL="0" defTabSz="1069975" eaLnBrk="1" hangingPunct="1" algn="l" indent="0">
              <a:lnSpc>
                <a:spcPct val="112000"/>
              </a:lnSpc>
              <a:spcBef>
                <a:spcPts val="0"/>
              </a:spcBef>
              <a:spcAft>
                <a:spcPts val="0"/>
              </a:spcAft>
              <a:buClr>
                <a:srgbClr val="C00000"/>
              </a:buClr>
              <a:tabLst>
                <a:tab pos="720725" algn="l"/>
              </a:tabLst>
              <a:buNone/>
            </a:pPr>
            <a:r>
              <a:rPr sz="1850" b="0" lang="zh-CN">
                <a:solidFill>
                  <a:srgbClr val="B01E21"/>
                </a:solidFill>
                <a:latin typeface="Noto Sans CJK SC"/>
                <a:ea typeface="Noto Sans CJK SC"/>
                <a:cs typeface="Noto Sans CJK SC"/>
              </a:rPr>
              <a:t>需要一种兼顾传统局部规划稳定性与强化学习环境自适应能力的规划控制方法，同时引入视觉感知解决自主乘梯中的特殊场景识别问题，从而提高无人车在动态室内环境中的自主运行能力。</a:t>
            </a:r>
            <a:endParaRPr lang="zh-CN" altLang="en-US" sz="2000" dirty="0">
              <a:solidFill>
                <a:srgbClr val="C00000"/>
              </a:solidFill>
              <a:latin typeface="思源黑体 CN Bold" panose="020B0800000000000000" charset="-122"/>
              <a:ea typeface="思源黑体 CN Bold" panose="020B0800000000000000" charset="-122"/>
              <a:cs typeface="Arial" panose="020B0604020202020204" pitchFamily="34" charset="0"/>
              <a:sym typeface="+mn-ea"/>
            </a:endParaRPr>
          </a:p>
        </p:txBody>
      </p:sp>
      <p:pic>
        <p:nvPicPr>
          <p:cNvPr id="2"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9" name="文本框 8"/>
          <p:cNvSpPr txBox="1"/>
          <p:nvPr/>
        </p:nvSpPr>
        <p:spPr>
          <a:xfrm>
            <a:off x="7785735" y="2094230"/>
            <a:ext cx="3907790" cy="4523105"/>
          </a:xfrm>
          <a:prstGeom prst="rect">
            <a:avLst/>
          </a:prstGeom>
          <a:noFill/>
        </p:spPr>
        <p:txBody>
          <a:bodyPr wrap="square" rtlCol="0" lIns="45720" rIns="45720" anchor="t">
            <a:noAutofit/>
          </a:bodyPr>
          <a:p>
            <a:pPr algn="l" marL="0" indent="0">
              <a:lnSpc>
                <a:spcPct val="110000"/>
              </a:lnSpc>
              <a:spcBef>
                <a:spcPts val="0"/>
              </a:spcBef>
              <a:spcAft>
                <a:spcPts val="0"/>
              </a:spcAft>
              <a:buNone/>
            </a:pPr>
            <a:r>
              <a:rPr sz="2300" b="1" lang="zh-CN">
                <a:solidFill>
                  <a:srgbClr val="002FA8"/>
                </a:solidFill>
                <a:latin typeface="Noto Sans CJK SC"/>
                <a:ea typeface="Noto Sans CJK SC"/>
                <a:cs typeface="Noto Sans CJK SC"/>
              </a:rPr>
              <a:t>研究必要性</a:t>
            </a:r>
            <a:endParaRPr lang="zh-CN" altLang="en-US" sz="2800" b="1"/>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兼顾DWA稳定性与强化学习自适应能力</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利用视觉感知解决电梯场景语义识别</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形成面向动态、多楼层室内环境的闭环导航系统</a:t>
            </a:r>
          </a:p>
        </p:txBody>
      </p:sp>
      <p:pic>
        <p:nvPicPr>
          <p:cNvPr id="10" name="图片 9"/>
          <p:cNvPicPr>
            <a:picLocks noChangeAspect="1"/>
          </p:cNvPicPr>
          <p:nvPr/>
        </p:nvPicPr>
        <p:blipFill>
          <a:blip r:embed="rId3"/>
          <a:srcRect t="9815" b="27593"/>
          <a:stretch>
            <a:fillRect/>
          </a:stretch>
        </p:blipFill>
        <p:spPr>
          <a:xfrm>
            <a:off x="4370070" y="2077085"/>
            <a:ext cx="3194685" cy="44037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rotWithShape="1">
          <a:blip r:embed="rId1">
            <a:alphaModFix amt="15000"/>
          </a:blip>
          <a:srcRect t="2152" b="44416"/>
          <a:stretch>
            <a:fillRect/>
          </a:stretch>
        </p:blipFill>
        <p:spPr>
          <a:xfrm>
            <a:off x="3" y="0"/>
            <a:ext cx="12191997" cy="2728686"/>
          </a:xfrm>
          <a:prstGeom prst="rect">
            <a:avLst/>
          </a:prstGeom>
        </p:spPr>
      </p:pic>
      <p:pic>
        <p:nvPicPr>
          <p:cNvPr id="60" name="图片 59"/>
          <p:cNvPicPr>
            <a:picLocks noChangeAspect="1"/>
          </p:cNvPicPr>
          <p:nvPr/>
        </p:nvPicPr>
        <p:blipFill rotWithShape="1">
          <a:blip r:embed="rId2"/>
          <a:srcRect l="36895" r="29736"/>
          <a:stretch>
            <a:fillRect/>
          </a:stretch>
        </p:blipFill>
        <p:spPr>
          <a:xfrm>
            <a:off x="317" y="1143000"/>
            <a:ext cx="4068319" cy="5715000"/>
          </a:xfrm>
          <a:custGeom>
            <a:avLst/>
            <a:gdLst>
              <a:gd name="connsiteX0" fmla="*/ 0 w 4068319"/>
              <a:gd name="connsiteY0" fmla="*/ 0 h 5715000"/>
              <a:gd name="connsiteX1" fmla="*/ 4068319 w 4068319"/>
              <a:gd name="connsiteY1" fmla="*/ 0 h 5715000"/>
              <a:gd name="connsiteX2" fmla="*/ 4068319 w 4068319"/>
              <a:gd name="connsiteY2" fmla="*/ 5715000 h 5715000"/>
              <a:gd name="connsiteX3" fmla="*/ 0 w 4068319"/>
              <a:gd name="connsiteY3" fmla="*/ 5715000 h 5715000"/>
            </a:gdLst>
            <a:ahLst/>
            <a:cxnLst>
              <a:cxn ang="0">
                <a:pos x="connsiteX0" y="connsiteY0"/>
              </a:cxn>
              <a:cxn ang="0">
                <a:pos x="connsiteX1" y="connsiteY1"/>
              </a:cxn>
              <a:cxn ang="0">
                <a:pos x="connsiteX2" y="connsiteY2"/>
              </a:cxn>
              <a:cxn ang="0">
                <a:pos x="connsiteX3" y="connsiteY3"/>
              </a:cxn>
            </a:cxnLst>
            <a:rect l="l" t="t" r="r" b="b"/>
            <a:pathLst>
              <a:path w="4068319" h="5715000">
                <a:moveTo>
                  <a:pt x="0" y="0"/>
                </a:moveTo>
                <a:lnTo>
                  <a:pt x="4068319" y="0"/>
                </a:lnTo>
                <a:lnTo>
                  <a:pt x="4068319" y="5715000"/>
                </a:lnTo>
                <a:lnTo>
                  <a:pt x="0" y="5715000"/>
                </a:lnTo>
                <a:close/>
              </a:path>
            </a:pathLst>
          </a:custGeom>
        </p:spPr>
      </p:pic>
      <p:sp>
        <p:nvSpPr>
          <p:cNvPr id="36" name="矩形 35"/>
          <p:cNvSpPr/>
          <p:nvPr/>
        </p:nvSpPr>
        <p:spPr>
          <a:xfrm>
            <a:off x="-634" y="0"/>
            <a:ext cx="4068953" cy="6858000"/>
          </a:xfrm>
          <a:prstGeom prst="rect">
            <a:avLst/>
          </a:prstGeom>
          <a:gradFill>
            <a:gsLst>
              <a:gs pos="0">
                <a:schemeClr val="accent1">
                  <a:alpha val="80000"/>
                </a:schemeClr>
              </a:gs>
              <a:gs pos="88000">
                <a:schemeClr val="accent1"/>
              </a:gs>
            </a:gsLst>
            <a:lin ang="162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rgbClr val="F2F2F2"/>
              </a:solidFill>
            </a:endParaRPr>
          </a:p>
        </p:txBody>
      </p:sp>
      <p:sp>
        <p:nvSpPr>
          <p:cNvPr id="37" name="矩形: 圆角 36"/>
          <p:cNvSpPr/>
          <p:nvPr/>
        </p:nvSpPr>
        <p:spPr>
          <a:xfrm>
            <a:off x="1651001" y="902667"/>
            <a:ext cx="10071100" cy="5171217"/>
          </a:xfrm>
          <a:prstGeom prst="roundRect">
            <a:avLst>
              <a:gd name="adj" fmla="val 1931"/>
            </a:avLst>
          </a:prstGeom>
          <a:solidFill>
            <a:schemeClr val="bg1"/>
          </a:solidFill>
          <a:ln w="12700" cap="flat" cmpd="sng" algn="ctr">
            <a:noFill/>
            <a:prstDash val="solid"/>
            <a:miter lim="800000"/>
          </a:ln>
          <a:effectLst>
            <a:outerShdw blurRad="127000" dist="38100" dir="5400000" algn="t" rotWithShape="0">
              <a:schemeClr val="accent1">
                <a:alpha val="5000"/>
              </a:schemeClr>
            </a:outerShdw>
          </a:effectLst>
        </p:spPr>
        <p:txBody>
          <a:bodyPr rtlCol="0" anchor="ctr"/>
          <a:lstStyle/>
          <a:p>
            <a:pPr algn="ctr"/>
            <a:endParaRPr lang="zh-CN" altLang="en-US" sz="1200" kern="0">
              <a:gradFill>
                <a:gsLst>
                  <a:gs pos="0">
                    <a:srgbClr val="CA865F">
                      <a:lumMod val="60000"/>
                      <a:lumOff val="40000"/>
                    </a:srgbClr>
                  </a:gs>
                  <a:gs pos="100000">
                    <a:srgbClr val="CA865F"/>
                  </a:gs>
                </a:gsLst>
                <a:lin ang="2700000" scaled="1"/>
              </a:gradFill>
              <a:latin typeface="Roboto" panose="02000000000000000000"/>
            </a:endParaRPr>
          </a:p>
        </p:txBody>
      </p:sp>
      <p:grpSp>
        <p:nvGrpSpPr>
          <p:cNvPr id="38" name="组合 37"/>
          <p:cNvGrpSpPr/>
          <p:nvPr/>
        </p:nvGrpSpPr>
        <p:grpSpPr>
          <a:xfrm>
            <a:off x="2147597" y="1226118"/>
            <a:ext cx="1667719" cy="4524315"/>
            <a:chOff x="1987941" y="979896"/>
            <a:chExt cx="1667719" cy="4524315"/>
          </a:xfrm>
        </p:grpSpPr>
        <p:sp>
          <p:nvSpPr>
            <p:cNvPr id="39" name="文本框 38"/>
            <p:cNvSpPr txBox="1"/>
            <p:nvPr/>
          </p:nvSpPr>
          <p:spPr>
            <a:xfrm>
              <a:off x="2547664" y="979896"/>
              <a:ext cx="1107996" cy="4524315"/>
            </a:xfrm>
            <a:prstGeom prst="rect">
              <a:avLst/>
            </a:prstGeom>
            <a:noFill/>
          </p:spPr>
          <p:txBody>
            <a:bodyPr wrap="none" rtlCol="0">
              <a:spAutoFit/>
            </a:bodyPr>
            <a:lstStyle/>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汇</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报</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提</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纲</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p:txBody>
        </p:sp>
        <p:sp>
          <p:nvSpPr>
            <p:cNvPr id="40" name="文本框 39"/>
            <p:cNvSpPr txBox="1"/>
            <p:nvPr/>
          </p:nvSpPr>
          <p:spPr>
            <a:xfrm>
              <a:off x="1987941" y="2161966"/>
              <a:ext cx="738664" cy="3133636"/>
            </a:xfrm>
            <a:prstGeom prst="rect">
              <a:avLst/>
            </a:prstGeom>
            <a:noFill/>
            <a:ln>
              <a:noFill/>
            </a:ln>
          </p:spPr>
          <p:txBody>
            <a:bodyPr vert="eaVert" wrap="square" rtlCol="0">
              <a:spAutoFit/>
            </a:bodyPr>
            <a:lstStyle/>
            <a:p>
              <a:pPr algn="dist"/>
              <a:r>
                <a:rPr lang="en-US" altLang="zh-CN" sz="3600" dirty="0">
                  <a:ln>
                    <a:solidFill>
                      <a:schemeClr val="accent1">
                        <a:alpha val="20000"/>
                      </a:schemeClr>
                    </a:solidFill>
                  </a:ln>
                  <a:noFill/>
                  <a:latin typeface="思源黑体 CN Heavy" panose="020B0A00000000000000" pitchFamily="34" charset="-122"/>
                  <a:ea typeface="思源黑体 CN Heavy" panose="020B0A00000000000000" pitchFamily="34" charset="-122"/>
                </a:rPr>
                <a:t>contents</a:t>
              </a:r>
              <a:endParaRPr lang="zh-CN" altLang="en-US" sz="3600" dirty="0">
                <a:ln>
                  <a:solidFill>
                    <a:schemeClr val="accent1">
                      <a:alpha val="20000"/>
                    </a:schemeClr>
                  </a:solidFill>
                </a:ln>
                <a:noFill/>
                <a:latin typeface="思源黑体 CN Heavy" panose="020B0A00000000000000" pitchFamily="34" charset="-122"/>
                <a:ea typeface="思源黑体 CN Heavy" panose="020B0A00000000000000" pitchFamily="34" charset="-122"/>
              </a:endParaRPr>
            </a:p>
          </p:txBody>
        </p:sp>
      </p:grpSp>
      <p:sp>
        <p:nvSpPr>
          <p:cNvPr id="61" name="Rounded Rectangle 60"/>
          <p:cNvSpPr/>
          <p:nvPr/>
        </p:nvSpPr>
        <p:spPr>
          <a:xfrm>
            <a:off x="4645152" y="1133856"/>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55464" y="1252728"/>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01</a:t>
            </a:r>
          </a:p>
        </p:txBody>
      </p:sp>
      <p:cxnSp>
        <p:nvCxnSpPr>
          <p:cNvPr id="63" name="Connector 62"/>
          <p:cNvCxnSpPr/>
          <p:nvPr/>
        </p:nvCxnSpPr>
        <p:spPr>
          <a:xfrm>
            <a:off x="5550408" y="1335024"/>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733288" y="1243584"/>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研究背景</a:t>
            </a:r>
          </a:p>
        </p:txBody>
      </p:sp>
      <p:sp>
        <p:nvSpPr>
          <p:cNvPr id="65" name="Rounded Rectangle 64"/>
          <p:cNvSpPr/>
          <p:nvPr/>
        </p:nvSpPr>
        <p:spPr>
          <a:xfrm>
            <a:off x="4645152" y="2103120"/>
            <a:ext cx="6345936" cy="749808"/>
          </a:xfrm>
          <a:prstGeom prst="roundRect">
            <a:avLst>
              <a:gd name="adj" fmla="val 6000"/>
            </a:avLst>
          </a:prstGeom>
          <a:solidFill>
            <a:srgbClr val="FFFFFF"/>
          </a:solidFill>
          <a:ln w="7620">
            <a:solidFill>
              <a:srgbClr val="CBD5E8"/>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855464" y="2221991"/>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02</a:t>
            </a:r>
          </a:p>
        </p:txBody>
      </p:sp>
      <p:cxnSp>
        <p:nvCxnSpPr>
          <p:cNvPr id="67" name="Connector 66"/>
          <p:cNvCxnSpPr/>
          <p:nvPr/>
        </p:nvCxnSpPr>
        <p:spPr>
          <a:xfrm>
            <a:off x="5550408" y="2304288"/>
            <a:ext cx="0" cy="338327"/>
          </a:xfrm>
          <a:prstGeom prst="line">
            <a:avLst/>
          </a:prstGeom>
          <a:ln w="12700">
            <a:solidFill>
              <a:srgbClr val="002FA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733288" y="2212848"/>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研究内容</a:t>
            </a:r>
          </a:p>
        </p:txBody>
      </p:sp>
      <p:sp>
        <p:nvSpPr>
          <p:cNvPr id="69" name="Rounded Rectangle 68"/>
          <p:cNvSpPr/>
          <p:nvPr/>
        </p:nvSpPr>
        <p:spPr>
          <a:xfrm>
            <a:off x="4645152" y="3072384"/>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5464" y="3191256"/>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03</a:t>
            </a:r>
          </a:p>
        </p:txBody>
      </p:sp>
      <p:cxnSp>
        <p:nvCxnSpPr>
          <p:cNvPr id="71" name="Connector 70"/>
          <p:cNvCxnSpPr/>
          <p:nvPr/>
        </p:nvCxnSpPr>
        <p:spPr>
          <a:xfrm>
            <a:off x="5550408" y="3273552"/>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733288" y="3182112"/>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主要技术路线</a:t>
            </a:r>
          </a:p>
        </p:txBody>
      </p:sp>
      <p:sp>
        <p:nvSpPr>
          <p:cNvPr id="73" name="Rounded Rectangle 72"/>
          <p:cNvSpPr/>
          <p:nvPr/>
        </p:nvSpPr>
        <p:spPr>
          <a:xfrm>
            <a:off x="4645152" y="4041648"/>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55464" y="4160520"/>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04</a:t>
            </a:r>
          </a:p>
        </p:txBody>
      </p:sp>
      <p:cxnSp>
        <p:nvCxnSpPr>
          <p:cNvPr id="75" name="Connector 74"/>
          <p:cNvCxnSpPr/>
          <p:nvPr/>
        </p:nvCxnSpPr>
        <p:spPr>
          <a:xfrm>
            <a:off x="5550408" y="4242816"/>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733288" y="4151376"/>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创新点</a:t>
            </a:r>
          </a:p>
        </p:txBody>
      </p:sp>
      <p:sp>
        <p:nvSpPr>
          <p:cNvPr id="77" name="Rounded Rectangle 76"/>
          <p:cNvSpPr/>
          <p:nvPr/>
        </p:nvSpPr>
        <p:spPr>
          <a:xfrm>
            <a:off x="4645152" y="5010912"/>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855464" y="5129784"/>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05</a:t>
            </a:r>
          </a:p>
        </p:txBody>
      </p:sp>
      <p:cxnSp>
        <p:nvCxnSpPr>
          <p:cNvPr id="79" name="Connector 78"/>
          <p:cNvCxnSpPr/>
          <p:nvPr/>
        </p:nvCxnSpPr>
        <p:spPr>
          <a:xfrm>
            <a:off x="5550408" y="5212080"/>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733288" y="5120640"/>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时间安排</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54000" y="665339"/>
            <a:ext cx="11484000" cy="65705"/>
            <a:chOff x="208948" y="646179"/>
            <a:chExt cx="8680259" cy="115737"/>
          </a:xfrm>
        </p:grpSpPr>
        <p:sp>
          <p:nvSpPr>
            <p:cNvPr id="5" name="梯形 4"/>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6" name="梯形 5"/>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1056843" y="72054"/>
            <a:ext cx="8229600" cy="601345"/>
          </a:xfrm>
          <a:prstGeom prst="rect">
            <a:avLst/>
          </a:prstGeom>
          <a:effectLst/>
        </p:spPr>
        <p:txBody>
          <a:bodyPr wrap="square" lIns="18288" tIns="18288" rIns="18288" bIns="18288" anchor="ctr">
            <a:noAutofit/>
          </a:bodyPr>
          <a:lstStyle/>
          <a:p>
            <a:pPr marL="0" marR="0" indent="0" algn="l" defTabSz="914400" rtl="0" eaLnBrk="1" fontAlgn="auto" latinLnBrk="0" hangingPunct="1">
              <a:lnSpc>
                <a:spcPct val="112000"/>
              </a:lnSpc>
              <a:spcBef>
                <a:spcPts val="0"/>
              </a:spcBef>
              <a:spcAft>
                <a:spcPts val="0"/>
              </a:spcAft>
              <a:buClrTx/>
              <a:buSzTx/>
              <a:buFontTx/>
              <a:buNone/>
              <a:defRPr/>
              <a:buNone/>
            </a:pPr>
            <a:r>
              <a:rPr sz="2900" b="1" lang="zh-CN">
                <a:solidFill>
                  <a:srgbClr val="002FA8"/>
                </a:solidFill>
                <a:latin typeface="Noto Sans CJK SC"/>
                <a:ea typeface="Noto Sans CJK SC"/>
                <a:cs typeface="Noto Sans CJK SC"/>
              </a:rPr>
              <a:t>研究内容</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8" name="文本框 7"/>
          <p:cNvSpPr txBox="1"/>
          <p:nvPr/>
        </p:nvSpPr>
        <p:spPr>
          <a:xfrm>
            <a:off x="252324" y="72054"/>
            <a:ext cx="866006" cy="603242"/>
          </a:xfrm>
          <a:prstGeom prst="rect">
            <a:avLst/>
          </a:prstGeom>
          <a:effectLst/>
        </p:spPr>
        <p:txBody>
          <a:bodyPr wrap="square" lIns="18288" tIns="18288" rIns="18288" bIns="18288" anchor="ctr">
            <a:noAutofit/>
          </a:bodyPr>
          <a:lstStyle>
            <a:defPPr>
              <a:defRPr lang="zh-CN"/>
            </a:defPPr>
            <a:lvl1pPr marR="0" lvl="0" indent="0" fontAlgn="auto">
              <a:lnSpc>
                <a:spcPct val="100000"/>
              </a:lnSpc>
              <a:spcBef>
                <a:spcPts val="0"/>
              </a:spcBef>
              <a:buClrTx/>
              <a:buSzTx/>
              <a:buFontTx/>
              <a:buNone/>
              <a:defRPr sz="3200" b="1">
                <a:solidFill>
                  <a:schemeClr val="accent1"/>
                </a:solidFill>
                <a:latin typeface="思源黑体 CN Heavy" panose="020B0A00000000000000" pitchFamily="34" charset="-122"/>
                <a:ea typeface="思源黑体 CN Heavy" panose="020B0A00000000000000" pitchFamily="34" charset="-122"/>
              </a:defRPr>
            </a:lvl1p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2.1</a:t>
            </a:r>
            <a:endParaRPr lang="zh-CN" altLang="en-US" b="0" dirty="0"/>
          </a:p>
        </p:txBody>
      </p:sp>
      <p:sp>
        <p:nvSpPr>
          <p:cNvPr id="11" name="矩形 10"/>
          <p:cNvSpPr/>
          <p:nvPr/>
        </p:nvSpPr>
        <p:spPr>
          <a:xfrm>
            <a:off x="392319" y="6004642"/>
            <a:ext cx="11445986" cy="612058"/>
          </a:xfrm>
          <a:prstGeom prst="rect">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wrap="square" tIns="91440" bIns="91440" lIns="502920">
            <a:noAutofit/>
          </a:bodyPr>
          <a:lstStyle/>
          <a:p>
            <a:pPr algn="l" marL="0" indent="0">
              <a:lnSpc>
                <a:spcPct val="112000"/>
              </a:lnSpc>
              <a:spcBef>
                <a:spcPts val="0"/>
              </a:spcBef>
              <a:spcAft>
                <a:spcPts val="0"/>
              </a:spcAft>
              <a:buNone/>
            </a:pPr>
            <a:r>
              <a:rPr sz="1800" b="0" lang="zh-CN">
                <a:solidFill>
                  <a:srgbClr val="002FA8"/>
                </a:solidFill>
                <a:latin typeface="Noto Sans CJK SC"/>
                <a:ea typeface="Noto Sans CJK SC"/>
                <a:cs typeface="Noto Sans CJK SC"/>
              </a:rPr>
              <a:t>核心定位：SAC负责决策与调参，DWA生成满足约束的可执行局部轨迹；视觉在电梯场景触发。</a:t>
            </a:r>
            <a:endParaRPr kumimoji="1" lang="zh-CN" altLang="en-US">
              <a:solidFill>
                <a:schemeClr val="tx1"/>
              </a:solidFill>
              <a:latin typeface="黑体" panose="02010609060101010101" charset="-122"/>
              <a:ea typeface="黑体" panose="02010609060101010101" charset="-122"/>
              <a:cs typeface="黑体" panose="02010609060101010101" charset="-122"/>
              <a:sym typeface="+mn-ea"/>
            </a:endParaRPr>
          </a:p>
        </p:txBody>
      </p:sp>
      <p:grpSp>
        <p:nvGrpSpPr>
          <p:cNvPr id="13" name="组合 12"/>
          <p:cNvGrpSpPr/>
          <p:nvPr/>
        </p:nvGrpSpPr>
        <p:grpSpPr>
          <a:xfrm>
            <a:off x="386665" y="6251121"/>
            <a:ext cx="316658" cy="173710"/>
            <a:chOff x="1425482" y="1088227"/>
            <a:chExt cx="333375" cy="182880"/>
          </a:xfrm>
        </p:grpSpPr>
        <p:sp>
          <p:nvSpPr>
            <p:cNvPr id="14" name="箭头: 五边形 13"/>
            <p:cNvSpPr/>
            <p:nvPr/>
          </p:nvSpPr>
          <p:spPr>
            <a:xfrm>
              <a:off x="1425482" y="1088227"/>
              <a:ext cx="244261" cy="182880"/>
            </a:xfrm>
            <a:prstGeom prst="homePlate">
              <a:avLst>
                <a:gd name="adj" fmla="val 34375"/>
              </a:avLst>
            </a:prstGeom>
            <a:gradFill>
              <a:gsLst>
                <a:gs pos="0">
                  <a:schemeClr val="accent1">
                    <a:alpha val="50000"/>
                  </a:schemeClr>
                </a:gs>
                <a:gs pos="100000">
                  <a:schemeClr val="bg1">
                    <a:alpha val="0"/>
                  </a:schemeClr>
                </a:gs>
              </a:gsLst>
              <a:lin ang="108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076EBD"/>
                </a:solidFill>
                <a:latin typeface="思源黑体 CN Bold" panose="020B0800000000000000" charset="-122"/>
                <a:ea typeface="思源黑体 CN Bold" panose="020B0800000000000000" charset="-122"/>
              </a:endParaRPr>
            </a:p>
          </p:txBody>
        </p:sp>
        <p:sp>
          <p:nvSpPr>
            <p:cNvPr id="15" name="箭头: V 形 14"/>
            <p:cNvSpPr/>
            <p:nvPr/>
          </p:nvSpPr>
          <p:spPr>
            <a:xfrm>
              <a:off x="1637868" y="1088227"/>
              <a:ext cx="120989" cy="182880"/>
            </a:xfrm>
            <a:prstGeom prst="chevron">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076EBD"/>
                </a:solidFill>
                <a:latin typeface="思源黑体 CN Bold" panose="020B0800000000000000" charset="-122"/>
                <a:ea typeface="思源黑体 CN Bold" panose="020B0800000000000000" charset="-122"/>
              </a:endParaRPr>
            </a:p>
          </p:txBody>
        </p:sp>
      </p:grpSp>
      <p:sp>
        <p:nvSpPr>
          <p:cNvPr id="16" name="矩形: 圆角 15"/>
          <p:cNvSpPr/>
          <p:nvPr/>
        </p:nvSpPr>
        <p:spPr>
          <a:xfrm>
            <a:off x="386715" y="1266190"/>
            <a:ext cx="11448415" cy="1225296"/>
          </a:xfrm>
          <a:prstGeom prst="roundRect">
            <a:avLst>
              <a:gd name="adj" fmla="val 0"/>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dirty="0">
              <a:solidFill>
                <a:prstClr val="white"/>
              </a:solidFill>
              <a:latin typeface="Roboto" panose="02000000000000000000"/>
            </a:endParaRPr>
          </a:p>
        </p:txBody>
      </p:sp>
      <p:cxnSp>
        <p:nvCxnSpPr>
          <p:cNvPr id="18" name="直接连接符 17"/>
          <p:cNvCxnSpPr/>
          <p:nvPr/>
        </p:nvCxnSpPr>
        <p:spPr>
          <a:xfrm>
            <a:off x="1761265" y="1411839"/>
            <a:ext cx="0" cy="802482"/>
          </a:xfrm>
          <a:prstGeom prst="line">
            <a:avLst/>
          </a:prstGeom>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1660901" y="1712716"/>
            <a:ext cx="200728" cy="200728"/>
            <a:chOff x="4462253" y="3257254"/>
            <a:chExt cx="319142" cy="319142"/>
          </a:xfrm>
        </p:grpSpPr>
        <p:sp>
          <p:nvSpPr>
            <p:cNvPr id="24" name="椭圆 23"/>
            <p:cNvSpPr/>
            <p:nvPr/>
          </p:nvSpPr>
          <p:spPr>
            <a:xfrm>
              <a:off x="4462253" y="3257254"/>
              <a:ext cx="319142" cy="319142"/>
            </a:xfrm>
            <a:prstGeom prst="ellipse">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rot="16200000">
              <a:off x="4523502" y="3318419"/>
              <a:ext cx="244271" cy="196813"/>
              <a:chOff x="2777059" y="3423083"/>
              <a:chExt cx="370430" cy="298462"/>
            </a:xfrm>
            <a:gradFill>
              <a:gsLst>
                <a:gs pos="100000">
                  <a:schemeClr val="accent1"/>
                </a:gs>
                <a:gs pos="0">
                  <a:schemeClr val="accent1">
                    <a:alpha val="0"/>
                  </a:schemeClr>
                </a:gs>
              </a:gsLst>
              <a:lin ang="5400000" scaled="1"/>
            </a:gradFill>
          </p:grpSpPr>
          <p:sp>
            <p:nvSpPr>
              <p:cNvPr id="26" name="任意多边形: 形状 25"/>
              <p:cNvSpPr/>
              <p:nvPr/>
            </p:nvSpPr>
            <p:spPr>
              <a:xfrm rot="5400000">
                <a:off x="2849879" y="3423933"/>
                <a:ext cx="224790" cy="370427"/>
              </a:xfrm>
              <a:custGeom>
                <a:avLst/>
                <a:gdLst>
                  <a:gd name="connsiteX0" fmla="*/ 0 w 224790"/>
                  <a:gd name="connsiteY0" fmla="*/ 370427 h 370427"/>
                  <a:gd name="connsiteX1" fmla="*/ 90828 w 224790"/>
                  <a:gd name="connsiteY1" fmla="*/ 185214 h 370427"/>
                  <a:gd name="connsiteX2" fmla="*/ 0 w 224790"/>
                  <a:gd name="connsiteY2" fmla="*/ 0 h 370427"/>
                  <a:gd name="connsiteX3" fmla="*/ 224790 w 224790"/>
                  <a:gd name="connsiteY3" fmla="*/ 185214 h 370427"/>
                  <a:gd name="connsiteX4" fmla="*/ 0 w 224790"/>
                  <a:gd name="connsiteY4" fmla="*/ 370427 h 370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0" h="370427">
                    <a:moveTo>
                      <a:pt x="0" y="370427"/>
                    </a:moveTo>
                    <a:lnTo>
                      <a:pt x="90828" y="185214"/>
                    </a:lnTo>
                    <a:lnTo>
                      <a:pt x="0" y="0"/>
                    </a:lnTo>
                    <a:lnTo>
                      <a:pt x="224790" y="185214"/>
                    </a:lnTo>
                    <a:lnTo>
                      <a:pt x="0" y="37042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7" name="箭头: 五边形 26"/>
              <p:cNvSpPr/>
              <p:nvPr/>
            </p:nvSpPr>
            <p:spPr>
              <a:xfrm rot="5400000">
                <a:off x="2887878" y="3312264"/>
                <a:ext cx="148792" cy="370430"/>
              </a:xfrm>
              <a:prstGeom prst="homePlate">
                <a:avLst>
                  <a:gd name="adj" fmla="val 6095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8" name="任意多边形: 形状 27"/>
              <p:cNvSpPr/>
              <p:nvPr/>
            </p:nvSpPr>
            <p:spPr>
              <a:xfrm rot="5400000">
                <a:off x="2757272" y="3516543"/>
                <a:ext cx="224790" cy="185213"/>
              </a:xfrm>
              <a:custGeom>
                <a:avLst/>
                <a:gdLst>
                  <a:gd name="connsiteX0" fmla="*/ 0 w 224790"/>
                  <a:gd name="connsiteY0" fmla="*/ 185213 h 185213"/>
                  <a:gd name="connsiteX1" fmla="*/ 90828 w 224790"/>
                  <a:gd name="connsiteY1" fmla="*/ 0 h 185213"/>
                  <a:gd name="connsiteX2" fmla="*/ 224790 w 224790"/>
                  <a:gd name="connsiteY2" fmla="*/ 0 h 185213"/>
                  <a:gd name="connsiteX3" fmla="*/ 0 w 224790"/>
                  <a:gd name="connsiteY3" fmla="*/ 185213 h 185213"/>
                </a:gdLst>
                <a:ahLst/>
                <a:cxnLst>
                  <a:cxn ang="0">
                    <a:pos x="connsiteX0" y="connsiteY0"/>
                  </a:cxn>
                  <a:cxn ang="0">
                    <a:pos x="connsiteX1" y="connsiteY1"/>
                  </a:cxn>
                  <a:cxn ang="0">
                    <a:pos x="connsiteX2" y="connsiteY2"/>
                  </a:cxn>
                  <a:cxn ang="0">
                    <a:pos x="connsiteX3" y="connsiteY3"/>
                  </a:cxn>
                </a:cxnLst>
                <a:rect l="l" t="t" r="r" b="b"/>
                <a:pathLst>
                  <a:path w="224790" h="185213">
                    <a:moveTo>
                      <a:pt x="0" y="185213"/>
                    </a:moveTo>
                    <a:lnTo>
                      <a:pt x="90828" y="0"/>
                    </a:lnTo>
                    <a:lnTo>
                      <a:pt x="224790" y="0"/>
                    </a:lnTo>
                    <a:lnTo>
                      <a:pt x="0" y="1852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grpSp>
      <p:pic>
        <p:nvPicPr>
          <p:cNvPr id="2"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10" name="矩形: 圆角 15"/>
          <p:cNvSpPr/>
          <p:nvPr/>
        </p:nvSpPr>
        <p:spPr>
          <a:xfrm>
            <a:off x="392430" y="2850515"/>
            <a:ext cx="11448415" cy="1225296"/>
          </a:xfrm>
          <a:prstGeom prst="roundRect">
            <a:avLst>
              <a:gd name="adj" fmla="val 0"/>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dirty="0">
              <a:solidFill>
                <a:prstClr val="white"/>
              </a:solidFill>
              <a:latin typeface="Roboto" panose="02000000000000000000"/>
            </a:endParaRPr>
          </a:p>
        </p:txBody>
      </p:sp>
      <p:sp>
        <p:nvSpPr>
          <p:cNvPr id="19" name="矩形: 圆角 15"/>
          <p:cNvSpPr/>
          <p:nvPr/>
        </p:nvSpPr>
        <p:spPr>
          <a:xfrm>
            <a:off x="392430" y="4459605"/>
            <a:ext cx="11448415" cy="1225296"/>
          </a:xfrm>
          <a:prstGeom prst="roundRect">
            <a:avLst>
              <a:gd name="adj" fmla="val 0"/>
            </a:avLst>
          </a:prstGeom>
          <a:solidFill>
            <a:schemeClr val="bg1"/>
          </a:solidFill>
          <a:ln w="3175">
            <a:solidFill>
              <a:schemeClr val="accent1"/>
            </a:solidFill>
          </a:ln>
          <a:effectLst>
            <a:outerShdw blurRad="127000" dist="25400" dir="1200000" algn="t"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1" lang="zh-CN" altLang="en-US" sz="1350" dirty="0">
              <a:solidFill>
                <a:prstClr val="white"/>
              </a:solidFill>
              <a:latin typeface="Roboto" panose="02000000000000000000"/>
            </a:endParaRPr>
          </a:p>
        </p:txBody>
      </p:sp>
      <p:cxnSp>
        <p:nvCxnSpPr>
          <p:cNvPr id="39" name="直接连接符 38"/>
          <p:cNvCxnSpPr/>
          <p:nvPr/>
        </p:nvCxnSpPr>
        <p:spPr>
          <a:xfrm>
            <a:off x="1791110" y="3027279"/>
            <a:ext cx="0" cy="802482"/>
          </a:xfrm>
          <a:prstGeom prst="line">
            <a:avLst/>
          </a:prstGeom>
        </p:spPr>
        <p:style>
          <a:lnRef idx="1">
            <a:schemeClr val="accent1"/>
          </a:lnRef>
          <a:fillRef idx="0">
            <a:schemeClr val="accent1"/>
          </a:fillRef>
          <a:effectRef idx="0">
            <a:schemeClr val="accent1"/>
          </a:effectRef>
          <a:fontRef idx="minor">
            <a:schemeClr val="tx1"/>
          </a:fontRef>
        </p:style>
      </p:cxnSp>
      <p:grpSp>
        <p:nvGrpSpPr>
          <p:cNvPr id="40" name="组合 39"/>
          <p:cNvGrpSpPr/>
          <p:nvPr/>
        </p:nvGrpSpPr>
        <p:grpSpPr>
          <a:xfrm>
            <a:off x="1690746" y="3328156"/>
            <a:ext cx="200728" cy="200728"/>
            <a:chOff x="4462253" y="3257254"/>
            <a:chExt cx="319142" cy="319142"/>
          </a:xfrm>
        </p:grpSpPr>
        <p:sp>
          <p:nvSpPr>
            <p:cNvPr id="41" name="椭圆 40"/>
            <p:cNvSpPr/>
            <p:nvPr/>
          </p:nvSpPr>
          <p:spPr>
            <a:xfrm>
              <a:off x="4462253" y="3257254"/>
              <a:ext cx="319142" cy="319142"/>
            </a:xfrm>
            <a:prstGeom prst="ellipse">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rot="16200000">
              <a:off x="4523502" y="3318419"/>
              <a:ext cx="244271" cy="196813"/>
              <a:chOff x="2777059" y="3423083"/>
              <a:chExt cx="370430" cy="298462"/>
            </a:xfrm>
            <a:gradFill>
              <a:gsLst>
                <a:gs pos="100000">
                  <a:schemeClr val="accent1"/>
                </a:gs>
                <a:gs pos="0">
                  <a:schemeClr val="accent1">
                    <a:alpha val="0"/>
                  </a:schemeClr>
                </a:gs>
              </a:gsLst>
              <a:lin ang="5400000" scaled="1"/>
            </a:gradFill>
          </p:grpSpPr>
          <p:sp>
            <p:nvSpPr>
              <p:cNvPr id="43" name="任意多边形: 形状 25"/>
              <p:cNvSpPr/>
              <p:nvPr/>
            </p:nvSpPr>
            <p:spPr>
              <a:xfrm rot="5400000">
                <a:off x="2849879" y="3423933"/>
                <a:ext cx="224790" cy="370427"/>
              </a:xfrm>
              <a:custGeom>
                <a:avLst/>
                <a:gdLst>
                  <a:gd name="connsiteX0" fmla="*/ 0 w 224790"/>
                  <a:gd name="connsiteY0" fmla="*/ 370427 h 370427"/>
                  <a:gd name="connsiteX1" fmla="*/ 90828 w 224790"/>
                  <a:gd name="connsiteY1" fmla="*/ 185214 h 370427"/>
                  <a:gd name="connsiteX2" fmla="*/ 0 w 224790"/>
                  <a:gd name="connsiteY2" fmla="*/ 0 h 370427"/>
                  <a:gd name="connsiteX3" fmla="*/ 224790 w 224790"/>
                  <a:gd name="connsiteY3" fmla="*/ 185214 h 370427"/>
                  <a:gd name="connsiteX4" fmla="*/ 0 w 224790"/>
                  <a:gd name="connsiteY4" fmla="*/ 370427 h 370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0" h="370427">
                    <a:moveTo>
                      <a:pt x="0" y="370427"/>
                    </a:moveTo>
                    <a:lnTo>
                      <a:pt x="90828" y="185214"/>
                    </a:lnTo>
                    <a:lnTo>
                      <a:pt x="0" y="0"/>
                    </a:lnTo>
                    <a:lnTo>
                      <a:pt x="224790" y="185214"/>
                    </a:lnTo>
                    <a:lnTo>
                      <a:pt x="0" y="37042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44" name="箭头: 五边形 26"/>
              <p:cNvSpPr/>
              <p:nvPr/>
            </p:nvSpPr>
            <p:spPr>
              <a:xfrm rot="5400000">
                <a:off x="2887878" y="3312264"/>
                <a:ext cx="148792" cy="370430"/>
              </a:xfrm>
              <a:prstGeom prst="homePlate">
                <a:avLst>
                  <a:gd name="adj" fmla="val 6095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45" name="任意多边形: 形状 27"/>
              <p:cNvSpPr/>
              <p:nvPr/>
            </p:nvSpPr>
            <p:spPr>
              <a:xfrm rot="5400000">
                <a:off x="2757272" y="3516543"/>
                <a:ext cx="224790" cy="185213"/>
              </a:xfrm>
              <a:custGeom>
                <a:avLst/>
                <a:gdLst>
                  <a:gd name="connsiteX0" fmla="*/ 0 w 224790"/>
                  <a:gd name="connsiteY0" fmla="*/ 185213 h 185213"/>
                  <a:gd name="connsiteX1" fmla="*/ 90828 w 224790"/>
                  <a:gd name="connsiteY1" fmla="*/ 0 h 185213"/>
                  <a:gd name="connsiteX2" fmla="*/ 224790 w 224790"/>
                  <a:gd name="connsiteY2" fmla="*/ 0 h 185213"/>
                  <a:gd name="connsiteX3" fmla="*/ 0 w 224790"/>
                  <a:gd name="connsiteY3" fmla="*/ 185213 h 185213"/>
                </a:gdLst>
                <a:ahLst/>
                <a:cxnLst>
                  <a:cxn ang="0">
                    <a:pos x="connsiteX0" y="connsiteY0"/>
                  </a:cxn>
                  <a:cxn ang="0">
                    <a:pos x="connsiteX1" y="connsiteY1"/>
                  </a:cxn>
                  <a:cxn ang="0">
                    <a:pos x="connsiteX2" y="connsiteY2"/>
                  </a:cxn>
                  <a:cxn ang="0">
                    <a:pos x="connsiteX3" y="connsiteY3"/>
                  </a:cxn>
                </a:cxnLst>
                <a:rect l="l" t="t" r="r" b="b"/>
                <a:pathLst>
                  <a:path w="224790" h="185213">
                    <a:moveTo>
                      <a:pt x="0" y="185213"/>
                    </a:moveTo>
                    <a:lnTo>
                      <a:pt x="90828" y="0"/>
                    </a:lnTo>
                    <a:lnTo>
                      <a:pt x="224790" y="0"/>
                    </a:lnTo>
                    <a:lnTo>
                      <a:pt x="0" y="1852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grpSp>
      <p:cxnSp>
        <p:nvCxnSpPr>
          <p:cNvPr id="48" name="直接连接符 47"/>
          <p:cNvCxnSpPr/>
          <p:nvPr/>
        </p:nvCxnSpPr>
        <p:spPr>
          <a:xfrm>
            <a:off x="1801270" y="4632559"/>
            <a:ext cx="0" cy="802482"/>
          </a:xfrm>
          <a:prstGeom prst="line">
            <a:avLst/>
          </a:prstGeom>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a:xfrm>
            <a:off x="1699636" y="4943596"/>
            <a:ext cx="200728" cy="200728"/>
            <a:chOff x="4462253" y="3257254"/>
            <a:chExt cx="319142" cy="319142"/>
          </a:xfrm>
        </p:grpSpPr>
        <p:sp>
          <p:nvSpPr>
            <p:cNvPr id="50" name="椭圆 49"/>
            <p:cNvSpPr/>
            <p:nvPr/>
          </p:nvSpPr>
          <p:spPr>
            <a:xfrm>
              <a:off x="4462253" y="3257254"/>
              <a:ext cx="319142" cy="319142"/>
            </a:xfrm>
            <a:prstGeom prst="ellipse">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p:cNvGrpSpPr/>
            <p:nvPr/>
          </p:nvGrpSpPr>
          <p:grpSpPr>
            <a:xfrm rot="16200000">
              <a:off x="4523502" y="3318419"/>
              <a:ext cx="244271" cy="196813"/>
              <a:chOff x="2777059" y="3423083"/>
              <a:chExt cx="370430" cy="298462"/>
            </a:xfrm>
            <a:gradFill>
              <a:gsLst>
                <a:gs pos="100000">
                  <a:schemeClr val="accent1"/>
                </a:gs>
                <a:gs pos="0">
                  <a:schemeClr val="accent1">
                    <a:alpha val="0"/>
                  </a:schemeClr>
                </a:gs>
              </a:gsLst>
              <a:lin ang="5400000" scaled="1"/>
            </a:gradFill>
          </p:grpSpPr>
          <p:sp>
            <p:nvSpPr>
              <p:cNvPr id="52" name="任意多边形: 形状 25"/>
              <p:cNvSpPr/>
              <p:nvPr/>
            </p:nvSpPr>
            <p:spPr>
              <a:xfrm rot="5400000">
                <a:off x="2849879" y="3423933"/>
                <a:ext cx="224790" cy="370427"/>
              </a:xfrm>
              <a:custGeom>
                <a:avLst/>
                <a:gdLst>
                  <a:gd name="connsiteX0" fmla="*/ 0 w 224790"/>
                  <a:gd name="connsiteY0" fmla="*/ 370427 h 370427"/>
                  <a:gd name="connsiteX1" fmla="*/ 90828 w 224790"/>
                  <a:gd name="connsiteY1" fmla="*/ 185214 h 370427"/>
                  <a:gd name="connsiteX2" fmla="*/ 0 w 224790"/>
                  <a:gd name="connsiteY2" fmla="*/ 0 h 370427"/>
                  <a:gd name="connsiteX3" fmla="*/ 224790 w 224790"/>
                  <a:gd name="connsiteY3" fmla="*/ 185214 h 370427"/>
                  <a:gd name="connsiteX4" fmla="*/ 0 w 224790"/>
                  <a:gd name="connsiteY4" fmla="*/ 370427 h 370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0" h="370427">
                    <a:moveTo>
                      <a:pt x="0" y="370427"/>
                    </a:moveTo>
                    <a:lnTo>
                      <a:pt x="90828" y="185214"/>
                    </a:lnTo>
                    <a:lnTo>
                      <a:pt x="0" y="0"/>
                    </a:lnTo>
                    <a:lnTo>
                      <a:pt x="224790" y="185214"/>
                    </a:lnTo>
                    <a:lnTo>
                      <a:pt x="0" y="37042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54" name="箭头: 五边形 26"/>
              <p:cNvSpPr/>
              <p:nvPr/>
            </p:nvSpPr>
            <p:spPr>
              <a:xfrm rot="5400000">
                <a:off x="2887878" y="3312264"/>
                <a:ext cx="148792" cy="370430"/>
              </a:xfrm>
              <a:prstGeom prst="homePlate">
                <a:avLst>
                  <a:gd name="adj" fmla="val 60956"/>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58" name="任意多边形: 形状 27"/>
              <p:cNvSpPr/>
              <p:nvPr/>
            </p:nvSpPr>
            <p:spPr>
              <a:xfrm rot="5400000">
                <a:off x="2757272" y="3516543"/>
                <a:ext cx="224790" cy="185213"/>
              </a:xfrm>
              <a:custGeom>
                <a:avLst/>
                <a:gdLst>
                  <a:gd name="connsiteX0" fmla="*/ 0 w 224790"/>
                  <a:gd name="connsiteY0" fmla="*/ 185213 h 185213"/>
                  <a:gd name="connsiteX1" fmla="*/ 90828 w 224790"/>
                  <a:gd name="connsiteY1" fmla="*/ 0 h 185213"/>
                  <a:gd name="connsiteX2" fmla="*/ 224790 w 224790"/>
                  <a:gd name="connsiteY2" fmla="*/ 0 h 185213"/>
                  <a:gd name="connsiteX3" fmla="*/ 0 w 224790"/>
                  <a:gd name="connsiteY3" fmla="*/ 185213 h 185213"/>
                </a:gdLst>
                <a:ahLst/>
                <a:cxnLst>
                  <a:cxn ang="0">
                    <a:pos x="connsiteX0" y="connsiteY0"/>
                  </a:cxn>
                  <a:cxn ang="0">
                    <a:pos x="connsiteX1" y="connsiteY1"/>
                  </a:cxn>
                  <a:cxn ang="0">
                    <a:pos x="connsiteX2" y="connsiteY2"/>
                  </a:cxn>
                  <a:cxn ang="0">
                    <a:pos x="connsiteX3" y="connsiteY3"/>
                  </a:cxn>
                </a:cxnLst>
                <a:rect l="l" t="t" r="r" b="b"/>
                <a:pathLst>
                  <a:path w="224790" h="185213">
                    <a:moveTo>
                      <a:pt x="0" y="185213"/>
                    </a:moveTo>
                    <a:lnTo>
                      <a:pt x="90828" y="0"/>
                    </a:lnTo>
                    <a:lnTo>
                      <a:pt x="224790" y="0"/>
                    </a:lnTo>
                    <a:lnTo>
                      <a:pt x="0" y="1852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grpSp>
      <p:sp>
        <p:nvSpPr>
          <p:cNvPr id="59" name="TextBox 58"/>
          <p:cNvSpPr txBox="1"/>
          <p:nvPr/>
        </p:nvSpPr>
        <p:spPr>
          <a:xfrm>
            <a:off x="448056" y="832104"/>
            <a:ext cx="11155680" cy="320040"/>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1900" b="0" lang="zh-CN">
                <a:solidFill>
                  <a:srgbClr val="002FA8"/>
                </a:solidFill>
                <a:latin typeface="Noto Sans CJK SC"/>
                <a:ea typeface="Noto Sans CJK SC"/>
                <a:cs typeface="Noto Sans CJK SC"/>
              </a:rPr>
              <a:t>围绕“动态环境怎么走”和“跨楼层怎么走”两个问题展开。</a:t>
            </a:r>
          </a:p>
        </p:txBody>
      </p:sp>
      <p:sp>
        <p:nvSpPr>
          <p:cNvPr id="60" name="TextBox 59"/>
          <p:cNvSpPr txBox="1"/>
          <p:nvPr/>
        </p:nvSpPr>
        <p:spPr>
          <a:xfrm>
            <a:off x="475488" y="1613916"/>
            <a:ext cx="1188720" cy="36576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600" b="1" lang="zh-CN">
                <a:solidFill>
                  <a:srgbClr val="002FA8"/>
                </a:solidFill>
                <a:latin typeface="Noto Sans CJK SC"/>
                <a:ea typeface="Noto Sans CJK SC"/>
                <a:cs typeface="Noto Sans CJK SC"/>
              </a:rPr>
              <a:t>研究内容一</a:t>
            </a:r>
          </a:p>
        </p:txBody>
      </p:sp>
      <p:sp>
        <p:nvSpPr>
          <p:cNvPr id="61" name="TextBox 60"/>
          <p:cNvSpPr txBox="1"/>
          <p:nvPr/>
        </p:nvSpPr>
        <p:spPr>
          <a:xfrm>
            <a:off x="1993392" y="1385316"/>
            <a:ext cx="9509760" cy="320040"/>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2200" b="1" lang="zh-CN">
                <a:solidFill>
                  <a:srgbClr val="002FA8"/>
                </a:solidFill>
                <a:latin typeface="Noto Sans CJK SC"/>
                <a:ea typeface="Noto Sans CJK SC"/>
                <a:cs typeface="Noto Sans CJK SC"/>
              </a:rPr>
              <a:t>动态室内环境无人车导航系统构建</a:t>
            </a:r>
          </a:p>
        </p:txBody>
      </p:sp>
      <p:sp>
        <p:nvSpPr>
          <p:cNvPr id="62" name="TextBox 61"/>
          <p:cNvSpPr txBox="1"/>
          <p:nvPr/>
        </p:nvSpPr>
        <p:spPr>
          <a:xfrm>
            <a:off x="1993392" y="1815084"/>
            <a:ext cx="9509760" cy="585216"/>
          </a:xfrm>
          <a:prstGeom prst="rect">
            <a:avLst/>
          </a:prstGeom>
          <a:noFill/>
        </p:spPr>
        <p:txBody>
          <a:bodyPr wrap="square" lIns="18288" rIns="18288" tIns="18288" bIns="18288" anchor="t">
            <a:noAutofit/>
          </a:bodyPr>
          <a:lstStyle/>
          <a:p>
            <a:pPr algn="l" marL="0" indent="0">
              <a:lnSpc>
                <a:spcPct val="110000"/>
              </a:lnSpc>
              <a:spcBef>
                <a:spcPts val="0"/>
              </a:spcBef>
              <a:spcAft>
                <a:spcPts val="0"/>
              </a:spcAft>
              <a:buNone/>
            </a:pPr>
            <a:r>
              <a:rPr sz="1700" b="0" lang="zh-CN">
                <a:solidFill>
                  <a:srgbClr val="232D41"/>
                </a:solidFill>
                <a:latin typeface="Noto Sans CJK SC"/>
                <a:ea typeface="Noto Sans CJK SC"/>
                <a:cs typeface="Noto Sans CJK SC"/>
              </a:rPr>
              <a:t>建立差速无人车运动学模型，搭建ROS/ROS2导航框架，</a:t>
            </a:r>
          </a:p>
          <a:p>
            <a:pPr algn="l" marL="0" indent="0">
              <a:lnSpc>
                <a:spcPct val="110000"/>
              </a:lnSpc>
              <a:spcBef>
                <a:spcPts val="0"/>
              </a:spcBef>
              <a:spcAft>
                <a:spcPts val="0"/>
              </a:spcAft>
              <a:buNone/>
            </a:pPr>
            <a:r>
              <a:rPr sz="1700" b="0" lang="zh-CN">
                <a:solidFill>
                  <a:srgbClr val="232D41"/>
                </a:solidFill>
                <a:latin typeface="Noto Sans CJK SC"/>
                <a:ea typeface="Noto Sans CJK SC"/>
                <a:cs typeface="Noto Sans CJK SC"/>
              </a:rPr>
              <a:t>完成定位、全局规划、局部规划和运动控制接口。</a:t>
            </a:r>
          </a:p>
        </p:txBody>
      </p:sp>
      <p:sp>
        <p:nvSpPr>
          <p:cNvPr id="63" name="TextBox 62"/>
          <p:cNvSpPr txBox="1"/>
          <p:nvPr/>
        </p:nvSpPr>
        <p:spPr>
          <a:xfrm>
            <a:off x="475488" y="3197656"/>
            <a:ext cx="1188720" cy="36576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600" b="1" lang="zh-CN">
                <a:solidFill>
                  <a:srgbClr val="002FA8"/>
                </a:solidFill>
                <a:latin typeface="Noto Sans CJK SC"/>
                <a:ea typeface="Noto Sans CJK SC"/>
                <a:cs typeface="Noto Sans CJK SC"/>
              </a:rPr>
              <a:t>研究内容二</a:t>
            </a:r>
          </a:p>
        </p:txBody>
      </p:sp>
      <p:sp>
        <p:nvSpPr>
          <p:cNvPr id="64" name="TextBox 63"/>
          <p:cNvSpPr txBox="1"/>
          <p:nvPr/>
        </p:nvSpPr>
        <p:spPr>
          <a:xfrm>
            <a:off x="1993392" y="2969056"/>
            <a:ext cx="9509760" cy="320040"/>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2200" b="1" lang="zh-CN">
                <a:solidFill>
                  <a:srgbClr val="002FA8"/>
                </a:solidFill>
                <a:latin typeface="Noto Sans CJK SC"/>
                <a:ea typeface="Noto Sans CJK SC"/>
                <a:cs typeface="Noto Sans CJK SC"/>
              </a:rPr>
              <a:t>基于SAC的DWA自适应局部规划方法</a:t>
            </a:r>
          </a:p>
        </p:txBody>
      </p:sp>
      <p:sp>
        <p:nvSpPr>
          <p:cNvPr id="65" name="TextBox 64"/>
          <p:cNvSpPr txBox="1"/>
          <p:nvPr/>
        </p:nvSpPr>
        <p:spPr>
          <a:xfrm>
            <a:off x="1993392" y="3398824"/>
            <a:ext cx="9509760" cy="585216"/>
          </a:xfrm>
          <a:prstGeom prst="rect">
            <a:avLst/>
          </a:prstGeom>
          <a:noFill/>
        </p:spPr>
        <p:txBody>
          <a:bodyPr wrap="square" lIns="18288" rIns="18288" tIns="18288" bIns="18288" anchor="t">
            <a:noAutofit/>
          </a:bodyPr>
          <a:lstStyle/>
          <a:p>
            <a:pPr algn="l" marL="0" indent="0">
              <a:lnSpc>
                <a:spcPct val="110000"/>
              </a:lnSpc>
              <a:spcBef>
                <a:spcPts val="0"/>
              </a:spcBef>
              <a:spcAft>
                <a:spcPts val="0"/>
              </a:spcAft>
              <a:buNone/>
            </a:pPr>
            <a:r>
              <a:rPr sz="1700" b="0" lang="zh-CN">
                <a:solidFill>
                  <a:srgbClr val="232D41"/>
                </a:solidFill>
                <a:latin typeface="Noto Sans CJK SC"/>
                <a:ea typeface="Noto Sans CJK SC"/>
                <a:cs typeface="Noto Sans CJK SC"/>
              </a:rPr>
              <a:t>构建状态—动作—奖励模型，由SAC在线输出DWA评价权重与速度约束，</a:t>
            </a:r>
          </a:p>
          <a:p>
            <a:pPr algn="l" marL="0" indent="0">
              <a:lnSpc>
                <a:spcPct val="110000"/>
              </a:lnSpc>
              <a:spcBef>
                <a:spcPts val="0"/>
              </a:spcBef>
              <a:spcAft>
                <a:spcPts val="0"/>
              </a:spcAft>
              <a:buNone/>
            </a:pPr>
            <a:r>
              <a:rPr sz="1700" b="0" lang="zh-CN">
                <a:solidFill>
                  <a:srgbClr val="232D41"/>
                </a:solidFill>
                <a:latin typeface="Noto Sans CJK SC"/>
                <a:ea typeface="Noto Sans CJK SC"/>
                <a:cs typeface="Noto Sans CJK SC"/>
              </a:rPr>
              <a:t>实现动态环境下规划参数自适应。</a:t>
            </a:r>
          </a:p>
        </p:txBody>
      </p:sp>
      <p:sp>
        <p:nvSpPr>
          <p:cNvPr id="66" name="TextBox 65"/>
          <p:cNvSpPr txBox="1"/>
          <p:nvPr/>
        </p:nvSpPr>
        <p:spPr>
          <a:xfrm>
            <a:off x="475488" y="4807000"/>
            <a:ext cx="1188720" cy="36576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600" b="1" lang="zh-CN">
                <a:solidFill>
                  <a:srgbClr val="002FA8"/>
                </a:solidFill>
                <a:latin typeface="Noto Sans CJK SC"/>
                <a:ea typeface="Noto Sans CJK SC"/>
                <a:cs typeface="Noto Sans CJK SC"/>
              </a:rPr>
              <a:t>研究内容三</a:t>
            </a:r>
          </a:p>
        </p:txBody>
      </p:sp>
      <p:sp>
        <p:nvSpPr>
          <p:cNvPr id="67" name="TextBox 66"/>
          <p:cNvSpPr txBox="1"/>
          <p:nvPr/>
        </p:nvSpPr>
        <p:spPr>
          <a:xfrm>
            <a:off x="1993392" y="4578400"/>
            <a:ext cx="9509760" cy="320040"/>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2200" b="1" lang="zh-CN">
                <a:solidFill>
                  <a:srgbClr val="002FA8"/>
                </a:solidFill>
                <a:latin typeface="Noto Sans CJK SC"/>
                <a:ea typeface="Noto Sans CJK SC"/>
                <a:cs typeface="Noto Sans CJK SC"/>
              </a:rPr>
              <a:t>基于视觉感知的自主进出梯方法</a:t>
            </a:r>
          </a:p>
        </p:txBody>
      </p:sp>
      <p:sp>
        <p:nvSpPr>
          <p:cNvPr id="68" name="TextBox 67"/>
          <p:cNvSpPr txBox="1"/>
          <p:nvPr/>
        </p:nvSpPr>
        <p:spPr>
          <a:xfrm>
            <a:off x="1993392" y="5008168"/>
            <a:ext cx="9509760" cy="585216"/>
          </a:xfrm>
          <a:prstGeom prst="rect">
            <a:avLst/>
          </a:prstGeom>
          <a:noFill/>
        </p:spPr>
        <p:txBody>
          <a:bodyPr wrap="square" lIns="18288" rIns="18288" tIns="18288" bIns="18288" anchor="t">
            <a:noAutofit/>
          </a:bodyPr>
          <a:lstStyle/>
          <a:p>
            <a:pPr algn="l" marL="0" indent="0">
              <a:lnSpc>
                <a:spcPct val="110000"/>
              </a:lnSpc>
              <a:spcBef>
                <a:spcPts val="0"/>
              </a:spcBef>
              <a:spcAft>
                <a:spcPts val="0"/>
              </a:spcAft>
              <a:buNone/>
            </a:pPr>
            <a:r>
              <a:rPr sz="1700" b="0" lang="zh-CN">
                <a:solidFill>
                  <a:srgbClr val="232D41"/>
                </a:solidFill>
                <a:latin typeface="Noto Sans CJK SC"/>
                <a:ea typeface="Noto Sans CJK SC"/>
                <a:cs typeface="Noto Sans CJK SC"/>
              </a:rPr>
              <a:t>在电梯区域触发相机识别，完成门状态识别、入口通行判断，</a:t>
            </a:r>
          </a:p>
          <a:p>
            <a:pPr algn="l" marL="0" indent="0">
              <a:lnSpc>
                <a:spcPct val="110000"/>
              </a:lnSpc>
              <a:spcBef>
                <a:spcPts val="0"/>
              </a:spcBef>
              <a:spcAft>
                <a:spcPts val="0"/>
              </a:spcAft>
              <a:buNone/>
            </a:pPr>
            <a:r>
              <a:rPr sz="1700" b="0" lang="zh-CN">
                <a:solidFill>
                  <a:srgbClr val="232D41"/>
                </a:solidFill>
                <a:latin typeface="Noto Sans CJK SC"/>
                <a:ea typeface="Noto Sans CJK SC"/>
                <a:cs typeface="Noto Sans CJK SC"/>
              </a:rPr>
              <a:t>构建乘梯状态机，并由DWA完成低速进出梯。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rotWithShape="1">
          <a:blip r:embed="rId1">
            <a:alphaModFix amt="15000"/>
          </a:blip>
          <a:srcRect t="2152" b="44416"/>
          <a:stretch>
            <a:fillRect/>
          </a:stretch>
        </p:blipFill>
        <p:spPr>
          <a:xfrm>
            <a:off x="3" y="0"/>
            <a:ext cx="12191997" cy="2728686"/>
          </a:xfrm>
          <a:prstGeom prst="rect">
            <a:avLst/>
          </a:prstGeom>
        </p:spPr>
      </p:pic>
      <p:pic>
        <p:nvPicPr>
          <p:cNvPr id="60" name="图片 59"/>
          <p:cNvPicPr>
            <a:picLocks noChangeAspect="1"/>
          </p:cNvPicPr>
          <p:nvPr/>
        </p:nvPicPr>
        <p:blipFill rotWithShape="1">
          <a:blip r:embed="rId2"/>
          <a:srcRect l="36895" r="29736"/>
          <a:stretch>
            <a:fillRect/>
          </a:stretch>
        </p:blipFill>
        <p:spPr>
          <a:xfrm>
            <a:off x="317" y="1143000"/>
            <a:ext cx="4068319" cy="5715000"/>
          </a:xfrm>
          <a:custGeom>
            <a:avLst/>
            <a:gdLst>
              <a:gd name="connsiteX0" fmla="*/ 0 w 4068319"/>
              <a:gd name="connsiteY0" fmla="*/ 0 h 5715000"/>
              <a:gd name="connsiteX1" fmla="*/ 4068319 w 4068319"/>
              <a:gd name="connsiteY1" fmla="*/ 0 h 5715000"/>
              <a:gd name="connsiteX2" fmla="*/ 4068319 w 4068319"/>
              <a:gd name="connsiteY2" fmla="*/ 5715000 h 5715000"/>
              <a:gd name="connsiteX3" fmla="*/ 0 w 4068319"/>
              <a:gd name="connsiteY3" fmla="*/ 5715000 h 5715000"/>
            </a:gdLst>
            <a:ahLst/>
            <a:cxnLst>
              <a:cxn ang="0">
                <a:pos x="connsiteX0" y="connsiteY0"/>
              </a:cxn>
              <a:cxn ang="0">
                <a:pos x="connsiteX1" y="connsiteY1"/>
              </a:cxn>
              <a:cxn ang="0">
                <a:pos x="connsiteX2" y="connsiteY2"/>
              </a:cxn>
              <a:cxn ang="0">
                <a:pos x="connsiteX3" y="connsiteY3"/>
              </a:cxn>
            </a:cxnLst>
            <a:rect l="l" t="t" r="r" b="b"/>
            <a:pathLst>
              <a:path w="4068319" h="5715000">
                <a:moveTo>
                  <a:pt x="0" y="0"/>
                </a:moveTo>
                <a:lnTo>
                  <a:pt x="4068319" y="0"/>
                </a:lnTo>
                <a:lnTo>
                  <a:pt x="4068319" y="5715000"/>
                </a:lnTo>
                <a:lnTo>
                  <a:pt x="0" y="5715000"/>
                </a:lnTo>
                <a:close/>
              </a:path>
            </a:pathLst>
          </a:custGeom>
        </p:spPr>
      </p:pic>
      <p:sp>
        <p:nvSpPr>
          <p:cNvPr id="36" name="矩形 35"/>
          <p:cNvSpPr/>
          <p:nvPr/>
        </p:nvSpPr>
        <p:spPr>
          <a:xfrm>
            <a:off x="-634" y="0"/>
            <a:ext cx="4068953" cy="6858000"/>
          </a:xfrm>
          <a:prstGeom prst="rect">
            <a:avLst/>
          </a:prstGeom>
          <a:gradFill>
            <a:gsLst>
              <a:gs pos="0">
                <a:schemeClr val="accent1">
                  <a:alpha val="80000"/>
                </a:schemeClr>
              </a:gs>
              <a:gs pos="88000">
                <a:schemeClr val="accent1"/>
              </a:gs>
            </a:gsLst>
            <a:lin ang="162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rgbClr val="F2F2F2"/>
              </a:solidFill>
            </a:endParaRPr>
          </a:p>
        </p:txBody>
      </p:sp>
      <p:sp>
        <p:nvSpPr>
          <p:cNvPr id="37" name="矩形: 圆角 36"/>
          <p:cNvSpPr/>
          <p:nvPr/>
        </p:nvSpPr>
        <p:spPr>
          <a:xfrm>
            <a:off x="1651001" y="902667"/>
            <a:ext cx="10071100" cy="5171217"/>
          </a:xfrm>
          <a:prstGeom prst="roundRect">
            <a:avLst>
              <a:gd name="adj" fmla="val 1931"/>
            </a:avLst>
          </a:prstGeom>
          <a:solidFill>
            <a:schemeClr val="bg1"/>
          </a:solidFill>
          <a:ln w="12700" cap="flat" cmpd="sng" algn="ctr">
            <a:noFill/>
            <a:prstDash val="solid"/>
            <a:miter lim="800000"/>
          </a:ln>
          <a:effectLst>
            <a:outerShdw blurRad="127000" dist="38100" dir="5400000" algn="t" rotWithShape="0">
              <a:schemeClr val="accent1">
                <a:alpha val="5000"/>
              </a:schemeClr>
            </a:outerShdw>
          </a:effectLst>
        </p:spPr>
        <p:txBody>
          <a:bodyPr rtlCol="0" anchor="ctr"/>
          <a:lstStyle/>
          <a:p>
            <a:pPr algn="ctr"/>
            <a:endParaRPr lang="zh-CN" altLang="en-US" sz="1200" kern="0">
              <a:gradFill>
                <a:gsLst>
                  <a:gs pos="0">
                    <a:srgbClr val="CA865F">
                      <a:lumMod val="60000"/>
                      <a:lumOff val="40000"/>
                    </a:srgbClr>
                  </a:gs>
                  <a:gs pos="100000">
                    <a:srgbClr val="CA865F"/>
                  </a:gs>
                </a:gsLst>
                <a:lin ang="2700000" scaled="1"/>
              </a:gradFill>
              <a:latin typeface="Roboto" panose="02000000000000000000"/>
            </a:endParaRPr>
          </a:p>
        </p:txBody>
      </p:sp>
      <p:grpSp>
        <p:nvGrpSpPr>
          <p:cNvPr id="38" name="组合 37"/>
          <p:cNvGrpSpPr/>
          <p:nvPr/>
        </p:nvGrpSpPr>
        <p:grpSpPr>
          <a:xfrm>
            <a:off x="2147597" y="1226118"/>
            <a:ext cx="1667719" cy="4524315"/>
            <a:chOff x="1987941" y="979896"/>
            <a:chExt cx="1667719" cy="4524315"/>
          </a:xfrm>
        </p:grpSpPr>
        <p:sp>
          <p:nvSpPr>
            <p:cNvPr id="39" name="文本框 38"/>
            <p:cNvSpPr txBox="1"/>
            <p:nvPr/>
          </p:nvSpPr>
          <p:spPr>
            <a:xfrm>
              <a:off x="2547664" y="979896"/>
              <a:ext cx="1107996" cy="4524315"/>
            </a:xfrm>
            <a:prstGeom prst="rect">
              <a:avLst/>
            </a:prstGeom>
            <a:noFill/>
          </p:spPr>
          <p:txBody>
            <a:bodyPr wrap="none" rtlCol="0">
              <a:spAutoFit/>
            </a:bodyPr>
            <a:lstStyle/>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汇</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报</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提</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纲</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p:txBody>
        </p:sp>
        <p:sp>
          <p:nvSpPr>
            <p:cNvPr id="40" name="文本框 39"/>
            <p:cNvSpPr txBox="1"/>
            <p:nvPr/>
          </p:nvSpPr>
          <p:spPr>
            <a:xfrm>
              <a:off x="1987941" y="2161966"/>
              <a:ext cx="738664" cy="3133636"/>
            </a:xfrm>
            <a:prstGeom prst="rect">
              <a:avLst/>
            </a:prstGeom>
            <a:noFill/>
            <a:ln>
              <a:noFill/>
            </a:ln>
          </p:spPr>
          <p:txBody>
            <a:bodyPr vert="eaVert" wrap="square" rtlCol="0">
              <a:spAutoFit/>
            </a:bodyPr>
            <a:lstStyle/>
            <a:p>
              <a:pPr algn="dist"/>
              <a:r>
                <a:rPr lang="en-US" altLang="zh-CN" sz="3600" dirty="0">
                  <a:ln>
                    <a:solidFill>
                      <a:schemeClr val="accent1">
                        <a:alpha val="20000"/>
                      </a:schemeClr>
                    </a:solidFill>
                  </a:ln>
                  <a:noFill/>
                  <a:latin typeface="思源黑体 CN Heavy" panose="020B0A00000000000000" pitchFamily="34" charset="-122"/>
                  <a:ea typeface="思源黑体 CN Heavy" panose="020B0A00000000000000" pitchFamily="34" charset="-122"/>
                </a:rPr>
                <a:t>contents</a:t>
              </a:r>
              <a:endParaRPr lang="zh-CN" altLang="en-US" sz="3600" dirty="0">
                <a:ln>
                  <a:solidFill>
                    <a:schemeClr val="accent1">
                      <a:alpha val="20000"/>
                    </a:schemeClr>
                  </a:solidFill>
                </a:ln>
                <a:noFill/>
                <a:latin typeface="思源黑体 CN Heavy" panose="020B0A00000000000000" pitchFamily="34" charset="-122"/>
                <a:ea typeface="思源黑体 CN Heavy" panose="020B0A00000000000000" pitchFamily="34" charset="-122"/>
              </a:endParaRPr>
            </a:p>
          </p:txBody>
        </p:sp>
      </p:grpSp>
      <p:sp>
        <p:nvSpPr>
          <p:cNvPr id="61" name="Rounded Rectangle 60"/>
          <p:cNvSpPr/>
          <p:nvPr/>
        </p:nvSpPr>
        <p:spPr>
          <a:xfrm>
            <a:off x="4645152" y="1133856"/>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55464" y="1252728"/>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01</a:t>
            </a:r>
          </a:p>
        </p:txBody>
      </p:sp>
      <p:cxnSp>
        <p:nvCxnSpPr>
          <p:cNvPr id="63" name="Connector 62"/>
          <p:cNvCxnSpPr/>
          <p:nvPr/>
        </p:nvCxnSpPr>
        <p:spPr>
          <a:xfrm>
            <a:off x="5550408" y="1335024"/>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733288" y="1243584"/>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研究背景</a:t>
            </a:r>
          </a:p>
        </p:txBody>
      </p:sp>
      <p:sp>
        <p:nvSpPr>
          <p:cNvPr id="65" name="Rounded Rectangle 64"/>
          <p:cNvSpPr/>
          <p:nvPr/>
        </p:nvSpPr>
        <p:spPr>
          <a:xfrm>
            <a:off x="4645152" y="2103120"/>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855464" y="2221991"/>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02</a:t>
            </a:r>
          </a:p>
        </p:txBody>
      </p:sp>
      <p:cxnSp>
        <p:nvCxnSpPr>
          <p:cNvPr id="67" name="Connector 66"/>
          <p:cNvCxnSpPr/>
          <p:nvPr/>
        </p:nvCxnSpPr>
        <p:spPr>
          <a:xfrm>
            <a:off x="5550408" y="2304288"/>
            <a:ext cx="0" cy="338327"/>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733288" y="2212848"/>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研究内容</a:t>
            </a:r>
          </a:p>
        </p:txBody>
      </p:sp>
      <p:sp>
        <p:nvSpPr>
          <p:cNvPr id="69" name="Rounded Rectangle 68"/>
          <p:cNvSpPr/>
          <p:nvPr/>
        </p:nvSpPr>
        <p:spPr>
          <a:xfrm>
            <a:off x="4645152" y="3072384"/>
            <a:ext cx="6345936" cy="749808"/>
          </a:xfrm>
          <a:prstGeom prst="roundRect">
            <a:avLst>
              <a:gd name="adj" fmla="val 6000"/>
            </a:avLst>
          </a:prstGeom>
          <a:solidFill>
            <a:srgbClr val="FFFFFF"/>
          </a:solidFill>
          <a:ln w="7620">
            <a:solidFill>
              <a:srgbClr val="CBD5E8"/>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5464" y="3191256"/>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03</a:t>
            </a:r>
          </a:p>
        </p:txBody>
      </p:sp>
      <p:cxnSp>
        <p:nvCxnSpPr>
          <p:cNvPr id="71" name="Connector 70"/>
          <p:cNvCxnSpPr/>
          <p:nvPr/>
        </p:nvCxnSpPr>
        <p:spPr>
          <a:xfrm>
            <a:off x="5550408" y="3273552"/>
            <a:ext cx="0" cy="338328"/>
          </a:xfrm>
          <a:prstGeom prst="line">
            <a:avLst/>
          </a:prstGeom>
          <a:ln w="12700">
            <a:solidFill>
              <a:srgbClr val="002FA8"/>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733288" y="3182112"/>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主要技术路线</a:t>
            </a:r>
          </a:p>
        </p:txBody>
      </p:sp>
      <p:sp>
        <p:nvSpPr>
          <p:cNvPr id="73" name="Rounded Rectangle 72"/>
          <p:cNvSpPr/>
          <p:nvPr/>
        </p:nvSpPr>
        <p:spPr>
          <a:xfrm>
            <a:off x="4645152" y="4041648"/>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55464" y="4160520"/>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04</a:t>
            </a:r>
          </a:p>
        </p:txBody>
      </p:sp>
      <p:cxnSp>
        <p:nvCxnSpPr>
          <p:cNvPr id="75" name="Connector 74"/>
          <p:cNvCxnSpPr/>
          <p:nvPr/>
        </p:nvCxnSpPr>
        <p:spPr>
          <a:xfrm>
            <a:off x="5550408" y="4242816"/>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733288" y="4151376"/>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创新点</a:t>
            </a:r>
          </a:p>
        </p:txBody>
      </p:sp>
      <p:sp>
        <p:nvSpPr>
          <p:cNvPr id="77" name="Rounded Rectangle 76"/>
          <p:cNvSpPr/>
          <p:nvPr/>
        </p:nvSpPr>
        <p:spPr>
          <a:xfrm>
            <a:off x="4645152" y="5010912"/>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855464" y="5129784"/>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05</a:t>
            </a:r>
          </a:p>
        </p:txBody>
      </p:sp>
      <p:cxnSp>
        <p:nvCxnSpPr>
          <p:cNvPr id="79" name="Connector 78"/>
          <p:cNvCxnSpPr/>
          <p:nvPr/>
        </p:nvCxnSpPr>
        <p:spPr>
          <a:xfrm>
            <a:off x="5550408" y="5212080"/>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733288" y="5120640"/>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时间安排</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54000" y="665339"/>
            <a:ext cx="11484000" cy="65705"/>
            <a:chOff x="208948" y="646179"/>
            <a:chExt cx="8680259" cy="115737"/>
          </a:xfrm>
        </p:grpSpPr>
        <p:sp>
          <p:nvSpPr>
            <p:cNvPr id="4" name="梯形 3"/>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5" name="梯形 4"/>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6" name="TextBox 5"/>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3.1</a:t>
            </a:r>
          </a:p>
        </p:txBody>
      </p:sp>
      <p:sp>
        <p:nvSpPr>
          <p:cNvPr id="7" name="TextBox 6"/>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1" lang="zh-CN">
                <a:solidFill>
                  <a:srgbClr val="002FA8"/>
                </a:solidFill>
                <a:latin typeface="Noto Sans CJK SC"/>
                <a:ea typeface="Noto Sans CJK SC"/>
                <a:cs typeface="Noto Sans CJK SC"/>
              </a:rPr>
              <a:t>总体技术路线</a:t>
            </a:r>
          </a:p>
        </p:txBody>
      </p:sp>
      <p:sp>
        <p:nvSpPr>
          <p:cNvPr id="8" name="Rectangle 7"/>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000" b="0" lang="zh-CN">
                <a:solidFill>
                  <a:srgbClr val="002FA8"/>
                </a:solidFill>
                <a:latin typeface="Noto Sans CJK SC"/>
                <a:ea typeface="Noto Sans CJK SC"/>
                <a:cs typeface="Noto Sans CJK SC"/>
              </a:rPr>
              <a:t>常规导航采用 LiDAR/Odom + SAC-DWA 闭环；电梯区域触发视觉支路，完成自主进出梯。</a:t>
            </a:r>
          </a:p>
        </p:txBody>
      </p:sp>
      <p:sp>
        <p:nvSpPr>
          <p:cNvPr id="11" name="TextBox 10"/>
          <p:cNvSpPr txBox="1"/>
          <p:nvPr/>
        </p:nvSpPr>
        <p:spPr>
          <a:xfrm>
            <a:off x="438912" y="1865376"/>
            <a:ext cx="2743200" cy="320040"/>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2100" b="1" lang="zh-CN">
                <a:solidFill>
                  <a:srgbClr val="002FA8"/>
                </a:solidFill>
                <a:latin typeface="Noto Sans CJK SC"/>
                <a:ea typeface="Noto Sans CJK SC"/>
                <a:cs typeface="Noto Sans CJK SC"/>
              </a:rPr>
              <a:t>常规导航闭环</a:t>
            </a:r>
          </a:p>
        </p:txBody>
      </p:sp>
      <p:sp>
        <p:nvSpPr>
          <p:cNvPr id="12" name="Rectangle 11"/>
          <p:cNvSpPr/>
          <p:nvPr/>
        </p:nvSpPr>
        <p:spPr>
          <a:xfrm>
            <a:off x="438912" y="2377440"/>
            <a:ext cx="1947672" cy="749808"/>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487168"/>
            <a:ext cx="1764792"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LiDAR / Odom</a:t>
            </a:r>
          </a:p>
        </p:txBody>
      </p:sp>
      <p:sp>
        <p:nvSpPr>
          <p:cNvPr id="14" name="TextBox 13"/>
          <p:cNvSpPr txBox="1"/>
          <p:nvPr/>
        </p:nvSpPr>
        <p:spPr>
          <a:xfrm>
            <a:off x="530352" y="2816352"/>
            <a:ext cx="1764792" cy="265175"/>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几何 / 自车状态</a:t>
            </a:r>
          </a:p>
        </p:txBody>
      </p:sp>
      <p:sp>
        <p:nvSpPr>
          <p:cNvPr id="15" name="Rectangle 14"/>
          <p:cNvSpPr/>
          <p:nvPr/>
        </p:nvSpPr>
        <p:spPr>
          <a:xfrm>
            <a:off x="438912" y="3273552"/>
            <a:ext cx="1947672" cy="749808"/>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383280"/>
            <a:ext cx="1764792"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全局路径</a:t>
            </a:r>
          </a:p>
        </p:txBody>
      </p:sp>
      <p:sp>
        <p:nvSpPr>
          <p:cNvPr id="17" name="TextBox 16"/>
          <p:cNvSpPr txBox="1"/>
          <p:nvPr/>
        </p:nvSpPr>
        <p:spPr>
          <a:xfrm>
            <a:off x="530352" y="3712464"/>
            <a:ext cx="1764792" cy="265175"/>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A* / Dijkstra</a:t>
            </a:r>
          </a:p>
        </p:txBody>
      </p:sp>
      <p:sp>
        <p:nvSpPr>
          <p:cNvPr id="18" name="Rectangle 17"/>
          <p:cNvSpPr/>
          <p:nvPr/>
        </p:nvSpPr>
        <p:spPr>
          <a:xfrm>
            <a:off x="2935224" y="2679192"/>
            <a:ext cx="1975104" cy="1280160"/>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26664" y="2788920"/>
            <a:ext cx="179222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状态构建 sₜ</a:t>
            </a:r>
          </a:p>
        </p:txBody>
      </p:sp>
      <p:sp>
        <p:nvSpPr>
          <p:cNvPr id="20" name="TextBox 19"/>
          <p:cNvSpPr txBox="1"/>
          <p:nvPr/>
        </p:nvSpPr>
        <p:spPr>
          <a:xfrm>
            <a:off x="3026664" y="3118104"/>
            <a:ext cx="1792224" cy="795527"/>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雷达 / 目标</a:t>
            </a:r>
          </a:p>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自车 / 动态风险</a:t>
            </a:r>
          </a:p>
        </p:txBody>
      </p:sp>
      <p:sp>
        <p:nvSpPr>
          <p:cNvPr id="21" name="Rectangle 20"/>
          <p:cNvSpPr/>
          <p:nvPr/>
        </p:nvSpPr>
        <p:spPr>
          <a:xfrm>
            <a:off x="5212080" y="2679192"/>
            <a:ext cx="1975104" cy="1280160"/>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2788920"/>
            <a:ext cx="179222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SAC策略网络</a:t>
            </a:r>
          </a:p>
        </p:txBody>
      </p:sp>
      <p:sp>
        <p:nvSpPr>
          <p:cNvPr id="23" name="TextBox 22"/>
          <p:cNvSpPr txBox="1"/>
          <p:nvPr/>
        </p:nvSpPr>
        <p:spPr>
          <a:xfrm>
            <a:off x="5303520" y="3118104"/>
            <a:ext cx="1792224" cy="795527"/>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输出DWA权重</a:t>
            </a:r>
          </a:p>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与速度约束</a:t>
            </a:r>
          </a:p>
        </p:txBody>
      </p:sp>
      <p:sp>
        <p:nvSpPr>
          <p:cNvPr id="24" name="Rectangle 23"/>
          <p:cNvSpPr/>
          <p:nvPr/>
        </p:nvSpPr>
        <p:spPr>
          <a:xfrm>
            <a:off x="7488936" y="2679192"/>
            <a:ext cx="1975104" cy="1280160"/>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0375" y="2788920"/>
            <a:ext cx="179222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DWA局部规划</a:t>
            </a:r>
          </a:p>
        </p:txBody>
      </p:sp>
      <p:sp>
        <p:nvSpPr>
          <p:cNvPr id="26" name="TextBox 25"/>
          <p:cNvSpPr txBox="1"/>
          <p:nvPr/>
        </p:nvSpPr>
        <p:spPr>
          <a:xfrm>
            <a:off x="7580375" y="3118104"/>
            <a:ext cx="1792224" cy="795527"/>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生成满足约束的</a:t>
            </a:r>
          </a:p>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可执行局部轨迹</a:t>
            </a:r>
          </a:p>
        </p:txBody>
      </p:sp>
      <p:sp>
        <p:nvSpPr>
          <p:cNvPr id="27" name="Rectangle 26"/>
          <p:cNvSpPr/>
          <p:nvPr/>
        </p:nvSpPr>
        <p:spPr>
          <a:xfrm>
            <a:off x="9765792" y="2679192"/>
            <a:ext cx="1975104" cy="1280160"/>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7232" y="2788920"/>
            <a:ext cx="179222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运动控制</a:t>
            </a:r>
          </a:p>
        </p:txBody>
      </p:sp>
      <p:sp>
        <p:nvSpPr>
          <p:cNvPr id="29" name="TextBox 28"/>
          <p:cNvSpPr txBox="1"/>
          <p:nvPr/>
        </p:nvSpPr>
        <p:spPr>
          <a:xfrm>
            <a:off x="9857232" y="3118104"/>
            <a:ext cx="1792224" cy="795527"/>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v*、ω*</a:t>
            </a:r>
          </a:p>
          <a:p>
            <a:pPr algn="ctr" marL="0" indent="0">
              <a:lnSpc>
                <a:spcPct val="112000"/>
              </a:lnSpc>
              <a:spcBef>
                <a:spcPts val="0"/>
              </a:spcBef>
              <a:spcAft>
                <a:spcPts val="0"/>
              </a:spcAft>
              <a:buNone/>
            </a:pPr>
            <a:r>
              <a:rPr sz="1600" b="0" lang="zh-CN">
                <a:solidFill>
                  <a:srgbClr val="232D41"/>
                </a:solidFill>
                <a:latin typeface="Noto Sans CJK SC"/>
                <a:ea typeface="Noto Sans CJK SC"/>
                <a:cs typeface="Noto Sans CJK SC"/>
              </a:rPr>
              <a:t>执行局部运动</a:t>
            </a:r>
          </a:p>
        </p:txBody>
      </p:sp>
      <p:cxnSp>
        <p:nvCxnSpPr>
          <p:cNvPr id="30" name="Connector 29"/>
          <p:cNvCxnSpPr/>
          <p:nvPr/>
        </p:nvCxnSpPr>
        <p:spPr>
          <a:xfrm>
            <a:off x="2386584" y="2752344"/>
            <a:ext cx="246888" cy="0"/>
          </a:xfrm>
          <a:prstGeom prst="line">
            <a:avLst/>
          </a:prstGeom>
          <a:ln w="17780">
            <a:solidFill>
              <a:srgbClr val="002FA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386584" y="3648456"/>
            <a:ext cx="246888" cy="0"/>
          </a:xfrm>
          <a:prstGeom prst="line">
            <a:avLst/>
          </a:prstGeom>
          <a:ln w="17780">
            <a:solidFill>
              <a:srgbClr val="002FA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633472" y="2752344"/>
            <a:ext cx="0" cy="896112"/>
          </a:xfrm>
          <a:prstGeom prst="line">
            <a:avLst/>
          </a:prstGeom>
          <a:ln w="17780">
            <a:solidFill>
              <a:srgbClr val="002FA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633472" y="3328416"/>
            <a:ext cx="246888" cy="0"/>
          </a:xfrm>
          <a:prstGeom prst="line">
            <a:avLst/>
          </a:prstGeom>
          <a:ln w="17780">
            <a:solidFill>
              <a:srgbClr val="002FA8"/>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ight Arrow 33"/>
          <p:cNvSpPr/>
          <p:nvPr/>
        </p:nvSpPr>
        <p:spPr>
          <a:xfrm>
            <a:off x="4928616" y="3227832"/>
            <a:ext cx="228600" cy="20116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ight Arrow 34"/>
          <p:cNvSpPr/>
          <p:nvPr/>
        </p:nvSpPr>
        <p:spPr>
          <a:xfrm>
            <a:off x="7205472" y="3227832"/>
            <a:ext cx="228600" cy="20116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Arrow 35"/>
          <p:cNvSpPr/>
          <p:nvPr/>
        </p:nvSpPr>
        <p:spPr>
          <a:xfrm>
            <a:off x="9482328" y="3227832"/>
            <a:ext cx="228600" cy="20116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0762488" y="3959352"/>
            <a:ext cx="0" cy="246888"/>
          </a:xfrm>
          <a:prstGeom prst="line">
            <a:avLst/>
          </a:prstGeom>
          <a:ln w="12700">
            <a:solidFill>
              <a:srgbClr val="7A8AA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3922776" y="4206240"/>
            <a:ext cx="6839712" cy="0"/>
          </a:xfrm>
          <a:prstGeom prst="line">
            <a:avLst/>
          </a:prstGeom>
          <a:ln w="12700">
            <a:solidFill>
              <a:srgbClr val="7A8AA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922776" y="3977639"/>
            <a:ext cx="0" cy="228601"/>
          </a:xfrm>
          <a:prstGeom prst="line">
            <a:avLst/>
          </a:prstGeom>
          <a:ln w="12700">
            <a:solidFill>
              <a:srgbClr val="7A8AAF"/>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41848" y="4096512"/>
            <a:ext cx="2926080" cy="237744"/>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300" b="0" lang="zh-CN">
                <a:solidFill>
                  <a:srgbClr val="516079"/>
                </a:solidFill>
                <a:latin typeface="Noto Sans CJK SC"/>
                <a:ea typeface="Noto Sans CJK SC"/>
                <a:cs typeface="Noto Sans CJK SC"/>
              </a:rPr>
              <a:t>环境与运动反馈</a:t>
            </a:r>
          </a:p>
        </p:txBody>
      </p:sp>
      <p:sp>
        <p:nvSpPr>
          <p:cNvPr id="41" name="TextBox 40"/>
          <p:cNvSpPr txBox="1"/>
          <p:nvPr/>
        </p:nvSpPr>
        <p:spPr>
          <a:xfrm>
            <a:off x="438912" y="4517136"/>
            <a:ext cx="6400800" cy="338328"/>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2000" b="1" lang="zh-CN">
                <a:solidFill>
                  <a:srgbClr val="002FA8"/>
                </a:solidFill>
                <a:latin typeface="Noto Sans CJK SC"/>
                <a:ea typeface="Noto Sans CJK SC"/>
                <a:cs typeface="Noto Sans CJK SC"/>
              </a:rPr>
              <a:t>电梯场景分支：进入电梯区域时触发视觉</a:t>
            </a:r>
          </a:p>
        </p:txBody>
      </p:sp>
      <p:sp>
        <p:nvSpPr>
          <p:cNvPr id="42" name="Rectangle 41"/>
          <p:cNvSpPr/>
          <p:nvPr/>
        </p:nvSpPr>
        <p:spPr>
          <a:xfrm>
            <a:off x="914400" y="5020056"/>
            <a:ext cx="3035808" cy="1024128"/>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129784"/>
            <a:ext cx="2852927"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相机视觉</a:t>
            </a:r>
          </a:p>
        </p:txBody>
      </p:sp>
      <p:sp>
        <p:nvSpPr>
          <p:cNvPr id="44" name="TextBox 43"/>
          <p:cNvSpPr txBox="1"/>
          <p:nvPr/>
        </p:nvSpPr>
        <p:spPr>
          <a:xfrm>
            <a:off x="1005840" y="5458968"/>
            <a:ext cx="2852927" cy="5394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电梯门状态 + 门口通行判断</a:t>
            </a:r>
          </a:p>
        </p:txBody>
      </p:sp>
      <p:sp>
        <p:nvSpPr>
          <p:cNvPr id="45" name="Rectangle 44"/>
          <p:cNvSpPr/>
          <p:nvPr/>
        </p:nvSpPr>
        <p:spPr>
          <a:xfrm>
            <a:off x="4581144" y="5020056"/>
            <a:ext cx="3035808" cy="1024128"/>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72583" y="5129784"/>
            <a:ext cx="2852927"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乘梯状态机</a:t>
            </a:r>
          </a:p>
        </p:txBody>
      </p:sp>
      <p:sp>
        <p:nvSpPr>
          <p:cNvPr id="47" name="TextBox 46"/>
          <p:cNvSpPr txBox="1"/>
          <p:nvPr/>
        </p:nvSpPr>
        <p:spPr>
          <a:xfrm>
            <a:off x="4672583" y="5458968"/>
            <a:ext cx="2852927" cy="5394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等待 / 进梯 / 驻停 / 出梯</a:t>
            </a:r>
          </a:p>
        </p:txBody>
      </p:sp>
      <p:sp>
        <p:nvSpPr>
          <p:cNvPr id="48" name="Rectangle 47"/>
          <p:cNvSpPr/>
          <p:nvPr/>
        </p:nvSpPr>
        <p:spPr>
          <a:xfrm>
            <a:off x="8247888" y="5020056"/>
            <a:ext cx="3035808" cy="1024128"/>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39327" y="5129784"/>
            <a:ext cx="2852927"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低速DWA规划</a:t>
            </a:r>
          </a:p>
        </p:txBody>
      </p:sp>
      <p:sp>
        <p:nvSpPr>
          <p:cNvPr id="50" name="TextBox 49"/>
          <p:cNvSpPr txBox="1"/>
          <p:nvPr/>
        </p:nvSpPr>
        <p:spPr>
          <a:xfrm>
            <a:off x="8339327" y="5458968"/>
            <a:ext cx="2852927" cy="5394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局部目标生成 + 安全进出梯</a:t>
            </a:r>
          </a:p>
        </p:txBody>
      </p:sp>
      <p:sp>
        <p:nvSpPr>
          <p:cNvPr id="51" name="Right Arrow 50"/>
          <p:cNvSpPr/>
          <p:nvPr/>
        </p:nvSpPr>
        <p:spPr>
          <a:xfrm>
            <a:off x="4096512" y="5431536"/>
            <a:ext cx="329184" cy="20116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ight Arrow 51"/>
          <p:cNvSpPr/>
          <p:nvPr/>
        </p:nvSpPr>
        <p:spPr>
          <a:xfrm>
            <a:off x="7763256" y="5431536"/>
            <a:ext cx="329184" cy="20116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6245352"/>
            <a:ext cx="10817352" cy="274320"/>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700" b="0" lang="zh-CN">
                <a:solidFill>
                  <a:srgbClr val="002FA8"/>
                </a:solidFill>
                <a:latin typeface="Noto Sans CJK SC"/>
                <a:ea typeface="Noto Sans CJK SC"/>
                <a:cs typeface="Noto Sans CJK SC"/>
              </a:rPr>
              <a:t>SAC负责决策与调参，DWA负责轨迹生成；视觉识别结果通过状态机参与局部规划。</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9" name="TextBox 8"/>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3.2</a:t>
            </a:r>
          </a:p>
        </p:txBody>
      </p:sp>
      <p:sp>
        <p:nvSpPr>
          <p:cNvPr id="10" name="TextBox 9"/>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1" lang="zh-CN">
                <a:solidFill>
                  <a:srgbClr val="002FA8"/>
                </a:solidFill>
                <a:latin typeface="Noto Sans CJK SC"/>
                <a:ea typeface="Noto Sans CJK SC"/>
                <a:cs typeface="Noto Sans CJK SC"/>
              </a:rPr>
              <a:t>动态室内环境建模与导航框架</a:t>
            </a:r>
          </a:p>
        </p:txBody>
      </p:sp>
      <p:sp>
        <p:nvSpPr>
          <p:cNvPr id="11" name="Rectangle 10"/>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100" b="0" lang="zh-CN">
                <a:solidFill>
                  <a:srgbClr val="002FA8"/>
                </a:solidFill>
                <a:latin typeface="Noto Sans CJK SC"/>
                <a:ea typeface="Noto Sans CJK SC"/>
                <a:cs typeface="Noto Sans CJK SC"/>
              </a:rPr>
              <a:t>面向仿真训练与实车验证，构建统一的移动机器人导航闭环。</a:t>
            </a:r>
          </a:p>
        </p:txBody>
      </p:sp>
      <p:sp>
        <p:nvSpPr>
          <p:cNvPr id="14" name="Rectangle 13"/>
          <p:cNvSpPr/>
          <p:nvPr/>
        </p:nvSpPr>
        <p:spPr>
          <a:xfrm>
            <a:off x="393192" y="1947672"/>
            <a:ext cx="3209544" cy="2167128"/>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6344" y="2020824"/>
            <a:ext cx="3063239"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043684"/>
            <a:ext cx="2953511"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差速无人车模型</a:t>
            </a:r>
          </a:p>
        </p:txBody>
      </p:sp>
      <p:sp>
        <p:nvSpPr>
          <p:cNvPr id="17" name="TextBox 16"/>
          <p:cNvSpPr txBox="1"/>
          <p:nvPr/>
        </p:nvSpPr>
        <p:spPr>
          <a:xfrm>
            <a:off x="731520" y="2633472"/>
            <a:ext cx="2587752" cy="365760"/>
          </a:xfrm>
          <a:prstGeom prst="rect">
            <a:avLst/>
          </a:prstGeom>
          <a:noFill/>
        </p:spPr>
        <p:txBody>
          <a:bodyPr wrap="square" lIns="18288" rIns="18288" tIns="18288" bIns="18288" anchor="t">
            <a:noAutofit/>
          </a:bodyPr>
          <a:lstStyle/>
          <a:p>
            <a:pPr algn="l" marL="0" indent="0">
              <a:lnSpc>
                <a:spcPct val="100000"/>
              </a:lnSpc>
              <a:spcBef>
                <a:spcPts val="0"/>
              </a:spcBef>
              <a:spcAft>
                <a:spcPts val="0"/>
              </a:spcAft>
              <a:buNone/>
            </a:pPr>
            <a:r>
              <a:rPr sz="2100" b="0" lang="zh-CN">
                <a:solidFill>
                  <a:srgbClr val="002FA8"/>
                </a:solidFill>
                <a:latin typeface="DejaVu Sans"/>
                <a:ea typeface="DejaVu Sans"/>
                <a:cs typeface="DejaVu Sans"/>
              </a:rPr>
              <a:t>ẋ = v cos θ</a:t>
            </a:r>
          </a:p>
        </p:txBody>
      </p:sp>
      <p:sp>
        <p:nvSpPr>
          <p:cNvPr id="18" name="TextBox 17"/>
          <p:cNvSpPr txBox="1"/>
          <p:nvPr/>
        </p:nvSpPr>
        <p:spPr>
          <a:xfrm>
            <a:off x="731520" y="2999232"/>
            <a:ext cx="2587752" cy="365760"/>
          </a:xfrm>
          <a:prstGeom prst="rect">
            <a:avLst/>
          </a:prstGeom>
          <a:noFill/>
        </p:spPr>
        <p:txBody>
          <a:bodyPr wrap="square" lIns="18288" rIns="18288" tIns="18288" bIns="18288" anchor="t">
            <a:noAutofit/>
          </a:bodyPr>
          <a:lstStyle/>
          <a:p>
            <a:pPr algn="l" marL="0" indent="0">
              <a:lnSpc>
                <a:spcPct val="100000"/>
              </a:lnSpc>
              <a:spcBef>
                <a:spcPts val="0"/>
              </a:spcBef>
              <a:spcAft>
                <a:spcPts val="0"/>
              </a:spcAft>
              <a:buNone/>
            </a:pPr>
            <a:r>
              <a:rPr sz="2100" b="0" lang="zh-CN">
                <a:solidFill>
                  <a:srgbClr val="002FA8"/>
                </a:solidFill>
                <a:latin typeface="DejaVu Sans"/>
                <a:ea typeface="DejaVu Sans"/>
                <a:cs typeface="DejaVu Sans"/>
              </a:rPr>
              <a:t>ẏ = v sin θ</a:t>
            </a:r>
          </a:p>
        </p:txBody>
      </p:sp>
      <p:sp>
        <p:nvSpPr>
          <p:cNvPr id="19" name="TextBox 18"/>
          <p:cNvSpPr txBox="1"/>
          <p:nvPr/>
        </p:nvSpPr>
        <p:spPr>
          <a:xfrm>
            <a:off x="731520" y="3364992"/>
            <a:ext cx="2587752" cy="365760"/>
          </a:xfrm>
          <a:prstGeom prst="rect">
            <a:avLst/>
          </a:prstGeom>
          <a:noFill/>
        </p:spPr>
        <p:txBody>
          <a:bodyPr wrap="square" lIns="18288" rIns="18288" tIns="18288" bIns="18288" anchor="t">
            <a:noAutofit/>
          </a:bodyPr>
          <a:lstStyle/>
          <a:p>
            <a:pPr algn="l" marL="0" indent="0">
              <a:lnSpc>
                <a:spcPct val="100000"/>
              </a:lnSpc>
              <a:spcBef>
                <a:spcPts val="0"/>
              </a:spcBef>
              <a:spcAft>
                <a:spcPts val="0"/>
              </a:spcAft>
              <a:buNone/>
            </a:pPr>
            <a:r>
              <a:rPr sz="2100" b="0" lang="zh-CN">
                <a:solidFill>
                  <a:srgbClr val="002FA8"/>
                </a:solidFill>
                <a:latin typeface="DejaVu Sans"/>
                <a:ea typeface="DejaVu Sans"/>
                <a:cs typeface="DejaVu Sans"/>
              </a:rPr>
              <a:t>θ̇ = ω</a:t>
            </a:r>
          </a:p>
        </p:txBody>
      </p:sp>
      <p:sp>
        <p:nvSpPr>
          <p:cNvPr id="20" name="TextBox 19"/>
          <p:cNvSpPr txBox="1"/>
          <p:nvPr/>
        </p:nvSpPr>
        <p:spPr>
          <a:xfrm>
            <a:off x="630936" y="3776472"/>
            <a:ext cx="2697480" cy="265176"/>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控制输入：u = [v, ω]</a:t>
            </a:r>
          </a:p>
        </p:txBody>
      </p:sp>
      <p:sp>
        <p:nvSpPr>
          <p:cNvPr id="21" name="Rectangle 20"/>
          <p:cNvSpPr/>
          <p:nvPr/>
        </p:nvSpPr>
        <p:spPr>
          <a:xfrm>
            <a:off x="3794760" y="1947672"/>
            <a:ext cx="8019288" cy="2167128"/>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67912" y="2020824"/>
            <a:ext cx="7872983"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2776" y="2043684"/>
            <a:ext cx="7763256"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导航系统框架</a:t>
            </a:r>
          </a:p>
        </p:txBody>
      </p:sp>
      <p:sp>
        <p:nvSpPr>
          <p:cNvPr id="24" name="Rectangle 23"/>
          <p:cNvSpPr/>
          <p:nvPr/>
        </p:nvSpPr>
        <p:spPr>
          <a:xfrm>
            <a:off x="3977639" y="2788920"/>
            <a:ext cx="1389888" cy="694944"/>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50791" y="2843784"/>
            <a:ext cx="1243584" cy="58521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50" b="1" lang="zh-CN">
                <a:solidFill>
                  <a:srgbClr val="002FA8"/>
                </a:solidFill>
                <a:latin typeface="Noto Sans CJK SC"/>
                <a:ea typeface="Noto Sans CJK SC"/>
                <a:cs typeface="Noto Sans CJK SC"/>
              </a:rPr>
              <a:t>地图 / SLAM</a:t>
            </a:r>
          </a:p>
        </p:txBody>
      </p:sp>
      <p:sp>
        <p:nvSpPr>
          <p:cNvPr id="26" name="Right Arrow 25"/>
          <p:cNvSpPr/>
          <p:nvPr/>
        </p:nvSpPr>
        <p:spPr>
          <a:xfrm>
            <a:off x="5394959" y="3044952"/>
            <a:ext cx="109728" cy="128016"/>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41264" y="2788920"/>
            <a:ext cx="1389888" cy="694944"/>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14416" y="2843784"/>
            <a:ext cx="1243584" cy="58521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50" b="1" lang="zh-CN">
                <a:solidFill>
                  <a:srgbClr val="002FA8"/>
                </a:solidFill>
                <a:latin typeface="Noto Sans CJK SC"/>
                <a:ea typeface="Noto Sans CJK SC"/>
                <a:cs typeface="Noto Sans CJK SC"/>
              </a:rPr>
              <a:t>定位</a:t>
            </a:r>
          </a:p>
        </p:txBody>
      </p:sp>
      <p:sp>
        <p:nvSpPr>
          <p:cNvPr id="29" name="Right Arrow 28"/>
          <p:cNvSpPr/>
          <p:nvPr/>
        </p:nvSpPr>
        <p:spPr>
          <a:xfrm>
            <a:off x="6958583" y="3044952"/>
            <a:ext cx="109728" cy="128016"/>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04888" y="2788920"/>
            <a:ext cx="1389888" cy="694944"/>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78040" y="2843784"/>
            <a:ext cx="1243584" cy="58521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50" b="1" lang="zh-CN">
                <a:solidFill>
                  <a:srgbClr val="002FA8"/>
                </a:solidFill>
                <a:latin typeface="Noto Sans CJK SC"/>
                <a:ea typeface="Noto Sans CJK SC"/>
                <a:cs typeface="Noto Sans CJK SC"/>
              </a:rPr>
              <a:t>全局规划</a:t>
            </a:r>
          </a:p>
        </p:txBody>
      </p:sp>
      <p:sp>
        <p:nvSpPr>
          <p:cNvPr id="32" name="Right Arrow 31"/>
          <p:cNvSpPr/>
          <p:nvPr/>
        </p:nvSpPr>
        <p:spPr>
          <a:xfrm>
            <a:off x="8522208" y="3044952"/>
            <a:ext cx="109728" cy="128016"/>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68512" y="2788920"/>
            <a:ext cx="1389888" cy="694944"/>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41664" y="2843784"/>
            <a:ext cx="1243584" cy="58521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50" b="1" lang="zh-CN">
                <a:solidFill>
                  <a:srgbClr val="002FA8"/>
                </a:solidFill>
                <a:latin typeface="Noto Sans CJK SC"/>
                <a:ea typeface="Noto Sans CJK SC"/>
                <a:cs typeface="Noto Sans CJK SC"/>
              </a:rPr>
              <a:t>SAC-DWA</a:t>
            </a:r>
          </a:p>
          <a:p>
            <a:pPr algn="ctr" marL="0" indent="0">
              <a:lnSpc>
                <a:spcPct val="112000"/>
              </a:lnSpc>
              <a:spcBef>
                <a:spcPts val="0"/>
              </a:spcBef>
              <a:spcAft>
                <a:spcPts val="0"/>
              </a:spcAft>
              <a:buNone/>
            </a:pPr>
            <a:r>
              <a:rPr sz="1550" b="1" lang="zh-CN">
                <a:solidFill>
                  <a:srgbClr val="002FA8"/>
                </a:solidFill>
                <a:latin typeface="Noto Sans CJK SC"/>
                <a:ea typeface="Noto Sans CJK SC"/>
                <a:cs typeface="Noto Sans CJK SC"/>
              </a:rPr>
              <a:t>局部规划</a:t>
            </a:r>
          </a:p>
        </p:txBody>
      </p:sp>
      <p:sp>
        <p:nvSpPr>
          <p:cNvPr id="35" name="Right Arrow 34"/>
          <p:cNvSpPr/>
          <p:nvPr/>
        </p:nvSpPr>
        <p:spPr>
          <a:xfrm>
            <a:off x="10085832" y="3044952"/>
            <a:ext cx="109728" cy="128016"/>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232136" y="2788920"/>
            <a:ext cx="1389888" cy="694944"/>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05288" y="2843784"/>
            <a:ext cx="1243584" cy="58521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50" b="1" lang="zh-CN">
                <a:solidFill>
                  <a:srgbClr val="002FA8"/>
                </a:solidFill>
                <a:latin typeface="Noto Sans CJK SC"/>
                <a:ea typeface="Noto Sans CJK SC"/>
                <a:cs typeface="Noto Sans CJK SC"/>
              </a:rPr>
              <a:t>控制器</a:t>
            </a:r>
          </a:p>
        </p:txBody>
      </p:sp>
      <p:sp>
        <p:nvSpPr>
          <p:cNvPr id="38" name="TextBox 37"/>
          <p:cNvSpPr txBox="1"/>
          <p:nvPr/>
        </p:nvSpPr>
        <p:spPr>
          <a:xfrm>
            <a:off x="4041648" y="3685032"/>
            <a:ext cx="7498079" cy="274320"/>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900" b="0" lang="zh-CN">
                <a:solidFill>
                  <a:srgbClr val="002FA8"/>
                </a:solidFill>
                <a:latin typeface="Noto Sans CJK SC"/>
                <a:ea typeface="Noto Sans CJK SC"/>
                <a:cs typeface="Noto Sans CJK SC"/>
              </a:rPr>
              <a:t>传感器：LiDAR + Camera + Odom / IMU</a:t>
            </a:r>
          </a:p>
        </p:txBody>
      </p:sp>
      <p:sp>
        <p:nvSpPr>
          <p:cNvPr id="39" name="TextBox 38"/>
          <p:cNvSpPr txBox="1"/>
          <p:nvPr/>
        </p:nvSpPr>
        <p:spPr>
          <a:xfrm>
            <a:off x="429768" y="4370832"/>
            <a:ext cx="4572000" cy="329184"/>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2100" b="1" lang="zh-CN">
                <a:solidFill>
                  <a:srgbClr val="002FA8"/>
                </a:solidFill>
                <a:latin typeface="Noto Sans CJK SC"/>
                <a:ea typeface="Noto Sans CJK SC"/>
                <a:cs typeface="Noto Sans CJK SC"/>
              </a:rPr>
              <a:t>代表性验证场景</a:t>
            </a:r>
          </a:p>
        </p:txBody>
      </p:sp>
      <p:sp>
        <p:nvSpPr>
          <p:cNvPr id="40" name="Rectangle 39"/>
          <p:cNvSpPr/>
          <p:nvPr/>
        </p:nvSpPr>
        <p:spPr>
          <a:xfrm>
            <a:off x="420624" y="4809744"/>
            <a:ext cx="2103120" cy="90525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2064" y="4919472"/>
            <a:ext cx="1920239"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静态障碍</a:t>
            </a:r>
          </a:p>
        </p:txBody>
      </p:sp>
      <p:sp>
        <p:nvSpPr>
          <p:cNvPr id="42" name="TextBox 41"/>
          <p:cNvSpPr txBox="1"/>
          <p:nvPr/>
        </p:nvSpPr>
        <p:spPr>
          <a:xfrm>
            <a:off x="512064" y="5248656"/>
            <a:ext cx="1920239"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基准导航</a:t>
            </a:r>
          </a:p>
        </p:txBody>
      </p:sp>
      <p:sp>
        <p:nvSpPr>
          <p:cNvPr id="43" name="Rectangle 42"/>
          <p:cNvSpPr/>
          <p:nvPr/>
        </p:nvSpPr>
        <p:spPr>
          <a:xfrm>
            <a:off x="2734056" y="4809744"/>
            <a:ext cx="2103120" cy="90525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25496" y="4919472"/>
            <a:ext cx="1920239"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单人横穿</a:t>
            </a:r>
          </a:p>
        </p:txBody>
      </p:sp>
      <p:sp>
        <p:nvSpPr>
          <p:cNvPr id="45" name="TextBox 44"/>
          <p:cNvSpPr txBox="1"/>
          <p:nvPr/>
        </p:nvSpPr>
        <p:spPr>
          <a:xfrm>
            <a:off x="2825496" y="5248656"/>
            <a:ext cx="1920239"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动态避障</a:t>
            </a:r>
          </a:p>
        </p:txBody>
      </p:sp>
      <p:sp>
        <p:nvSpPr>
          <p:cNvPr id="46" name="Rectangle 45"/>
          <p:cNvSpPr/>
          <p:nvPr/>
        </p:nvSpPr>
        <p:spPr>
          <a:xfrm>
            <a:off x="5047488" y="4809744"/>
            <a:ext cx="2103120" cy="90525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38927" y="4919472"/>
            <a:ext cx="1920239"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多动态障碍</a:t>
            </a:r>
          </a:p>
        </p:txBody>
      </p:sp>
      <p:sp>
        <p:nvSpPr>
          <p:cNvPr id="48" name="TextBox 47"/>
          <p:cNvSpPr txBox="1"/>
          <p:nvPr/>
        </p:nvSpPr>
        <p:spPr>
          <a:xfrm>
            <a:off x="5138927" y="5248656"/>
            <a:ext cx="1920239"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拥挤场景</a:t>
            </a:r>
          </a:p>
        </p:txBody>
      </p:sp>
      <p:sp>
        <p:nvSpPr>
          <p:cNvPr id="49" name="Rectangle 48"/>
          <p:cNvSpPr/>
          <p:nvPr/>
        </p:nvSpPr>
        <p:spPr>
          <a:xfrm>
            <a:off x="7360920" y="4809744"/>
            <a:ext cx="2103120" cy="90525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52360" y="4919472"/>
            <a:ext cx="1920239"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狭窄通道</a:t>
            </a:r>
          </a:p>
        </p:txBody>
      </p:sp>
      <p:sp>
        <p:nvSpPr>
          <p:cNvPr id="51" name="TextBox 50"/>
          <p:cNvSpPr txBox="1"/>
          <p:nvPr/>
        </p:nvSpPr>
        <p:spPr>
          <a:xfrm>
            <a:off x="7452360" y="5248656"/>
            <a:ext cx="1920239"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通行能力</a:t>
            </a:r>
          </a:p>
        </p:txBody>
      </p:sp>
      <p:sp>
        <p:nvSpPr>
          <p:cNvPr id="52" name="Rectangle 51"/>
          <p:cNvSpPr/>
          <p:nvPr/>
        </p:nvSpPr>
        <p:spPr>
          <a:xfrm>
            <a:off x="9674352" y="4809744"/>
            <a:ext cx="2103120" cy="90525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65792" y="4919472"/>
            <a:ext cx="1920239"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电梯进出</a:t>
            </a:r>
          </a:p>
        </p:txBody>
      </p:sp>
      <p:sp>
        <p:nvSpPr>
          <p:cNvPr id="54" name="TextBox 53"/>
          <p:cNvSpPr txBox="1"/>
          <p:nvPr/>
        </p:nvSpPr>
        <p:spPr>
          <a:xfrm>
            <a:off x="9765792" y="5248656"/>
            <a:ext cx="1920239"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视觉乘梯</a:t>
            </a:r>
          </a:p>
        </p:txBody>
      </p:sp>
      <p:sp>
        <p:nvSpPr>
          <p:cNvPr id="55" name="Rectangle 54"/>
          <p:cNvSpPr/>
          <p:nvPr/>
        </p:nvSpPr>
        <p:spPr>
          <a:xfrm>
            <a:off x="384048" y="5961888"/>
            <a:ext cx="11430000" cy="594360"/>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5216" y="6025896"/>
            <a:ext cx="11018520" cy="46634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FFFFFF"/>
                </a:solidFill>
                <a:latin typeface="Noto Sans CJK SC"/>
                <a:ea typeface="Noto Sans CJK SC"/>
                <a:cs typeface="Noto Sans CJK SC"/>
              </a:rPr>
              <a:t>评价指标：成功率、碰撞率、平均时间、路径长度、最小障碍距离、速度/角速度平滑性。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9" name="TextBox 8"/>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3.3</a:t>
            </a:r>
          </a:p>
        </p:txBody>
      </p:sp>
      <p:sp>
        <p:nvSpPr>
          <p:cNvPr id="10" name="TextBox 9"/>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1" lang="zh-CN">
                <a:solidFill>
                  <a:srgbClr val="002FA8"/>
                </a:solidFill>
                <a:latin typeface="Noto Sans CJK SC"/>
                <a:ea typeface="Noto Sans CJK SC"/>
                <a:cs typeface="Noto Sans CJK SC"/>
              </a:rPr>
              <a:t>基于SAC的DWA参数自适应</a:t>
            </a:r>
          </a:p>
        </p:txBody>
      </p:sp>
      <p:sp>
        <p:nvSpPr>
          <p:cNvPr id="11" name="Rectangle 10"/>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000" b="0" lang="zh-CN">
                <a:solidFill>
                  <a:srgbClr val="002FA8"/>
                </a:solidFill>
                <a:latin typeface="Noto Sans CJK SC"/>
                <a:ea typeface="Noto Sans CJK SC"/>
                <a:cs typeface="Noto Sans CJK SC"/>
              </a:rPr>
              <a:t>由SAC根据环境状态在线调节DWA规划参数，保留传统局部规划的约束与可解释性。</a:t>
            </a:r>
          </a:p>
        </p:txBody>
      </p:sp>
      <p:sp>
        <p:nvSpPr>
          <p:cNvPr id="14" name="Rectangle 13"/>
          <p:cNvSpPr/>
          <p:nvPr/>
        </p:nvSpPr>
        <p:spPr>
          <a:xfrm>
            <a:off x="402336" y="1947672"/>
            <a:ext cx="5330952" cy="1664208"/>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5488" y="2020824"/>
            <a:ext cx="5184648"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043684"/>
            <a:ext cx="5074920"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传统DWA评价函数</a:t>
            </a:r>
          </a:p>
        </p:txBody>
      </p:sp>
      <p:sp>
        <p:nvSpPr>
          <p:cNvPr id="17" name="TextBox 16"/>
          <p:cNvSpPr txBox="1"/>
          <p:nvPr/>
        </p:nvSpPr>
        <p:spPr>
          <a:xfrm>
            <a:off x="621792" y="2651760"/>
            <a:ext cx="4892040" cy="329184"/>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2000" b="1" lang="zh-CN">
                <a:solidFill>
                  <a:srgbClr val="002FA8"/>
                </a:solidFill>
                <a:latin typeface="Noto Sans CJK SC"/>
                <a:ea typeface="Noto Sans CJK SC"/>
                <a:cs typeface="Noto Sans CJK SC"/>
              </a:rPr>
              <a:t>J(v,ω) = αJ_goal + βJ_obs + γJ_vel</a:t>
            </a:r>
          </a:p>
        </p:txBody>
      </p:sp>
      <p:sp>
        <p:nvSpPr>
          <p:cNvPr id="18" name="TextBox 17"/>
          <p:cNvSpPr txBox="1"/>
          <p:nvPr/>
        </p:nvSpPr>
        <p:spPr>
          <a:xfrm>
            <a:off x="612648" y="3154680"/>
            <a:ext cx="4901184" cy="283464"/>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800" b="0" lang="zh-CN">
                <a:solidFill>
                  <a:srgbClr val="232D41"/>
                </a:solidFill>
                <a:latin typeface="Noto Sans CJK SC"/>
                <a:ea typeface="Noto Sans CJK SC"/>
                <a:cs typeface="Noto Sans CJK SC"/>
              </a:rPr>
              <a:t>α、β、γ与v_max多为固定参数</a:t>
            </a:r>
          </a:p>
        </p:txBody>
      </p:sp>
      <p:sp>
        <p:nvSpPr>
          <p:cNvPr id="19" name="Right Arrow 18"/>
          <p:cNvSpPr/>
          <p:nvPr/>
        </p:nvSpPr>
        <p:spPr>
          <a:xfrm>
            <a:off x="5852160" y="2633472"/>
            <a:ext cx="484632" cy="329184"/>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73952" y="1947672"/>
            <a:ext cx="5330952" cy="1664208"/>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47104" y="2020824"/>
            <a:ext cx="5184648"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1968" y="2043684"/>
            <a:ext cx="5074920"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SAC自适应输出</a:t>
            </a:r>
          </a:p>
        </p:txBody>
      </p:sp>
      <p:sp>
        <p:nvSpPr>
          <p:cNvPr id="23" name="TextBox 22"/>
          <p:cNvSpPr txBox="1"/>
          <p:nvPr/>
        </p:nvSpPr>
        <p:spPr>
          <a:xfrm>
            <a:off x="6684264" y="2651760"/>
            <a:ext cx="4901184" cy="329184"/>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2100" b="1" lang="zh-CN">
                <a:solidFill>
                  <a:srgbClr val="002FA8"/>
                </a:solidFill>
                <a:latin typeface="Noto Sans CJK SC"/>
                <a:ea typeface="Noto Sans CJK SC"/>
                <a:cs typeface="Noto Sans CJK SC"/>
              </a:rPr>
              <a:t>[αₜ, βₜ, γₜ, v_max,t] = πθ(sₜ)</a:t>
            </a:r>
          </a:p>
        </p:txBody>
      </p:sp>
      <p:sp>
        <p:nvSpPr>
          <p:cNvPr id="24" name="TextBox 23"/>
          <p:cNvSpPr txBox="1"/>
          <p:nvPr/>
        </p:nvSpPr>
        <p:spPr>
          <a:xfrm>
            <a:off x="6665976" y="3154680"/>
            <a:ext cx="4928616" cy="283464"/>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700" b="0" lang="zh-CN">
                <a:solidFill>
                  <a:srgbClr val="232D41"/>
                </a:solidFill>
                <a:latin typeface="Noto Sans CJK SC"/>
                <a:ea typeface="Noto Sans CJK SC"/>
                <a:cs typeface="Noto Sans CJK SC"/>
              </a:rPr>
              <a:t>状态变化 → 参数变化 → 规划行为变化</a:t>
            </a:r>
          </a:p>
        </p:txBody>
      </p:sp>
      <p:sp>
        <p:nvSpPr>
          <p:cNvPr id="25" name="Rectangle 24"/>
          <p:cNvSpPr/>
          <p:nvPr/>
        </p:nvSpPr>
        <p:spPr>
          <a:xfrm>
            <a:off x="402336" y="3913632"/>
            <a:ext cx="3630168" cy="1673352"/>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 y="3986784"/>
            <a:ext cx="3483864"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4009644"/>
            <a:ext cx="3374136"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空旷走廊</a:t>
            </a:r>
          </a:p>
        </p:txBody>
      </p:sp>
      <p:sp>
        <p:nvSpPr>
          <p:cNvPr id="28" name="TextBox 27"/>
          <p:cNvSpPr txBox="1"/>
          <p:nvPr/>
        </p:nvSpPr>
        <p:spPr>
          <a:xfrm>
            <a:off x="566928" y="4562856"/>
            <a:ext cx="1975104" cy="7406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0" lang="zh-CN">
                <a:solidFill>
                  <a:srgbClr val="232D41"/>
                </a:solidFill>
                <a:latin typeface="Noto Sans CJK SC"/>
                <a:ea typeface="Noto Sans CJK SC"/>
                <a:cs typeface="Noto Sans CJK SC"/>
              </a:rPr>
              <a:t>速度偏好 ↑</a:t>
            </a:r>
          </a:p>
          <a:p>
            <a:pPr algn="l" marL="0" indent="0">
              <a:lnSpc>
                <a:spcPct val="112000"/>
              </a:lnSpc>
              <a:spcBef>
                <a:spcPts val="0"/>
              </a:spcBef>
              <a:spcAft>
                <a:spcPts val="0"/>
              </a:spcAft>
              <a:buNone/>
            </a:pPr>
            <a:r>
              <a:rPr sz="1900" b="0" lang="zh-CN">
                <a:solidFill>
                  <a:srgbClr val="232D41"/>
                </a:solidFill>
                <a:latin typeface="Noto Sans CJK SC"/>
                <a:ea typeface="Noto Sans CJK SC"/>
                <a:cs typeface="Noto Sans CJK SC"/>
              </a:rPr>
              <a:t>v_max ↑</a:t>
            </a:r>
          </a:p>
        </p:txBody>
      </p:sp>
      <p:sp>
        <p:nvSpPr>
          <p:cNvPr id="29" name="Rectangle 28"/>
          <p:cNvSpPr/>
          <p:nvPr/>
        </p:nvSpPr>
        <p:spPr>
          <a:xfrm>
            <a:off x="2679192" y="4718304"/>
            <a:ext cx="1179576" cy="438912"/>
          </a:xfrm>
          <a:prstGeom prst="rect">
            <a:avLst/>
          </a:prstGeom>
          <a:solidFill>
            <a:srgbClr val="F3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34056" y="4754880"/>
            <a:ext cx="1069848" cy="347472"/>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1" lang="zh-CN">
                <a:solidFill>
                  <a:srgbClr val="002FA8"/>
                </a:solidFill>
                <a:latin typeface="Noto Sans CJK SC"/>
                <a:ea typeface="Noto Sans CJK SC"/>
                <a:cs typeface="Noto Sans CJK SC"/>
              </a:rPr>
              <a:t>强调效率</a:t>
            </a:r>
          </a:p>
        </p:txBody>
      </p:sp>
      <p:sp>
        <p:nvSpPr>
          <p:cNvPr id="31" name="Rectangle 30"/>
          <p:cNvSpPr/>
          <p:nvPr/>
        </p:nvSpPr>
        <p:spPr>
          <a:xfrm>
            <a:off x="4288536" y="3913632"/>
            <a:ext cx="3630168" cy="1673352"/>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61688" y="3986784"/>
            <a:ext cx="3483864"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16552" y="4009644"/>
            <a:ext cx="3374136"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动态障碍密集</a:t>
            </a:r>
          </a:p>
        </p:txBody>
      </p:sp>
      <p:sp>
        <p:nvSpPr>
          <p:cNvPr id="34" name="TextBox 33"/>
          <p:cNvSpPr txBox="1"/>
          <p:nvPr/>
        </p:nvSpPr>
        <p:spPr>
          <a:xfrm>
            <a:off x="4453128" y="4562856"/>
            <a:ext cx="1975104" cy="7406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0" lang="zh-CN">
                <a:solidFill>
                  <a:srgbClr val="232D41"/>
                </a:solidFill>
                <a:latin typeface="Noto Sans CJK SC"/>
                <a:ea typeface="Noto Sans CJK SC"/>
                <a:cs typeface="Noto Sans CJK SC"/>
              </a:rPr>
              <a:t>避障权重 β ↑</a:t>
            </a:r>
          </a:p>
          <a:p>
            <a:pPr algn="l" marL="0" indent="0">
              <a:lnSpc>
                <a:spcPct val="112000"/>
              </a:lnSpc>
              <a:spcBef>
                <a:spcPts val="0"/>
              </a:spcBef>
              <a:spcAft>
                <a:spcPts val="0"/>
              </a:spcAft>
              <a:buNone/>
            </a:pPr>
            <a:r>
              <a:rPr sz="1900" b="0" lang="zh-CN">
                <a:solidFill>
                  <a:srgbClr val="232D41"/>
                </a:solidFill>
                <a:latin typeface="Noto Sans CJK SC"/>
                <a:ea typeface="Noto Sans CJK SC"/>
                <a:cs typeface="Noto Sans CJK SC"/>
              </a:rPr>
              <a:t>v_max ↓</a:t>
            </a:r>
          </a:p>
        </p:txBody>
      </p:sp>
      <p:sp>
        <p:nvSpPr>
          <p:cNvPr id="35" name="Rectangle 34"/>
          <p:cNvSpPr/>
          <p:nvPr/>
        </p:nvSpPr>
        <p:spPr>
          <a:xfrm>
            <a:off x="6565392" y="4718304"/>
            <a:ext cx="1179576" cy="438912"/>
          </a:xfrm>
          <a:prstGeom prst="rect">
            <a:avLst/>
          </a:prstGeom>
          <a:solidFill>
            <a:srgbClr val="F3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0256" y="4754880"/>
            <a:ext cx="1069848" cy="347472"/>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1" lang="zh-CN">
                <a:solidFill>
                  <a:srgbClr val="002FA8"/>
                </a:solidFill>
                <a:latin typeface="Noto Sans CJK SC"/>
                <a:ea typeface="Noto Sans CJK SC"/>
                <a:cs typeface="Noto Sans CJK SC"/>
              </a:rPr>
              <a:t>强调安全</a:t>
            </a:r>
          </a:p>
        </p:txBody>
      </p:sp>
      <p:sp>
        <p:nvSpPr>
          <p:cNvPr id="37" name="Rectangle 36"/>
          <p:cNvSpPr/>
          <p:nvPr/>
        </p:nvSpPr>
        <p:spPr>
          <a:xfrm>
            <a:off x="8174736" y="3913632"/>
            <a:ext cx="3630168" cy="1673352"/>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47888" y="3986784"/>
            <a:ext cx="3483864"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02752" y="4009644"/>
            <a:ext cx="3374136"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狭窄通道</a:t>
            </a:r>
          </a:p>
        </p:txBody>
      </p:sp>
      <p:sp>
        <p:nvSpPr>
          <p:cNvPr id="40" name="TextBox 39"/>
          <p:cNvSpPr txBox="1"/>
          <p:nvPr/>
        </p:nvSpPr>
        <p:spPr>
          <a:xfrm>
            <a:off x="8339327" y="4562856"/>
            <a:ext cx="1975104" cy="7406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0" lang="zh-CN">
                <a:solidFill>
                  <a:srgbClr val="232D41"/>
                </a:solidFill>
                <a:latin typeface="Noto Sans CJK SC"/>
                <a:ea typeface="Noto Sans CJK SC"/>
                <a:cs typeface="Noto Sans CJK SC"/>
              </a:rPr>
              <a:t>安全 / 效率平衡</a:t>
            </a:r>
          </a:p>
          <a:p>
            <a:pPr algn="l" marL="0" indent="0">
              <a:lnSpc>
                <a:spcPct val="112000"/>
              </a:lnSpc>
              <a:spcBef>
                <a:spcPts val="0"/>
              </a:spcBef>
              <a:spcAft>
                <a:spcPts val="0"/>
              </a:spcAft>
              <a:buNone/>
            </a:pPr>
            <a:r>
              <a:rPr sz="1900" b="0" lang="zh-CN">
                <a:solidFill>
                  <a:srgbClr val="232D41"/>
                </a:solidFill>
                <a:latin typeface="Noto Sans CJK SC"/>
                <a:ea typeface="Noto Sans CJK SC"/>
                <a:cs typeface="Noto Sans CJK SC"/>
              </a:rPr>
              <a:t>抑制振荡</a:t>
            </a:r>
          </a:p>
        </p:txBody>
      </p:sp>
      <p:sp>
        <p:nvSpPr>
          <p:cNvPr id="41" name="Rectangle 40"/>
          <p:cNvSpPr/>
          <p:nvPr/>
        </p:nvSpPr>
        <p:spPr>
          <a:xfrm>
            <a:off x="10451592" y="4718304"/>
            <a:ext cx="1179576" cy="438912"/>
          </a:xfrm>
          <a:prstGeom prst="rect">
            <a:avLst/>
          </a:prstGeom>
          <a:solidFill>
            <a:srgbClr val="F3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06455" y="4754880"/>
            <a:ext cx="1069848" cy="347472"/>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1" lang="zh-CN">
                <a:solidFill>
                  <a:srgbClr val="002FA8"/>
                </a:solidFill>
                <a:latin typeface="Noto Sans CJK SC"/>
                <a:ea typeface="Noto Sans CJK SC"/>
                <a:cs typeface="Noto Sans CJK SC"/>
              </a:rPr>
              <a:t>强调可通行</a:t>
            </a:r>
          </a:p>
        </p:txBody>
      </p:sp>
      <p:sp>
        <p:nvSpPr>
          <p:cNvPr id="43" name="Rectangle 42"/>
          <p:cNvSpPr/>
          <p:nvPr/>
        </p:nvSpPr>
        <p:spPr>
          <a:xfrm>
            <a:off x="384048" y="5943600"/>
            <a:ext cx="11430000" cy="548640"/>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5216" y="6007608"/>
            <a:ext cx="11018520"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0" lang="zh-CN">
                <a:solidFill>
                  <a:srgbClr val="FFFFFF"/>
                </a:solidFill>
                <a:latin typeface="Noto Sans CJK SC"/>
                <a:ea typeface="Noto Sans CJK SC"/>
                <a:cs typeface="Noto Sans CJK SC"/>
              </a:rPr>
              <a:t>预期效果：减少碰撞与急停，提高动态环境适应性，保持DWA的可解释性与工程稳定性。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14" name="TextBox 13"/>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3.4</a:t>
            </a:r>
          </a:p>
        </p:txBody>
      </p:sp>
      <p:sp>
        <p:nvSpPr>
          <p:cNvPr id="15" name="TextBox 14"/>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1" lang="zh-CN">
                <a:solidFill>
                  <a:srgbClr val="002FA8"/>
                </a:solidFill>
                <a:latin typeface="Noto Sans CJK SC"/>
                <a:ea typeface="Noto Sans CJK SC"/>
                <a:cs typeface="Noto Sans CJK SC"/>
              </a:rPr>
              <a:t>强化学习模型设计</a:t>
            </a:r>
          </a:p>
        </p:txBody>
      </p:sp>
      <p:sp>
        <p:nvSpPr>
          <p:cNvPr id="16" name="Rectangle 15"/>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100" b="0" lang="zh-CN">
                <a:solidFill>
                  <a:srgbClr val="002FA8"/>
                </a:solidFill>
                <a:latin typeface="Noto Sans CJK SC"/>
                <a:ea typeface="Noto Sans CJK SC"/>
                <a:cs typeface="Noto Sans CJK SC"/>
              </a:rPr>
              <a:t>围绕状态、动作与奖励三要素设计训练模型，使训练目标与导航性能一致。</a:t>
            </a:r>
          </a:p>
        </p:txBody>
      </p:sp>
      <p:sp>
        <p:nvSpPr>
          <p:cNvPr id="19" name="Rectangle 18"/>
          <p:cNvSpPr/>
          <p:nvPr/>
        </p:nvSpPr>
        <p:spPr>
          <a:xfrm>
            <a:off x="393192" y="1938528"/>
            <a:ext cx="3648456" cy="3648456"/>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6344" y="2011680"/>
            <a:ext cx="3502152"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2034540"/>
            <a:ext cx="3392424"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State｜状态</a:t>
            </a:r>
          </a:p>
        </p:txBody>
      </p:sp>
      <p:sp>
        <p:nvSpPr>
          <p:cNvPr id="22" name="Rectangle 21"/>
          <p:cNvSpPr/>
          <p:nvPr/>
        </p:nvSpPr>
        <p:spPr>
          <a:xfrm>
            <a:off x="4270248" y="1938528"/>
            <a:ext cx="3648456" cy="3648456"/>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2011680"/>
            <a:ext cx="3502152"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98264" y="2034540"/>
            <a:ext cx="3392424"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Action｜动作</a:t>
            </a:r>
          </a:p>
        </p:txBody>
      </p:sp>
      <p:sp>
        <p:nvSpPr>
          <p:cNvPr id="25" name="Rectangle 24"/>
          <p:cNvSpPr/>
          <p:nvPr/>
        </p:nvSpPr>
        <p:spPr>
          <a:xfrm>
            <a:off x="8147304" y="1938528"/>
            <a:ext cx="3648456" cy="3648456"/>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0456" y="2011680"/>
            <a:ext cx="3502152"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2034540"/>
            <a:ext cx="3392424"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Reward｜奖励</a:t>
            </a:r>
          </a:p>
        </p:txBody>
      </p:sp>
      <p:sp>
        <p:nvSpPr>
          <p:cNvPr id="28" name="TextBox 27"/>
          <p:cNvSpPr txBox="1"/>
          <p:nvPr/>
        </p:nvSpPr>
        <p:spPr>
          <a:xfrm>
            <a:off x="585216" y="2660904"/>
            <a:ext cx="3264408" cy="457200"/>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2200" b="1" lang="zh-CN">
                <a:solidFill>
                  <a:srgbClr val="002FA8"/>
                </a:solidFill>
                <a:latin typeface="Noto Sans CJK SC"/>
                <a:ea typeface="Noto Sans CJK SC"/>
                <a:cs typeface="Noto Sans CJK SC"/>
              </a:rPr>
              <a:t>sₜ = [Lₜ, Gₜ, Vₜ, Oₜ]</a:t>
            </a:r>
          </a:p>
        </p:txBody>
      </p:sp>
      <p:sp>
        <p:nvSpPr>
          <p:cNvPr id="29" name="TextBox 28"/>
          <p:cNvSpPr txBox="1"/>
          <p:nvPr/>
        </p:nvSpPr>
        <p:spPr>
          <a:xfrm>
            <a:off x="658368" y="3383280"/>
            <a:ext cx="3127248" cy="1709928"/>
          </a:xfrm>
          <a:prstGeom prst="rect">
            <a:avLst/>
          </a:prstGeom>
          <a:noFill/>
        </p:spPr>
        <p:txBody>
          <a:bodyPr wrap="square" lIns="18288" rIns="18288" tIns="18288" bIns="18288" anchor="t">
            <a:noAutofit/>
          </a:bodyPr>
          <a:lstStyle/>
          <a:p>
            <a:pPr algn="l" marL="0" indent="0">
              <a:lnSpc>
                <a:spcPct val="150000"/>
              </a:lnSpc>
              <a:spcBef>
                <a:spcPts val="0"/>
              </a:spcBef>
              <a:spcAft>
                <a:spcPts val="0"/>
              </a:spcAft>
              <a:buNone/>
            </a:pPr>
            <a:r>
              <a:rPr sz="2000" b="0" lang="zh-CN">
                <a:solidFill>
                  <a:srgbClr val="232D41"/>
                </a:solidFill>
                <a:latin typeface="Noto Sans CJK SC"/>
                <a:ea typeface="Noto Sans CJK SC"/>
                <a:cs typeface="Noto Sans CJK SC"/>
              </a:rPr>
              <a:t>Lₜ：激光雷达距离</a:t>
            </a:r>
          </a:p>
          <a:p>
            <a:pPr algn="l" marL="0" indent="0">
              <a:lnSpc>
                <a:spcPct val="150000"/>
              </a:lnSpc>
              <a:spcBef>
                <a:spcPts val="0"/>
              </a:spcBef>
              <a:spcAft>
                <a:spcPts val="0"/>
              </a:spcAft>
              <a:buNone/>
            </a:pPr>
            <a:r>
              <a:rPr sz="2000" b="0" lang="zh-CN">
                <a:solidFill>
                  <a:srgbClr val="232D41"/>
                </a:solidFill>
                <a:latin typeface="Noto Sans CJK SC"/>
                <a:ea typeface="Noto Sans CJK SC"/>
                <a:cs typeface="Noto Sans CJK SC"/>
              </a:rPr>
              <a:t>Gₜ：目标距离与方位</a:t>
            </a:r>
          </a:p>
          <a:p>
            <a:pPr algn="l" marL="0" indent="0">
              <a:lnSpc>
                <a:spcPct val="150000"/>
              </a:lnSpc>
              <a:spcBef>
                <a:spcPts val="0"/>
              </a:spcBef>
              <a:spcAft>
                <a:spcPts val="0"/>
              </a:spcAft>
              <a:buNone/>
            </a:pPr>
            <a:r>
              <a:rPr sz="2000" b="0" lang="zh-CN">
                <a:solidFill>
                  <a:srgbClr val="232D41"/>
                </a:solidFill>
                <a:latin typeface="Noto Sans CJK SC"/>
                <a:ea typeface="Noto Sans CJK SC"/>
                <a:cs typeface="Noto Sans CJK SC"/>
              </a:rPr>
              <a:t>Vₜ：线速度、角速度</a:t>
            </a:r>
          </a:p>
          <a:p>
            <a:pPr algn="l" marL="0" indent="0">
              <a:lnSpc>
                <a:spcPct val="150000"/>
              </a:lnSpc>
              <a:spcBef>
                <a:spcPts val="0"/>
              </a:spcBef>
              <a:spcAft>
                <a:spcPts val="0"/>
              </a:spcAft>
              <a:buNone/>
            </a:pPr>
            <a:r>
              <a:rPr sz="2000" b="0" lang="zh-CN">
                <a:solidFill>
                  <a:srgbClr val="232D41"/>
                </a:solidFill>
                <a:latin typeface="Noto Sans CJK SC"/>
                <a:ea typeface="Noto Sans CJK SC"/>
                <a:cs typeface="Noto Sans CJK SC"/>
              </a:rPr>
              <a:t>Oₜ：动态障碍 / TTC</a:t>
            </a:r>
          </a:p>
        </p:txBody>
      </p:sp>
      <p:sp>
        <p:nvSpPr>
          <p:cNvPr id="30" name="TextBox 29"/>
          <p:cNvSpPr txBox="1"/>
          <p:nvPr/>
        </p:nvSpPr>
        <p:spPr>
          <a:xfrm>
            <a:off x="4434840" y="2660904"/>
            <a:ext cx="3319272" cy="694944"/>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2100" b="1" lang="zh-CN">
                <a:solidFill>
                  <a:srgbClr val="002FA8"/>
                </a:solidFill>
                <a:latin typeface="Noto Sans CJK SC"/>
                <a:ea typeface="Noto Sans CJK SC"/>
                <a:cs typeface="Noto Sans CJK SC"/>
              </a:rPr>
              <a:t>aₜ = [αₜ, βₜ, γₜ,</a:t>
            </a:r>
          </a:p>
          <a:p>
            <a:pPr algn="ctr" marL="0" indent="0">
              <a:lnSpc>
                <a:spcPct val="112000"/>
              </a:lnSpc>
              <a:spcBef>
                <a:spcPts val="0"/>
              </a:spcBef>
              <a:spcAft>
                <a:spcPts val="0"/>
              </a:spcAft>
              <a:buNone/>
            </a:pPr>
            <a:r>
              <a:rPr sz="2100" b="1" lang="zh-CN">
                <a:solidFill>
                  <a:srgbClr val="002FA8"/>
                </a:solidFill>
                <a:latin typeface="Noto Sans CJK SC"/>
                <a:ea typeface="Noto Sans CJK SC"/>
                <a:cs typeface="Noto Sans CJK SC"/>
              </a:rPr>
              <a:t>          v_max,t]</a:t>
            </a:r>
          </a:p>
        </p:txBody>
      </p:sp>
      <p:sp>
        <p:nvSpPr>
          <p:cNvPr id="31" name="TextBox 30"/>
          <p:cNvSpPr txBox="1"/>
          <p:nvPr/>
        </p:nvSpPr>
        <p:spPr>
          <a:xfrm>
            <a:off x="4553712" y="3675887"/>
            <a:ext cx="3072384" cy="1554480"/>
          </a:xfrm>
          <a:prstGeom prst="rect">
            <a:avLst/>
          </a:prstGeom>
          <a:noFill/>
        </p:spPr>
        <p:txBody>
          <a:bodyPr wrap="square" lIns="18288" rIns="18288" tIns="18288" bIns="18288" anchor="t">
            <a:noAutofit/>
          </a:bodyPr>
          <a:lstStyle/>
          <a:p>
            <a:pPr algn="l" marL="0" indent="0">
              <a:lnSpc>
                <a:spcPct val="120000"/>
              </a:lnSpc>
              <a:spcBef>
                <a:spcPts val="0"/>
              </a:spcBef>
              <a:spcAft>
                <a:spcPts val="0"/>
              </a:spcAft>
              <a:buNone/>
            </a:pPr>
            <a:r>
              <a:rPr sz="1900" b="0" lang="zh-CN">
                <a:solidFill>
                  <a:srgbClr val="232D41"/>
                </a:solidFill>
                <a:latin typeface="Noto Sans CJK SC"/>
                <a:ea typeface="Noto Sans CJK SC"/>
                <a:cs typeface="Noto Sans CJK SC"/>
              </a:rPr>
              <a:t>在线调节DWA评价权重</a:t>
            </a:r>
          </a:p>
          <a:p>
            <a:pPr algn="l" marL="0" indent="0">
              <a:lnSpc>
                <a:spcPct val="120000"/>
              </a:lnSpc>
              <a:spcBef>
                <a:spcPts val="0"/>
              </a:spcBef>
              <a:spcAft>
                <a:spcPts val="0"/>
              </a:spcAft>
              <a:buNone/>
            </a:pPr>
            <a:r>
              <a:rPr sz="1900" b="0" lang="zh-CN">
                <a:solidFill>
                  <a:srgbClr val="232D41"/>
                </a:solidFill>
                <a:latin typeface="Noto Sans CJK SC"/>
                <a:ea typeface="Noto Sans CJK SC"/>
                <a:cs typeface="Noto Sans CJK SC"/>
              </a:rPr>
              <a:t>与最大速度约束</a:t>
            </a:r>
          </a:p>
          <a:p>
            <a:pPr algn="l" marL="0" indent="0">
              <a:lnSpc>
                <a:spcPct val="120000"/>
              </a:lnSpc>
              <a:spcBef>
                <a:spcPts val="0"/>
              </a:spcBef>
              <a:spcAft>
                <a:spcPts val="0"/>
              </a:spcAft>
              <a:buNone/>
            </a:pPr>
            <a:r>
              <a:rPr sz="1900" b="0" lang="zh-CN">
                <a:solidFill>
                  <a:srgbClr val="232D41"/>
                </a:solidFill>
                <a:latin typeface="Noto Sans CJK SC"/>
                <a:ea typeface="Noto Sans CJK SC"/>
                <a:cs typeface="Noto Sans CJK SC"/>
              </a:rPr>
              <a:t/>
            </a:r>
          </a:p>
          <a:p>
            <a:pPr algn="l" marL="0" indent="0">
              <a:lnSpc>
                <a:spcPct val="120000"/>
              </a:lnSpc>
              <a:spcBef>
                <a:spcPts val="0"/>
              </a:spcBef>
              <a:spcAft>
                <a:spcPts val="0"/>
              </a:spcAft>
              <a:buNone/>
            </a:pPr>
            <a:r>
              <a:rPr sz="1900" b="0" lang="zh-CN">
                <a:solidFill>
                  <a:srgbClr val="232D41"/>
                </a:solidFill>
                <a:latin typeface="Noto Sans CJK SC"/>
                <a:ea typeface="Noto Sans CJK SC"/>
                <a:cs typeface="Noto Sans CJK SC"/>
              </a:rPr>
              <a:t>不直接输出电机控制量</a:t>
            </a:r>
          </a:p>
        </p:txBody>
      </p:sp>
      <p:sp>
        <p:nvSpPr>
          <p:cNvPr id="32" name="TextBox 31"/>
          <p:cNvSpPr txBox="1"/>
          <p:nvPr/>
        </p:nvSpPr>
        <p:spPr>
          <a:xfrm>
            <a:off x="8339327" y="2660904"/>
            <a:ext cx="3273552" cy="777240"/>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1650" b="1" lang="zh-CN">
                <a:solidFill>
                  <a:srgbClr val="002FA8"/>
                </a:solidFill>
                <a:latin typeface="Noto Sans CJK SC"/>
                <a:ea typeface="Noto Sans CJK SC"/>
                <a:cs typeface="Noto Sans CJK SC"/>
              </a:rPr>
              <a:t>R = R_goal + R_progress</a:t>
            </a:r>
          </a:p>
          <a:p>
            <a:pPr algn="l" marL="0" indent="0">
              <a:lnSpc>
                <a:spcPct val="112000"/>
              </a:lnSpc>
              <a:spcBef>
                <a:spcPts val="0"/>
              </a:spcBef>
              <a:spcAft>
                <a:spcPts val="0"/>
              </a:spcAft>
              <a:buNone/>
            </a:pPr>
            <a:r>
              <a:rPr sz="1650" b="1" lang="zh-CN">
                <a:solidFill>
                  <a:srgbClr val="002FA8"/>
                </a:solidFill>
                <a:latin typeface="Noto Sans CJK SC"/>
                <a:ea typeface="Noto Sans CJK SC"/>
                <a:cs typeface="Noto Sans CJK SC"/>
              </a:rPr>
              <a:t>     + R_safe + R_TTC</a:t>
            </a:r>
          </a:p>
          <a:p>
            <a:pPr algn="l" marL="0" indent="0">
              <a:lnSpc>
                <a:spcPct val="112000"/>
              </a:lnSpc>
              <a:spcBef>
                <a:spcPts val="0"/>
              </a:spcBef>
              <a:spcAft>
                <a:spcPts val="0"/>
              </a:spcAft>
              <a:buNone/>
            </a:pPr>
            <a:r>
              <a:rPr sz="1650" b="1" lang="zh-CN">
                <a:solidFill>
                  <a:srgbClr val="002FA8"/>
                </a:solidFill>
                <a:latin typeface="Noto Sans CJK SC"/>
                <a:ea typeface="Noto Sans CJK SC"/>
                <a:cs typeface="Noto Sans CJK SC"/>
              </a:rPr>
              <a:t>     + R_smooth</a:t>
            </a:r>
          </a:p>
        </p:txBody>
      </p:sp>
      <p:sp>
        <p:nvSpPr>
          <p:cNvPr id="33" name="TextBox 32"/>
          <p:cNvSpPr txBox="1"/>
          <p:nvPr/>
        </p:nvSpPr>
        <p:spPr>
          <a:xfrm>
            <a:off x="8421624" y="3685032"/>
            <a:ext cx="3127248" cy="1472184"/>
          </a:xfrm>
          <a:prstGeom prst="rect">
            <a:avLst/>
          </a:prstGeom>
          <a:noFill/>
        </p:spPr>
        <p:txBody>
          <a:bodyPr wrap="square" lIns="18288" rIns="18288" tIns="18288" bIns="18288" anchor="t">
            <a:noAutofit/>
          </a:bodyPr>
          <a:lstStyle/>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到达目标奖励</a:t>
            </a:r>
          </a:p>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前进效率奖励</a:t>
            </a:r>
          </a:p>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安全距离与TTC惩罚</a:t>
            </a:r>
          </a:p>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速度 / 角速度平滑约束</a:t>
            </a:r>
          </a:p>
        </p:txBody>
      </p:sp>
      <p:sp>
        <p:nvSpPr>
          <p:cNvPr id="34" name="Rectangle 33"/>
          <p:cNvSpPr/>
          <p:nvPr/>
        </p:nvSpPr>
        <p:spPr>
          <a:xfrm>
            <a:off x="384048" y="5943600"/>
            <a:ext cx="11430000" cy="548640"/>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216" y="6007608"/>
            <a:ext cx="11018520"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0" lang="zh-CN">
                <a:solidFill>
                  <a:srgbClr val="FFFFFF"/>
                </a:solidFill>
                <a:latin typeface="Noto Sans CJK SC"/>
                <a:ea typeface="Noto Sans CJK SC"/>
                <a:cs typeface="Noto Sans CJK SC"/>
              </a:rPr>
              <a:t>训练目标：能到达、少碰撞、少急停、少振荡，同时避免过度保守。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4" name="图片 83"/>
          <p:cNvPicPr>
            <a:picLocks noChangeAspect="1"/>
          </p:cNvPicPr>
          <p:nvPr/>
        </p:nvPicPr>
        <p:blipFill>
          <a:blip r:embed="rId2">
            <a:extLst>
              <a:ext uri="{96DAC541-7B7A-43D3-8B79-37D633B846F1}">
                <asvg:svgBlip xmlns:asvg="http://schemas.microsoft.com/office/drawing/2016/SVG/main" r:embed="rId3"/>
              </a:ext>
            </a:extLst>
          </a:blip>
          <a:srcRect/>
          <a:stretch>
            <a:fillRect/>
          </a:stretch>
        </p:blipFill>
        <p:spPr>
          <a:xfrm>
            <a:off x="10032400" y="125408"/>
            <a:ext cx="1786483" cy="524294"/>
          </a:xfrm>
          <a:prstGeom prst="rect">
            <a:avLst/>
          </a:prstGeom>
        </p:spPr>
      </p:pic>
      <p:sp>
        <p:nvSpPr>
          <p:cNvPr id="15" name="TextBox 14"/>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3.5</a:t>
            </a:r>
          </a:p>
        </p:txBody>
      </p:sp>
      <p:sp>
        <p:nvSpPr>
          <p:cNvPr id="16" name="TextBox 15"/>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1" lang="zh-CN">
                <a:solidFill>
                  <a:srgbClr val="002FA8"/>
                </a:solidFill>
                <a:latin typeface="Noto Sans CJK SC"/>
                <a:ea typeface="Noto Sans CJK SC"/>
                <a:cs typeface="Noto Sans CJK SC"/>
              </a:rPr>
              <a:t>视觉辅助自主进出梯</a:t>
            </a:r>
          </a:p>
        </p:txBody>
      </p:sp>
      <p:sp>
        <p:nvSpPr>
          <p:cNvPr id="17" name="Rectangle 16"/>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100" b="0" lang="zh-CN">
                <a:solidFill>
                  <a:srgbClr val="002FA8"/>
                </a:solidFill>
                <a:latin typeface="Noto Sans CJK SC"/>
                <a:ea typeface="Noto Sans CJK SC"/>
                <a:cs typeface="Noto Sans CJK SC"/>
              </a:rPr>
              <a:t>视觉仅在电梯场景触发，用于识别电梯门状态与入口通行状态。</a:t>
            </a:r>
          </a:p>
        </p:txBody>
      </p:sp>
      <p:sp>
        <p:nvSpPr>
          <p:cNvPr id="20" name="Rectangle 19"/>
          <p:cNvSpPr/>
          <p:nvPr/>
        </p:nvSpPr>
        <p:spPr>
          <a:xfrm>
            <a:off x="402336" y="1920240"/>
            <a:ext cx="5577840" cy="1133856"/>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5488" y="1993392"/>
            <a:ext cx="543153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016252"/>
            <a:ext cx="5321807"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① 到达等待点</a:t>
            </a:r>
          </a:p>
        </p:txBody>
      </p:sp>
      <p:sp>
        <p:nvSpPr>
          <p:cNvPr id="23" name="TextBox 22"/>
          <p:cNvSpPr txBox="1"/>
          <p:nvPr/>
        </p:nvSpPr>
        <p:spPr>
          <a:xfrm>
            <a:off x="594360" y="2505456"/>
            <a:ext cx="5202936" cy="438912"/>
          </a:xfrm>
          <a:prstGeom prst="rect">
            <a:avLst/>
          </a:prstGeom>
          <a:noFill/>
        </p:spPr>
        <p:txBody>
          <a:bodyPr wrap="square" lIns="18288" rIns="18288" tIns="18288" bIns="18288" anchor="ctr">
            <a:noAutofit/>
          </a:bodyPr>
          <a:lstStyle/>
          <a:p>
            <a:pPr algn="l" marL="0" indent="0">
              <a:lnSpc>
                <a:spcPct val="113000"/>
              </a:lnSpc>
              <a:spcBef>
                <a:spcPts val="0"/>
              </a:spcBef>
              <a:spcAft>
                <a:spcPts val="0"/>
              </a:spcAft>
              <a:buNone/>
            </a:pPr>
            <a:r>
              <a:rPr sz="1700" b="0" lang="zh-CN">
                <a:solidFill>
                  <a:srgbClr val="232D41"/>
                </a:solidFill>
                <a:latin typeface="Noto Sans CJK SC"/>
                <a:ea typeface="Noto Sans CJK SC"/>
                <a:cs typeface="Noto Sans CJK SC"/>
              </a:rPr>
              <a:t>正常导航至电梯外 P_wait</a:t>
            </a:r>
          </a:p>
        </p:txBody>
      </p:sp>
      <p:sp>
        <p:nvSpPr>
          <p:cNvPr id="24" name="Rectangle 23"/>
          <p:cNvSpPr/>
          <p:nvPr/>
        </p:nvSpPr>
        <p:spPr>
          <a:xfrm>
            <a:off x="6199632" y="1920240"/>
            <a:ext cx="5577840" cy="1133856"/>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2784" y="1993392"/>
            <a:ext cx="543153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7648" y="2016252"/>
            <a:ext cx="5321807"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② 视觉识别</a:t>
            </a:r>
          </a:p>
        </p:txBody>
      </p:sp>
      <p:sp>
        <p:nvSpPr>
          <p:cNvPr id="27" name="TextBox 26"/>
          <p:cNvSpPr txBox="1"/>
          <p:nvPr/>
        </p:nvSpPr>
        <p:spPr>
          <a:xfrm>
            <a:off x="6391656" y="2505456"/>
            <a:ext cx="5202936" cy="438912"/>
          </a:xfrm>
          <a:prstGeom prst="rect">
            <a:avLst/>
          </a:prstGeom>
          <a:noFill/>
        </p:spPr>
        <p:txBody>
          <a:bodyPr wrap="square" lIns="18288" rIns="18288" tIns="18288" bIns="18288" anchor="ctr">
            <a:noAutofit/>
          </a:bodyPr>
          <a:lstStyle/>
          <a:p>
            <a:pPr algn="l" marL="0" indent="0">
              <a:lnSpc>
                <a:spcPct val="113000"/>
              </a:lnSpc>
              <a:spcBef>
                <a:spcPts val="0"/>
              </a:spcBef>
              <a:spcAft>
                <a:spcPts val="0"/>
              </a:spcAft>
              <a:buNone/>
            </a:pPr>
            <a:r>
              <a:rPr sz="1700" b="0" lang="zh-CN">
                <a:solidFill>
                  <a:srgbClr val="232D41"/>
                </a:solidFill>
                <a:latin typeface="Noto Sans CJK SC"/>
                <a:ea typeface="Noto Sans CJK SC"/>
                <a:cs typeface="Noto Sans CJK SC"/>
              </a:rPr>
              <a:t>Door：Closed / Transition / Open</a:t>
            </a:r>
          </a:p>
          <a:p>
            <a:pPr algn="l" marL="0" indent="0">
              <a:lnSpc>
                <a:spcPct val="113000"/>
              </a:lnSpc>
              <a:spcBef>
                <a:spcPts val="0"/>
              </a:spcBef>
              <a:spcAft>
                <a:spcPts val="0"/>
              </a:spcAft>
              <a:buNone/>
            </a:pPr>
            <a:r>
              <a:rPr sz="1700" b="0" lang="zh-CN">
                <a:solidFill>
                  <a:srgbClr val="232D41"/>
                </a:solidFill>
                <a:latin typeface="Noto Sans CJK SC"/>
                <a:ea typeface="Noto Sans CJK SC"/>
                <a:cs typeface="Noto Sans CJK SC"/>
              </a:rPr>
              <a:t>Person：入口是否有人</a:t>
            </a:r>
          </a:p>
        </p:txBody>
      </p:sp>
      <p:sp>
        <p:nvSpPr>
          <p:cNvPr id="28" name="Rectangle 27"/>
          <p:cNvSpPr/>
          <p:nvPr/>
        </p:nvSpPr>
        <p:spPr>
          <a:xfrm>
            <a:off x="402336" y="3273552"/>
            <a:ext cx="5577840" cy="1133856"/>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 y="3346704"/>
            <a:ext cx="543153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369564"/>
            <a:ext cx="5321807"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③ 条件确认</a:t>
            </a:r>
          </a:p>
        </p:txBody>
      </p:sp>
      <p:sp>
        <p:nvSpPr>
          <p:cNvPr id="31" name="TextBox 30"/>
          <p:cNvSpPr txBox="1"/>
          <p:nvPr/>
        </p:nvSpPr>
        <p:spPr>
          <a:xfrm>
            <a:off x="594360" y="3858768"/>
            <a:ext cx="5202936" cy="438912"/>
          </a:xfrm>
          <a:prstGeom prst="rect">
            <a:avLst/>
          </a:prstGeom>
          <a:noFill/>
        </p:spPr>
        <p:txBody>
          <a:bodyPr wrap="square" lIns="18288" rIns="18288" tIns="18288" bIns="18288" anchor="ctr">
            <a:noAutofit/>
          </a:bodyPr>
          <a:lstStyle/>
          <a:p>
            <a:pPr algn="l" marL="0" indent="0">
              <a:lnSpc>
                <a:spcPct val="113000"/>
              </a:lnSpc>
              <a:spcBef>
                <a:spcPts val="0"/>
              </a:spcBef>
              <a:spcAft>
                <a:spcPts val="0"/>
              </a:spcAft>
              <a:buNone/>
            </a:pPr>
            <a:r>
              <a:rPr sz="1700" b="0" lang="zh-CN">
                <a:solidFill>
                  <a:srgbClr val="232D41"/>
                </a:solidFill>
                <a:latin typeface="Noto Sans CJK SC"/>
                <a:ea typeface="Noto Sans CJK SC"/>
                <a:cs typeface="Noto Sans CJK SC"/>
              </a:rPr>
              <a:t>EntryAllowed = DoorOpen ∧ DoorwayClear</a:t>
            </a:r>
          </a:p>
          <a:p>
            <a:pPr algn="l" marL="0" indent="0">
              <a:lnSpc>
                <a:spcPct val="113000"/>
              </a:lnSpc>
              <a:spcBef>
                <a:spcPts val="0"/>
              </a:spcBef>
              <a:spcAft>
                <a:spcPts val="0"/>
              </a:spcAft>
              <a:buNone/>
            </a:pPr>
            <a:r>
              <a:rPr sz="1700" b="0" lang="zh-CN">
                <a:solidFill>
                  <a:srgbClr val="232D41"/>
                </a:solidFill>
                <a:latin typeface="Noto Sans CJK SC"/>
                <a:ea typeface="Noto Sans CJK SC"/>
                <a:cs typeface="Noto Sans CJK SC"/>
              </a:rPr>
              <a:t>连续若干帧确认，避免误检</a:t>
            </a:r>
          </a:p>
        </p:txBody>
      </p:sp>
      <p:sp>
        <p:nvSpPr>
          <p:cNvPr id="32" name="Rectangle 31"/>
          <p:cNvSpPr/>
          <p:nvPr/>
        </p:nvSpPr>
        <p:spPr>
          <a:xfrm>
            <a:off x="6199632" y="3273552"/>
            <a:ext cx="5577840" cy="1133856"/>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72784" y="3346704"/>
            <a:ext cx="543153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7648" y="3369564"/>
            <a:ext cx="5321807"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④ 低速进 / 出梯</a:t>
            </a:r>
          </a:p>
        </p:txBody>
      </p:sp>
      <p:sp>
        <p:nvSpPr>
          <p:cNvPr id="35" name="TextBox 34"/>
          <p:cNvSpPr txBox="1"/>
          <p:nvPr/>
        </p:nvSpPr>
        <p:spPr>
          <a:xfrm>
            <a:off x="6391656" y="3858768"/>
            <a:ext cx="5202936" cy="438912"/>
          </a:xfrm>
          <a:prstGeom prst="rect">
            <a:avLst/>
          </a:prstGeom>
          <a:noFill/>
        </p:spPr>
        <p:txBody>
          <a:bodyPr wrap="square" lIns="18288" rIns="18288" tIns="18288" bIns="18288" anchor="ctr">
            <a:noAutofit/>
          </a:bodyPr>
          <a:lstStyle/>
          <a:p>
            <a:pPr algn="l" marL="0" indent="0">
              <a:lnSpc>
                <a:spcPct val="113000"/>
              </a:lnSpc>
              <a:spcBef>
                <a:spcPts val="0"/>
              </a:spcBef>
              <a:spcAft>
                <a:spcPts val="0"/>
              </a:spcAft>
              <a:buNone/>
            </a:pPr>
            <a:r>
              <a:rPr sz="1700" b="0" lang="zh-CN">
                <a:solidFill>
                  <a:srgbClr val="232D41"/>
                </a:solidFill>
                <a:latin typeface="Noto Sans CJK SC"/>
                <a:ea typeface="Noto Sans CJK SC"/>
                <a:cs typeface="Noto Sans CJK SC"/>
              </a:rPr>
              <a:t>生成 P_door、P_inside / P_exit</a:t>
            </a:r>
          </a:p>
          <a:p>
            <a:pPr algn="l" marL="0" indent="0">
              <a:lnSpc>
                <a:spcPct val="113000"/>
              </a:lnSpc>
              <a:spcBef>
                <a:spcPts val="0"/>
              </a:spcBef>
              <a:spcAft>
                <a:spcPts val="0"/>
              </a:spcAft>
              <a:buNone/>
            </a:pPr>
            <a:r>
              <a:rPr sz="1700" b="0" lang="zh-CN">
                <a:solidFill>
                  <a:srgbClr val="232D41"/>
                </a:solidFill>
                <a:latin typeface="Noto Sans CJK SC"/>
                <a:ea typeface="Noto Sans CJK SC"/>
                <a:cs typeface="Noto Sans CJK SC"/>
              </a:rPr>
              <a:t>切换DWA低速规划参数</a:t>
            </a:r>
          </a:p>
        </p:txBody>
      </p:sp>
      <p:sp>
        <p:nvSpPr>
          <p:cNvPr id="36" name="TextBox 35"/>
          <p:cNvSpPr txBox="1"/>
          <p:nvPr/>
        </p:nvSpPr>
        <p:spPr>
          <a:xfrm>
            <a:off x="457200" y="4818888"/>
            <a:ext cx="2103120" cy="320040"/>
          </a:xfrm>
          <a:prstGeom prst="rect">
            <a:avLst/>
          </a:prstGeom>
          <a:noFill/>
        </p:spPr>
        <p:txBody>
          <a:bodyPr wrap="square" lIns="18288" rIns="18288" tIns="18288" bIns="18288" anchor="t">
            <a:noAutofit/>
          </a:bodyPr>
          <a:lstStyle/>
          <a:p>
            <a:pPr algn="l" marL="0" indent="0">
              <a:lnSpc>
                <a:spcPct val="112000"/>
              </a:lnSpc>
              <a:spcBef>
                <a:spcPts val="0"/>
              </a:spcBef>
              <a:spcAft>
                <a:spcPts val="0"/>
              </a:spcAft>
              <a:buNone/>
            </a:pPr>
            <a:r>
              <a:rPr sz="2100" b="1" lang="zh-CN">
                <a:solidFill>
                  <a:srgbClr val="002FA8"/>
                </a:solidFill>
                <a:latin typeface="Noto Sans CJK SC"/>
                <a:ea typeface="Noto Sans CJK SC"/>
                <a:cs typeface="Noto Sans CJK SC"/>
              </a:rPr>
              <a:t>乘梯状态机</a:t>
            </a:r>
          </a:p>
        </p:txBody>
      </p:sp>
      <p:sp>
        <p:nvSpPr>
          <p:cNvPr id="37" name="Rectangle 36"/>
          <p:cNvSpPr/>
          <p:nvPr/>
        </p:nvSpPr>
        <p:spPr>
          <a:xfrm>
            <a:off x="448056" y="5276088"/>
            <a:ext cx="1700784" cy="81381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9496" y="5385816"/>
            <a:ext cx="151790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Normal</a:t>
            </a:r>
          </a:p>
        </p:txBody>
      </p:sp>
      <p:sp>
        <p:nvSpPr>
          <p:cNvPr id="39" name="TextBox 38"/>
          <p:cNvSpPr txBox="1"/>
          <p:nvPr/>
        </p:nvSpPr>
        <p:spPr>
          <a:xfrm>
            <a:off x="539496" y="5715000"/>
            <a:ext cx="1517904" cy="32918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正常导航</a:t>
            </a:r>
          </a:p>
        </p:txBody>
      </p:sp>
      <p:sp>
        <p:nvSpPr>
          <p:cNvPr id="40" name="Right Arrow 39"/>
          <p:cNvSpPr/>
          <p:nvPr/>
        </p:nvSpPr>
        <p:spPr>
          <a:xfrm>
            <a:off x="2167128" y="5577840"/>
            <a:ext cx="182880" cy="15544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386584" y="5276088"/>
            <a:ext cx="1700784" cy="81381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78024" y="5385816"/>
            <a:ext cx="151790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Wait</a:t>
            </a:r>
          </a:p>
        </p:txBody>
      </p:sp>
      <p:sp>
        <p:nvSpPr>
          <p:cNvPr id="43" name="TextBox 42"/>
          <p:cNvSpPr txBox="1"/>
          <p:nvPr/>
        </p:nvSpPr>
        <p:spPr>
          <a:xfrm>
            <a:off x="2478024" y="5715000"/>
            <a:ext cx="1517904" cy="32918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等待</a:t>
            </a:r>
          </a:p>
        </p:txBody>
      </p:sp>
      <p:sp>
        <p:nvSpPr>
          <p:cNvPr id="44" name="Right Arrow 43"/>
          <p:cNvSpPr/>
          <p:nvPr/>
        </p:nvSpPr>
        <p:spPr>
          <a:xfrm>
            <a:off x="4105656" y="5577840"/>
            <a:ext cx="182880" cy="15544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325112" y="5276088"/>
            <a:ext cx="1700784" cy="81381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16552" y="5385816"/>
            <a:ext cx="151790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Enter</a:t>
            </a:r>
          </a:p>
        </p:txBody>
      </p:sp>
      <p:sp>
        <p:nvSpPr>
          <p:cNvPr id="47" name="TextBox 46"/>
          <p:cNvSpPr txBox="1"/>
          <p:nvPr/>
        </p:nvSpPr>
        <p:spPr>
          <a:xfrm>
            <a:off x="4416552" y="5715000"/>
            <a:ext cx="1517904" cy="32918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进梯</a:t>
            </a:r>
          </a:p>
        </p:txBody>
      </p:sp>
      <p:sp>
        <p:nvSpPr>
          <p:cNvPr id="48" name="Right Arrow 47"/>
          <p:cNvSpPr/>
          <p:nvPr/>
        </p:nvSpPr>
        <p:spPr>
          <a:xfrm>
            <a:off x="6044184" y="5577840"/>
            <a:ext cx="182880" cy="15544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63640" y="5276088"/>
            <a:ext cx="1700784" cy="81381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5385816"/>
            <a:ext cx="151790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Ride</a:t>
            </a:r>
          </a:p>
        </p:txBody>
      </p:sp>
      <p:sp>
        <p:nvSpPr>
          <p:cNvPr id="51" name="TextBox 50"/>
          <p:cNvSpPr txBox="1"/>
          <p:nvPr/>
        </p:nvSpPr>
        <p:spPr>
          <a:xfrm>
            <a:off x="6355080" y="5715000"/>
            <a:ext cx="1517904" cy="32918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驻停乘梯</a:t>
            </a:r>
          </a:p>
        </p:txBody>
      </p:sp>
      <p:sp>
        <p:nvSpPr>
          <p:cNvPr id="52" name="Right Arrow 51"/>
          <p:cNvSpPr/>
          <p:nvPr/>
        </p:nvSpPr>
        <p:spPr>
          <a:xfrm>
            <a:off x="7982712" y="5577840"/>
            <a:ext cx="182880" cy="15544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02168" y="5276088"/>
            <a:ext cx="1700784" cy="81381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93608" y="5385816"/>
            <a:ext cx="151790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Exit</a:t>
            </a:r>
          </a:p>
        </p:txBody>
      </p:sp>
      <p:sp>
        <p:nvSpPr>
          <p:cNvPr id="55" name="TextBox 54"/>
          <p:cNvSpPr txBox="1"/>
          <p:nvPr/>
        </p:nvSpPr>
        <p:spPr>
          <a:xfrm>
            <a:off x="8293608" y="5715000"/>
            <a:ext cx="1517904" cy="32918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出梯</a:t>
            </a:r>
          </a:p>
        </p:txBody>
      </p:sp>
      <p:sp>
        <p:nvSpPr>
          <p:cNvPr id="56" name="Right Arrow 55"/>
          <p:cNvSpPr/>
          <p:nvPr/>
        </p:nvSpPr>
        <p:spPr>
          <a:xfrm>
            <a:off x="9921240" y="5577840"/>
            <a:ext cx="182880" cy="155448"/>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140696" y="5276088"/>
            <a:ext cx="1700784" cy="813816"/>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32136" y="5385816"/>
            <a:ext cx="1517904" cy="310896"/>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1" lang="zh-CN">
                <a:solidFill>
                  <a:srgbClr val="002FA8"/>
                </a:solidFill>
                <a:latin typeface="Noto Sans CJK SC"/>
                <a:ea typeface="Noto Sans CJK SC"/>
                <a:cs typeface="Noto Sans CJK SC"/>
              </a:rPr>
              <a:t>Normal</a:t>
            </a:r>
          </a:p>
        </p:txBody>
      </p:sp>
      <p:sp>
        <p:nvSpPr>
          <p:cNvPr id="59" name="TextBox 58"/>
          <p:cNvSpPr txBox="1"/>
          <p:nvPr/>
        </p:nvSpPr>
        <p:spPr>
          <a:xfrm>
            <a:off x="10232136" y="5715000"/>
            <a:ext cx="1517904" cy="32918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500" b="0" lang="zh-CN">
                <a:solidFill>
                  <a:srgbClr val="232D41"/>
                </a:solidFill>
                <a:latin typeface="Noto Sans CJK SC"/>
                <a:ea typeface="Noto Sans CJK SC"/>
                <a:cs typeface="Noto Sans CJK SC"/>
              </a:rPr>
              <a:t>恢复导航</a:t>
            </a:r>
          </a:p>
        </p:txBody>
      </p:sp>
      <p:sp>
        <p:nvSpPr>
          <p:cNvPr id="60" name="TextBox 59"/>
          <p:cNvSpPr txBox="1"/>
          <p:nvPr/>
        </p:nvSpPr>
        <p:spPr>
          <a:xfrm>
            <a:off x="576072" y="6309360"/>
            <a:ext cx="10972800" cy="310896"/>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700" b="0" lang="zh-CN">
                <a:solidFill>
                  <a:srgbClr val="002FA8"/>
                </a:solidFill>
                <a:latin typeface="Noto Sans CJK SC"/>
                <a:ea typeface="Noto Sans CJK SC"/>
                <a:cs typeface="Noto Sans CJK SC"/>
              </a:rPr>
              <a:t>视觉语义 → 状态决策 → 局部目标生成 → DWA低速规划，形成安全、可解释的进出梯过程。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rotWithShape="1">
          <a:blip r:embed="rId1">
            <a:alphaModFix amt="15000"/>
          </a:blip>
          <a:srcRect t="2152" b="44416"/>
          <a:stretch>
            <a:fillRect/>
          </a:stretch>
        </p:blipFill>
        <p:spPr>
          <a:xfrm>
            <a:off x="3" y="0"/>
            <a:ext cx="12191997" cy="2728686"/>
          </a:xfrm>
          <a:prstGeom prst="rect">
            <a:avLst/>
          </a:prstGeom>
        </p:spPr>
      </p:pic>
      <p:pic>
        <p:nvPicPr>
          <p:cNvPr id="60" name="图片 59"/>
          <p:cNvPicPr>
            <a:picLocks noChangeAspect="1"/>
          </p:cNvPicPr>
          <p:nvPr/>
        </p:nvPicPr>
        <p:blipFill rotWithShape="1">
          <a:blip r:embed="rId2"/>
          <a:srcRect l="36895" r="29736"/>
          <a:stretch>
            <a:fillRect/>
          </a:stretch>
        </p:blipFill>
        <p:spPr>
          <a:xfrm>
            <a:off x="317" y="1143000"/>
            <a:ext cx="4068319" cy="5715000"/>
          </a:xfrm>
          <a:custGeom>
            <a:avLst/>
            <a:gdLst>
              <a:gd name="connsiteX0" fmla="*/ 0 w 4068319"/>
              <a:gd name="connsiteY0" fmla="*/ 0 h 5715000"/>
              <a:gd name="connsiteX1" fmla="*/ 4068319 w 4068319"/>
              <a:gd name="connsiteY1" fmla="*/ 0 h 5715000"/>
              <a:gd name="connsiteX2" fmla="*/ 4068319 w 4068319"/>
              <a:gd name="connsiteY2" fmla="*/ 5715000 h 5715000"/>
              <a:gd name="connsiteX3" fmla="*/ 0 w 4068319"/>
              <a:gd name="connsiteY3" fmla="*/ 5715000 h 5715000"/>
            </a:gdLst>
            <a:ahLst/>
            <a:cxnLst>
              <a:cxn ang="0">
                <a:pos x="connsiteX0" y="connsiteY0"/>
              </a:cxn>
              <a:cxn ang="0">
                <a:pos x="connsiteX1" y="connsiteY1"/>
              </a:cxn>
              <a:cxn ang="0">
                <a:pos x="connsiteX2" y="connsiteY2"/>
              </a:cxn>
              <a:cxn ang="0">
                <a:pos x="connsiteX3" y="connsiteY3"/>
              </a:cxn>
            </a:cxnLst>
            <a:rect l="l" t="t" r="r" b="b"/>
            <a:pathLst>
              <a:path w="4068319" h="5715000">
                <a:moveTo>
                  <a:pt x="0" y="0"/>
                </a:moveTo>
                <a:lnTo>
                  <a:pt x="4068319" y="0"/>
                </a:lnTo>
                <a:lnTo>
                  <a:pt x="4068319" y="5715000"/>
                </a:lnTo>
                <a:lnTo>
                  <a:pt x="0" y="5715000"/>
                </a:lnTo>
                <a:close/>
              </a:path>
            </a:pathLst>
          </a:custGeom>
        </p:spPr>
      </p:pic>
      <p:sp>
        <p:nvSpPr>
          <p:cNvPr id="36" name="矩形 35"/>
          <p:cNvSpPr/>
          <p:nvPr/>
        </p:nvSpPr>
        <p:spPr>
          <a:xfrm>
            <a:off x="-634" y="0"/>
            <a:ext cx="4068953" cy="6858000"/>
          </a:xfrm>
          <a:prstGeom prst="rect">
            <a:avLst/>
          </a:prstGeom>
          <a:gradFill>
            <a:gsLst>
              <a:gs pos="0">
                <a:schemeClr val="accent1">
                  <a:alpha val="80000"/>
                </a:schemeClr>
              </a:gs>
              <a:gs pos="88000">
                <a:schemeClr val="accent1"/>
              </a:gs>
            </a:gsLst>
            <a:lin ang="162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rgbClr val="F2F2F2"/>
              </a:solidFill>
            </a:endParaRPr>
          </a:p>
        </p:txBody>
      </p:sp>
      <p:sp>
        <p:nvSpPr>
          <p:cNvPr id="37" name="矩形: 圆角 36"/>
          <p:cNvSpPr/>
          <p:nvPr/>
        </p:nvSpPr>
        <p:spPr>
          <a:xfrm>
            <a:off x="1651001" y="902667"/>
            <a:ext cx="10071100" cy="5171217"/>
          </a:xfrm>
          <a:prstGeom prst="roundRect">
            <a:avLst>
              <a:gd name="adj" fmla="val 1931"/>
            </a:avLst>
          </a:prstGeom>
          <a:solidFill>
            <a:schemeClr val="bg1"/>
          </a:solidFill>
          <a:ln w="12700" cap="flat" cmpd="sng" algn="ctr">
            <a:noFill/>
            <a:prstDash val="solid"/>
            <a:miter lim="800000"/>
          </a:ln>
          <a:effectLst>
            <a:outerShdw blurRad="127000" dist="38100" dir="5400000" algn="t" rotWithShape="0">
              <a:schemeClr val="accent1">
                <a:alpha val="5000"/>
              </a:schemeClr>
            </a:outerShdw>
          </a:effectLst>
        </p:spPr>
        <p:txBody>
          <a:bodyPr rtlCol="0" anchor="ctr"/>
          <a:lstStyle/>
          <a:p>
            <a:pPr algn="ctr"/>
            <a:endParaRPr lang="zh-CN" altLang="en-US" sz="1200" kern="0">
              <a:gradFill>
                <a:gsLst>
                  <a:gs pos="0">
                    <a:srgbClr val="CA865F">
                      <a:lumMod val="60000"/>
                      <a:lumOff val="40000"/>
                    </a:srgbClr>
                  </a:gs>
                  <a:gs pos="100000">
                    <a:srgbClr val="CA865F"/>
                  </a:gs>
                </a:gsLst>
                <a:lin ang="2700000" scaled="1"/>
              </a:gradFill>
              <a:latin typeface="Roboto" panose="02000000000000000000"/>
            </a:endParaRPr>
          </a:p>
        </p:txBody>
      </p:sp>
      <p:grpSp>
        <p:nvGrpSpPr>
          <p:cNvPr id="38" name="组合 37"/>
          <p:cNvGrpSpPr/>
          <p:nvPr/>
        </p:nvGrpSpPr>
        <p:grpSpPr>
          <a:xfrm>
            <a:off x="2147597" y="1226118"/>
            <a:ext cx="1667719" cy="4524315"/>
            <a:chOff x="1987941" y="979896"/>
            <a:chExt cx="1667719" cy="4524315"/>
          </a:xfrm>
        </p:grpSpPr>
        <p:sp>
          <p:nvSpPr>
            <p:cNvPr id="39" name="文本框 38"/>
            <p:cNvSpPr txBox="1"/>
            <p:nvPr/>
          </p:nvSpPr>
          <p:spPr>
            <a:xfrm>
              <a:off x="2547664" y="979896"/>
              <a:ext cx="1107996" cy="4524315"/>
            </a:xfrm>
            <a:prstGeom prst="rect">
              <a:avLst/>
            </a:prstGeom>
            <a:noFill/>
          </p:spPr>
          <p:txBody>
            <a:bodyPr wrap="none" rtlCol="0">
              <a:spAutoFit/>
            </a:bodyPr>
            <a:lstStyle/>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汇</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报</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提</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纲</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p:txBody>
        </p:sp>
        <p:sp>
          <p:nvSpPr>
            <p:cNvPr id="40" name="文本框 39"/>
            <p:cNvSpPr txBox="1"/>
            <p:nvPr/>
          </p:nvSpPr>
          <p:spPr>
            <a:xfrm>
              <a:off x="1987941" y="2161966"/>
              <a:ext cx="738664" cy="3133636"/>
            </a:xfrm>
            <a:prstGeom prst="rect">
              <a:avLst/>
            </a:prstGeom>
            <a:noFill/>
            <a:ln>
              <a:noFill/>
            </a:ln>
          </p:spPr>
          <p:txBody>
            <a:bodyPr vert="eaVert" wrap="square" rtlCol="0">
              <a:spAutoFit/>
            </a:bodyPr>
            <a:lstStyle/>
            <a:p>
              <a:pPr algn="dist"/>
              <a:r>
                <a:rPr lang="en-US" altLang="zh-CN" sz="3600" dirty="0">
                  <a:ln>
                    <a:solidFill>
                      <a:schemeClr val="accent1">
                        <a:alpha val="20000"/>
                      </a:schemeClr>
                    </a:solidFill>
                  </a:ln>
                  <a:noFill/>
                  <a:latin typeface="思源黑体 CN Heavy" panose="020B0A00000000000000" pitchFamily="34" charset="-122"/>
                  <a:ea typeface="思源黑体 CN Heavy" panose="020B0A00000000000000" pitchFamily="34" charset="-122"/>
                </a:rPr>
                <a:t>contents</a:t>
              </a:r>
              <a:endParaRPr lang="zh-CN" altLang="en-US" sz="3600" dirty="0">
                <a:ln>
                  <a:solidFill>
                    <a:schemeClr val="accent1">
                      <a:alpha val="20000"/>
                    </a:schemeClr>
                  </a:solidFill>
                </a:ln>
                <a:noFill/>
                <a:latin typeface="思源黑体 CN Heavy" panose="020B0A00000000000000" pitchFamily="34" charset="-122"/>
                <a:ea typeface="思源黑体 CN Heavy" panose="020B0A00000000000000" pitchFamily="34" charset="-122"/>
              </a:endParaRPr>
            </a:p>
          </p:txBody>
        </p:sp>
      </p:grpSp>
      <p:sp>
        <p:nvSpPr>
          <p:cNvPr id="61" name="Rounded Rectangle 60"/>
          <p:cNvSpPr/>
          <p:nvPr/>
        </p:nvSpPr>
        <p:spPr>
          <a:xfrm>
            <a:off x="4645152" y="1133856"/>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55464" y="1252728"/>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01</a:t>
            </a:r>
          </a:p>
        </p:txBody>
      </p:sp>
      <p:cxnSp>
        <p:nvCxnSpPr>
          <p:cNvPr id="63" name="Connector 62"/>
          <p:cNvCxnSpPr/>
          <p:nvPr/>
        </p:nvCxnSpPr>
        <p:spPr>
          <a:xfrm>
            <a:off x="5550408" y="1335024"/>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733288" y="1243584"/>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研究背景</a:t>
            </a:r>
          </a:p>
        </p:txBody>
      </p:sp>
      <p:sp>
        <p:nvSpPr>
          <p:cNvPr id="65" name="Rounded Rectangle 64"/>
          <p:cNvSpPr/>
          <p:nvPr/>
        </p:nvSpPr>
        <p:spPr>
          <a:xfrm>
            <a:off x="4645152" y="2103120"/>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855464" y="2221991"/>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02</a:t>
            </a:r>
          </a:p>
        </p:txBody>
      </p:sp>
      <p:cxnSp>
        <p:nvCxnSpPr>
          <p:cNvPr id="67" name="Connector 66"/>
          <p:cNvCxnSpPr/>
          <p:nvPr/>
        </p:nvCxnSpPr>
        <p:spPr>
          <a:xfrm>
            <a:off x="5550408" y="2304288"/>
            <a:ext cx="0" cy="338327"/>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733288" y="2212848"/>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研究内容</a:t>
            </a:r>
          </a:p>
        </p:txBody>
      </p:sp>
      <p:sp>
        <p:nvSpPr>
          <p:cNvPr id="69" name="Rounded Rectangle 68"/>
          <p:cNvSpPr/>
          <p:nvPr/>
        </p:nvSpPr>
        <p:spPr>
          <a:xfrm>
            <a:off x="4645152" y="3072384"/>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5464" y="3191256"/>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03</a:t>
            </a:r>
          </a:p>
        </p:txBody>
      </p:sp>
      <p:cxnSp>
        <p:nvCxnSpPr>
          <p:cNvPr id="71" name="Connector 70"/>
          <p:cNvCxnSpPr/>
          <p:nvPr/>
        </p:nvCxnSpPr>
        <p:spPr>
          <a:xfrm>
            <a:off x="5550408" y="3273552"/>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733288" y="3182112"/>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主要技术路线</a:t>
            </a:r>
          </a:p>
        </p:txBody>
      </p:sp>
      <p:sp>
        <p:nvSpPr>
          <p:cNvPr id="73" name="Rounded Rectangle 72"/>
          <p:cNvSpPr/>
          <p:nvPr/>
        </p:nvSpPr>
        <p:spPr>
          <a:xfrm>
            <a:off x="4645152" y="4041648"/>
            <a:ext cx="6345936" cy="749808"/>
          </a:xfrm>
          <a:prstGeom prst="roundRect">
            <a:avLst>
              <a:gd name="adj" fmla="val 6000"/>
            </a:avLst>
          </a:prstGeom>
          <a:solidFill>
            <a:srgbClr val="FFFFFF"/>
          </a:solidFill>
          <a:ln w="7620">
            <a:solidFill>
              <a:srgbClr val="CBD5E8"/>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55464" y="4160520"/>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04</a:t>
            </a:r>
          </a:p>
        </p:txBody>
      </p:sp>
      <p:cxnSp>
        <p:nvCxnSpPr>
          <p:cNvPr id="75" name="Connector 74"/>
          <p:cNvCxnSpPr/>
          <p:nvPr/>
        </p:nvCxnSpPr>
        <p:spPr>
          <a:xfrm>
            <a:off x="5550408" y="4242816"/>
            <a:ext cx="0" cy="338328"/>
          </a:xfrm>
          <a:prstGeom prst="line">
            <a:avLst/>
          </a:prstGeom>
          <a:ln w="12700">
            <a:solidFill>
              <a:srgbClr val="002FA8"/>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733288" y="4151376"/>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创新点</a:t>
            </a:r>
          </a:p>
        </p:txBody>
      </p:sp>
      <p:sp>
        <p:nvSpPr>
          <p:cNvPr id="77" name="Rounded Rectangle 76"/>
          <p:cNvSpPr/>
          <p:nvPr/>
        </p:nvSpPr>
        <p:spPr>
          <a:xfrm>
            <a:off x="4645152" y="5010912"/>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855464" y="5129784"/>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05</a:t>
            </a:r>
          </a:p>
        </p:txBody>
      </p:sp>
      <p:cxnSp>
        <p:nvCxnSpPr>
          <p:cNvPr id="79" name="Connector 78"/>
          <p:cNvCxnSpPr/>
          <p:nvPr/>
        </p:nvCxnSpPr>
        <p:spPr>
          <a:xfrm>
            <a:off x="5550408" y="5212080"/>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733288" y="5120640"/>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时间安排</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9" name="TextBox 8"/>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4.1</a:t>
            </a:r>
          </a:p>
        </p:txBody>
      </p:sp>
      <p:sp>
        <p:nvSpPr>
          <p:cNvPr id="10" name="TextBox 9"/>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800" b="1" lang="zh-CN">
                <a:solidFill>
                  <a:srgbClr val="002FA8"/>
                </a:solidFill>
                <a:latin typeface="Noto Sans CJK SC"/>
                <a:ea typeface="Noto Sans CJK SC"/>
                <a:cs typeface="Noto Sans CJK SC"/>
              </a:rPr>
              <a:t>创新点一：SAC-DWA自适应局部规划</a:t>
            </a:r>
          </a:p>
        </p:txBody>
      </p:sp>
      <p:sp>
        <p:nvSpPr>
          <p:cNvPr id="11" name="Rectangle 10"/>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000" b="0" lang="zh-CN">
                <a:solidFill>
                  <a:srgbClr val="002FA8"/>
                </a:solidFill>
                <a:latin typeface="Noto Sans CJK SC"/>
                <a:ea typeface="Noto Sans CJK SC"/>
                <a:cs typeface="Noto Sans CJK SC"/>
              </a:rPr>
              <a:t>围绕“动态环境怎么走”，建立环境状态与DWA规划参数之间的非线性映射。</a:t>
            </a:r>
          </a:p>
        </p:txBody>
      </p:sp>
      <p:sp>
        <p:nvSpPr>
          <p:cNvPr id="14" name="Rectangle 13"/>
          <p:cNvSpPr/>
          <p:nvPr/>
        </p:nvSpPr>
        <p:spPr>
          <a:xfrm>
            <a:off x="402336" y="1920240"/>
            <a:ext cx="3758184" cy="247802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5488" y="1993392"/>
            <a:ext cx="3611880"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016252"/>
            <a:ext cx="3502152"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现有不足</a:t>
            </a:r>
          </a:p>
        </p:txBody>
      </p:sp>
      <p:sp>
        <p:nvSpPr>
          <p:cNvPr id="17" name="TextBox 16"/>
          <p:cNvSpPr txBox="1"/>
          <p:nvPr/>
        </p:nvSpPr>
        <p:spPr>
          <a:xfrm>
            <a:off x="667512" y="2651760"/>
            <a:ext cx="3246120" cy="1481328"/>
          </a:xfrm>
          <a:prstGeom prst="rect">
            <a:avLst/>
          </a:prstGeom>
          <a:noFill/>
        </p:spPr>
        <p:txBody>
          <a:bodyPr wrap="square" lIns="18288" rIns="18288" tIns="18288" bIns="18288" anchor="t">
            <a:noAutofit/>
          </a:bodyPr>
          <a:lstStyle/>
          <a:p>
            <a:pPr algn="l" marL="0" indent="0">
              <a:lnSpc>
                <a:spcPct val="140000"/>
              </a:lnSpc>
              <a:spcBef>
                <a:spcPts val="0"/>
              </a:spcBef>
              <a:spcAft>
                <a:spcPts val="0"/>
              </a:spcAft>
              <a:buNone/>
            </a:pPr>
            <a:r>
              <a:rPr sz="1900" b="0" lang="zh-CN">
                <a:solidFill>
                  <a:srgbClr val="232D41"/>
                </a:solidFill>
                <a:latin typeface="Noto Sans CJK SC"/>
                <a:ea typeface="Noto Sans CJK SC"/>
                <a:cs typeface="Noto Sans CJK SC"/>
              </a:rPr>
              <a:t>• 传统DWA参数固定</a:t>
            </a:r>
          </a:p>
          <a:p>
            <a:pPr algn="l" marL="0" indent="0">
              <a:lnSpc>
                <a:spcPct val="140000"/>
              </a:lnSpc>
              <a:spcBef>
                <a:spcPts val="0"/>
              </a:spcBef>
              <a:spcAft>
                <a:spcPts val="0"/>
              </a:spcAft>
              <a:buNone/>
            </a:pPr>
            <a:r>
              <a:rPr sz="1900" b="0" lang="zh-CN">
                <a:solidFill>
                  <a:srgbClr val="232D41"/>
                </a:solidFill>
                <a:latin typeface="Noto Sans CJK SC"/>
                <a:ea typeface="Noto Sans CJK SC"/>
                <a:cs typeface="Noto Sans CJK SC"/>
              </a:rPr>
              <a:t>• 人工经验依赖强</a:t>
            </a:r>
          </a:p>
          <a:p>
            <a:pPr algn="l" marL="0" indent="0">
              <a:lnSpc>
                <a:spcPct val="140000"/>
              </a:lnSpc>
              <a:spcBef>
                <a:spcPts val="0"/>
              </a:spcBef>
              <a:spcAft>
                <a:spcPts val="0"/>
              </a:spcAft>
              <a:buNone/>
            </a:pPr>
            <a:r>
              <a:rPr sz="1900" b="0" lang="zh-CN">
                <a:solidFill>
                  <a:srgbClr val="232D41"/>
                </a:solidFill>
                <a:latin typeface="Noto Sans CJK SC"/>
                <a:ea typeface="Noto Sans CJK SC"/>
                <a:cs typeface="Noto Sans CJK SC"/>
              </a:rPr>
              <a:t>• 动态障碍下易急停 / 振荡</a:t>
            </a:r>
          </a:p>
          <a:p>
            <a:pPr algn="l" marL="0" indent="0">
              <a:lnSpc>
                <a:spcPct val="140000"/>
              </a:lnSpc>
              <a:spcBef>
                <a:spcPts val="0"/>
              </a:spcBef>
              <a:spcAft>
                <a:spcPts val="0"/>
              </a:spcAft>
              <a:buNone/>
            </a:pPr>
            <a:r>
              <a:rPr sz="1900" b="0" lang="zh-CN">
                <a:solidFill>
                  <a:srgbClr val="232D41"/>
                </a:solidFill>
                <a:latin typeface="Noto Sans CJK SC"/>
                <a:ea typeface="Noto Sans CJK SC"/>
                <a:cs typeface="Noto Sans CJK SC"/>
              </a:rPr>
              <a:t>• 安全与效率难以兼顾</a:t>
            </a:r>
          </a:p>
        </p:txBody>
      </p:sp>
      <p:sp>
        <p:nvSpPr>
          <p:cNvPr id="18" name="Right Arrow 17"/>
          <p:cNvSpPr/>
          <p:nvPr/>
        </p:nvSpPr>
        <p:spPr>
          <a:xfrm>
            <a:off x="4361688" y="3008376"/>
            <a:ext cx="566928" cy="329184"/>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20640" y="1920240"/>
            <a:ext cx="6665976" cy="247802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93792" y="1993392"/>
            <a:ext cx="6519672"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5" y="2016252"/>
            <a:ext cx="6409944"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拟提出的方法</a:t>
            </a:r>
          </a:p>
        </p:txBody>
      </p:sp>
      <p:sp>
        <p:nvSpPr>
          <p:cNvPr id="22" name="TextBox 21"/>
          <p:cNvSpPr txBox="1"/>
          <p:nvPr/>
        </p:nvSpPr>
        <p:spPr>
          <a:xfrm>
            <a:off x="5394960" y="2642616"/>
            <a:ext cx="6117336" cy="310896"/>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2100" b="1" lang="zh-CN">
                <a:solidFill>
                  <a:srgbClr val="002FA8"/>
                </a:solidFill>
                <a:latin typeface="Noto Sans CJK SC"/>
                <a:ea typeface="Noto Sans CJK SC"/>
                <a:cs typeface="Noto Sans CJK SC"/>
              </a:rPr>
              <a:t>环境状态 sₜ → DWA参数自适应</a:t>
            </a:r>
          </a:p>
        </p:txBody>
      </p:sp>
      <p:sp>
        <p:nvSpPr>
          <p:cNvPr id="23" name="TextBox 22"/>
          <p:cNvSpPr txBox="1"/>
          <p:nvPr/>
        </p:nvSpPr>
        <p:spPr>
          <a:xfrm>
            <a:off x="5413248" y="3191256"/>
            <a:ext cx="6071616" cy="356616"/>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2400" b="1" lang="zh-CN">
                <a:solidFill>
                  <a:srgbClr val="002FA8"/>
                </a:solidFill>
                <a:latin typeface="Noto Sans CJK SC"/>
                <a:ea typeface="Noto Sans CJK SC"/>
                <a:cs typeface="Noto Sans CJK SC"/>
              </a:rPr>
              <a:t>[αₜ, βₜ, γₜ, v_max,t] = πθ(sₜ)</a:t>
            </a:r>
          </a:p>
        </p:txBody>
      </p:sp>
      <p:sp>
        <p:nvSpPr>
          <p:cNvPr id="24" name="TextBox 23"/>
          <p:cNvSpPr txBox="1"/>
          <p:nvPr/>
        </p:nvSpPr>
        <p:spPr>
          <a:xfrm>
            <a:off x="5431536" y="3739896"/>
            <a:ext cx="6025896" cy="438912"/>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900" b="0" lang="zh-CN">
                <a:solidFill>
                  <a:srgbClr val="232D41"/>
                </a:solidFill>
                <a:latin typeface="Noto Sans CJK SC"/>
                <a:ea typeface="Noto Sans CJK SC"/>
                <a:cs typeface="Noto Sans CJK SC"/>
              </a:rPr>
              <a:t>结合障碍距离、TTC与平滑性奖励，实现规划策略在线自适应。</a:t>
            </a:r>
          </a:p>
        </p:txBody>
      </p:sp>
      <p:sp>
        <p:nvSpPr>
          <p:cNvPr id="25" name="Rectangle 24"/>
          <p:cNvSpPr/>
          <p:nvPr/>
        </p:nvSpPr>
        <p:spPr>
          <a:xfrm>
            <a:off x="402336" y="4672584"/>
            <a:ext cx="11384280" cy="1051560"/>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 y="4745736"/>
            <a:ext cx="1123797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4768596"/>
            <a:ext cx="11128248"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预期提升</a:t>
            </a:r>
          </a:p>
        </p:txBody>
      </p:sp>
      <p:sp>
        <p:nvSpPr>
          <p:cNvPr id="28" name="TextBox 27"/>
          <p:cNvSpPr txBox="1"/>
          <p:nvPr/>
        </p:nvSpPr>
        <p:spPr>
          <a:xfrm>
            <a:off x="658368" y="5303520"/>
            <a:ext cx="10890504" cy="274320"/>
          </a:xfrm>
          <a:prstGeom prst="rect">
            <a:avLst/>
          </a:prstGeom>
          <a:noFill/>
        </p:spPr>
        <p:txBody>
          <a:bodyPr wrap="square" lIns="18288" rIns="18288" tIns="18288" bIns="18288" anchor="t">
            <a:noAutofit/>
          </a:bodyPr>
          <a:lstStyle/>
          <a:p>
            <a:pPr algn="ctr"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成功率 ↑　｜　碰撞率 ↓　｜　导航时间 ↓　｜　轨迹振荡 ↓　｜　动态环境适应性 ↑</a:t>
            </a:r>
          </a:p>
        </p:txBody>
      </p:sp>
      <p:sp>
        <p:nvSpPr>
          <p:cNvPr id="29" name="Rectangle 28"/>
          <p:cNvSpPr/>
          <p:nvPr/>
        </p:nvSpPr>
        <p:spPr>
          <a:xfrm>
            <a:off x="384048" y="6035040"/>
            <a:ext cx="11430000" cy="512064"/>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216" y="6099048"/>
            <a:ext cx="11018520" cy="38404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0" lang="zh-CN">
                <a:solidFill>
                  <a:srgbClr val="FFFFFF"/>
                </a:solidFill>
                <a:latin typeface="Noto Sans CJK SC"/>
                <a:ea typeface="Noto Sans CJK SC"/>
                <a:cs typeface="Noto Sans CJK SC"/>
              </a:rPr>
              <a:t>强调“学习调参”，保留DWA的工程约束与可解释性，便于实车部署。</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9" name="TextBox 8"/>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4.2</a:t>
            </a:r>
          </a:p>
        </p:txBody>
      </p:sp>
      <p:sp>
        <p:nvSpPr>
          <p:cNvPr id="10" name="TextBox 9"/>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700" b="1" lang="zh-CN">
                <a:solidFill>
                  <a:srgbClr val="002FA8"/>
                </a:solidFill>
                <a:latin typeface="Noto Sans CJK SC"/>
                <a:ea typeface="Noto Sans CJK SC"/>
                <a:cs typeface="Noto Sans CJK SC"/>
              </a:rPr>
              <a:t>创新点二：视觉与DWA协同自主进出梯</a:t>
            </a:r>
          </a:p>
        </p:txBody>
      </p:sp>
      <p:sp>
        <p:nvSpPr>
          <p:cNvPr id="11" name="Rectangle 10"/>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000" b="0" lang="zh-CN">
                <a:solidFill>
                  <a:srgbClr val="002FA8"/>
                </a:solidFill>
                <a:latin typeface="Noto Sans CJK SC"/>
                <a:ea typeface="Noto Sans CJK SC"/>
                <a:cs typeface="Noto Sans CJK SC"/>
              </a:rPr>
              <a:t>围绕“跨楼层怎么走”，构建视觉语义感知、乘梯状态决策与低速规划协同机制。</a:t>
            </a:r>
          </a:p>
        </p:txBody>
      </p:sp>
      <p:sp>
        <p:nvSpPr>
          <p:cNvPr id="14" name="Rectangle 13"/>
          <p:cNvSpPr/>
          <p:nvPr/>
        </p:nvSpPr>
        <p:spPr>
          <a:xfrm>
            <a:off x="402336" y="2011680"/>
            <a:ext cx="3566160" cy="224942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5488" y="2084832"/>
            <a:ext cx="341985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107692"/>
            <a:ext cx="3310128"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视觉语义感知</a:t>
            </a:r>
          </a:p>
        </p:txBody>
      </p:sp>
      <p:sp>
        <p:nvSpPr>
          <p:cNvPr id="17" name="TextBox 16"/>
          <p:cNvSpPr txBox="1"/>
          <p:nvPr/>
        </p:nvSpPr>
        <p:spPr>
          <a:xfrm>
            <a:off x="649224" y="2770632"/>
            <a:ext cx="3081528" cy="1170432"/>
          </a:xfrm>
          <a:prstGeom prst="rect">
            <a:avLst/>
          </a:prstGeom>
          <a:noFill/>
        </p:spPr>
        <p:txBody>
          <a:bodyPr wrap="square" lIns="18288" rIns="18288" tIns="18288" bIns="18288" anchor="t">
            <a:noAutofit/>
          </a:bodyPr>
          <a:lstStyle/>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电梯门检测</a:t>
            </a:r>
          </a:p>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开 / 关 / 过渡状态</a:t>
            </a:r>
          </a:p>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门口行人 / 障碍判断</a:t>
            </a:r>
          </a:p>
        </p:txBody>
      </p:sp>
      <p:sp>
        <p:nvSpPr>
          <p:cNvPr id="18" name="Rectangle 17"/>
          <p:cNvSpPr/>
          <p:nvPr/>
        </p:nvSpPr>
        <p:spPr>
          <a:xfrm>
            <a:off x="4297680" y="2011680"/>
            <a:ext cx="3566160" cy="224942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2084832"/>
            <a:ext cx="341985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25696" y="2107692"/>
            <a:ext cx="3310128"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乘梯状态决策</a:t>
            </a:r>
          </a:p>
        </p:txBody>
      </p:sp>
      <p:sp>
        <p:nvSpPr>
          <p:cNvPr id="21" name="TextBox 20"/>
          <p:cNvSpPr txBox="1"/>
          <p:nvPr/>
        </p:nvSpPr>
        <p:spPr>
          <a:xfrm>
            <a:off x="4544568" y="2770632"/>
            <a:ext cx="3081528" cy="1170432"/>
          </a:xfrm>
          <a:prstGeom prst="rect">
            <a:avLst/>
          </a:prstGeom>
          <a:noFill/>
        </p:spPr>
        <p:txBody>
          <a:bodyPr wrap="square" lIns="18288" rIns="18288" tIns="18288" bIns="18288" anchor="t">
            <a:noAutofit/>
          </a:bodyPr>
          <a:lstStyle/>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等待</a:t>
            </a:r>
          </a:p>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进入条件确认</a:t>
            </a:r>
          </a:p>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进梯 / 驻停 / 出梯</a:t>
            </a:r>
          </a:p>
        </p:txBody>
      </p:sp>
      <p:sp>
        <p:nvSpPr>
          <p:cNvPr id="22" name="Rectangle 21"/>
          <p:cNvSpPr/>
          <p:nvPr/>
        </p:nvSpPr>
        <p:spPr>
          <a:xfrm>
            <a:off x="8193024" y="2011680"/>
            <a:ext cx="3566160" cy="224942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66176" y="2084832"/>
            <a:ext cx="3419856"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2107692"/>
            <a:ext cx="3310128"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DWA局部规划协同</a:t>
            </a:r>
          </a:p>
        </p:txBody>
      </p:sp>
      <p:sp>
        <p:nvSpPr>
          <p:cNvPr id="25" name="TextBox 24"/>
          <p:cNvSpPr txBox="1"/>
          <p:nvPr/>
        </p:nvSpPr>
        <p:spPr>
          <a:xfrm>
            <a:off x="8439912" y="2770632"/>
            <a:ext cx="3081528" cy="1170432"/>
          </a:xfrm>
          <a:prstGeom prst="rect">
            <a:avLst/>
          </a:prstGeom>
          <a:noFill/>
        </p:spPr>
        <p:txBody>
          <a:bodyPr wrap="square" lIns="18288" rIns="18288" tIns="18288" bIns="18288" anchor="t">
            <a:noAutofit/>
          </a:bodyPr>
          <a:lstStyle/>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局部目标点生成</a:t>
            </a:r>
          </a:p>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低速参数切换</a:t>
            </a:r>
          </a:p>
          <a:p>
            <a:pPr algn="ctr" marL="0" indent="0">
              <a:lnSpc>
                <a:spcPct val="145000"/>
              </a:lnSpc>
              <a:spcBef>
                <a:spcPts val="0"/>
              </a:spcBef>
              <a:spcAft>
                <a:spcPts val="0"/>
              </a:spcAft>
              <a:buNone/>
            </a:pPr>
            <a:r>
              <a:rPr sz="2000" b="0" lang="zh-CN">
                <a:solidFill>
                  <a:srgbClr val="232D41"/>
                </a:solidFill>
                <a:latin typeface="Noto Sans CJK SC"/>
                <a:ea typeface="Noto Sans CJK SC"/>
                <a:cs typeface="Noto Sans CJK SC"/>
              </a:rPr>
              <a:t>安全进出梯</a:t>
            </a:r>
          </a:p>
        </p:txBody>
      </p:sp>
      <p:sp>
        <p:nvSpPr>
          <p:cNvPr id="26" name="Right Arrow 25"/>
          <p:cNvSpPr/>
          <p:nvPr/>
        </p:nvSpPr>
        <p:spPr>
          <a:xfrm>
            <a:off x="4005072" y="3017520"/>
            <a:ext cx="246888" cy="256032"/>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7900416" y="3017520"/>
            <a:ext cx="246888" cy="256032"/>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4626864"/>
            <a:ext cx="11338560" cy="941832"/>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4782312"/>
            <a:ext cx="10817352" cy="630936"/>
          </a:xfrm>
          <a:prstGeom prst="rect">
            <a:avLst/>
          </a:prstGeom>
          <a:noFill/>
        </p:spPr>
        <p:txBody>
          <a:bodyPr wrap="square" lIns="18288" rIns="18288" tIns="18288" bIns="18288" anchor="ctr">
            <a:noAutofit/>
          </a:bodyPr>
          <a:lstStyle/>
          <a:p>
            <a:pPr algn="ctr" marL="0" indent="0">
              <a:lnSpc>
                <a:spcPct val="125000"/>
              </a:lnSpc>
              <a:spcBef>
                <a:spcPts val="0"/>
              </a:spcBef>
              <a:spcAft>
                <a:spcPts val="0"/>
              </a:spcAft>
              <a:buNone/>
            </a:pPr>
            <a:r>
              <a:rPr sz="2000" b="1" lang="zh-CN">
                <a:solidFill>
                  <a:srgbClr val="002FA8"/>
                </a:solidFill>
                <a:latin typeface="Noto Sans CJK SC"/>
                <a:ea typeface="Noto Sans CJK SC"/>
                <a:cs typeface="Noto Sans CJK SC"/>
              </a:rPr>
              <a:t>创新重点：视觉语义 → 状态决策 → 局部目标 → DWA低速规划</a:t>
            </a:r>
          </a:p>
          <a:p>
            <a:pPr algn="ctr" marL="0" indent="0">
              <a:lnSpc>
                <a:spcPct val="125000"/>
              </a:lnSpc>
              <a:spcBef>
                <a:spcPts val="0"/>
              </a:spcBef>
              <a:spcAft>
                <a:spcPts val="0"/>
              </a:spcAft>
              <a:buNone/>
            </a:pPr>
            <a:r>
              <a:rPr sz="2000" b="1" lang="zh-CN">
                <a:solidFill>
                  <a:srgbClr val="002FA8"/>
                </a:solidFill>
                <a:latin typeface="Noto Sans CJK SC"/>
                <a:ea typeface="Noto Sans CJK SC"/>
                <a:cs typeface="Noto Sans CJK SC"/>
              </a:rPr>
              <a:t>建立各模块之间的协同机制。</a:t>
            </a:r>
          </a:p>
        </p:txBody>
      </p:sp>
      <p:sp>
        <p:nvSpPr>
          <p:cNvPr id="30" name="Rectangle 29"/>
          <p:cNvSpPr/>
          <p:nvPr/>
        </p:nvSpPr>
        <p:spPr>
          <a:xfrm>
            <a:off x="384048" y="6016752"/>
            <a:ext cx="11430000" cy="530352"/>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5216" y="6080760"/>
            <a:ext cx="11018520" cy="402335"/>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100" b="0" lang="zh-CN">
                <a:solidFill>
                  <a:srgbClr val="FFFFFF"/>
                </a:solidFill>
                <a:latin typeface="Noto Sans CJK SC"/>
                <a:ea typeface="Noto Sans CJK SC"/>
                <a:cs typeface="Noto Sans CJK SC"/>
              </a:rPr>
              <a:t>预期形成面向真实多楼层室内环境的连续自主导航能力。</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9" name="TextBox 8"/>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3.6</a:t>
            </a:r>
          </a:p>
        </p:txBody>
      </p:sp>
      <p:sp>
        <p:nvSpPr>
          <p:cNvPr id="10" name="TextBox 9"/>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1" lang="zh-CN">
                <a:solidFill>
                  <a:srgbClr val="002FA8"/>
                </a:solidFill>
                <a:latin typeface="Noto Sans CJK SC"/>
                <a:ea typeface="Noto Sans CJK SC"/>
                <a:cs typeface="Noto Sans CJK SC"/>
              </a:rPr>
              <a:t>实验设计与验证方案</a:t>
            </a:r>
          </a:p>
        </p:txBody>
      </p:sp>
      <p:sp>
        <p:nvSpPr>
          <p:cNvPr id="11" name="Rectangle 10"/>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100" b="0" lang="zh-CN">
                <a:solidFill>
                  <a:srgbClr val="002FA8"/>
                </a:solidFill>
                <a:latin typeface="Noto Sans CJK SC"/>
                <a:ea typeface="Noto Sans CJK SC"/>
                <a:cs typeface="Noto Sans CJK SC"/>
              </a:rPr>
              <a:t>通过基线对比与消融实验，验证SAC-DWA与视觉进出梯模块的有效性。</a:t>
            </a:r>
          </a:p>
        </p:txBody>
      </p:sp>
      <p:sp>
        <p:nvSpPr>
          <p:cNvPr id="14" name="Rectangle 13"/>
          <p:cNvSpPr/>
          <p:nvPr/>
        </p:nvSpPr>
        <p:spPr>
          <a:xfrm>
            <a:off x="402336" y="1938528"/>
            <a:ext cx="3621024" cy="266090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5488" y="2011680"/>
            <a:ext cx="3474720"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034540"/>
            <a:ext cx="3364991"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对比方法</a:t>
            </a:r>
          </a:p>
        </p:txBody>
      </p:sp>
      <p:sp>
        <p:nvSpPr>
          <p:cNvPr id="17" name="TextBox 16"/>
          <p:cNvSpPr txBox="1"/>
          <p:nvPr/>
        </p:nvSpPr>
        <p:spPr>
          <a:xfrm>
            <a:off x="649224" y="2679192"/>
            <a:ext cx="3136392" cy="1664208"/>
          </a:xfrm>
          <a:prstGeom prst="rect">
            <a:avLst/>
          </a:prstGeom>
          <a:noFill/>
        </p:spPr>
        <p:txBody>
          <a:bodyPr wrap="square" lIns="18288" rIns="18288" tIns="18288" bIns="18288" anchor="t">
            <a:noAutofit/>
          </a:bodyPr>
          <a:lstStyle/>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传统DWA</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本文SAC-DWA</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a:r>
          </a:p>
          <a:p>
            <a:pPr algn="l" marL="0" indent="0">
              <a:lnSpc>
                <a:spcPct val="110000"/>
              </a:lnSpc>
              <a:spcBef>
                <a:spcPts val="0"/>
              </a:spcBef>
              <a:spcAft>
                <a:spcPts val="0"/>
              </a:spcAft>
              <a:buNone/>
            </a:pPr>
            <a:r>
              <a:rPr sz="1800" b="0" lang="zh-CN">
                <a:solidFill>
                  <a:srgbClr val="232D41"/>
                </a:solidFill>
                <a:latin typeface="Noto Sans CJK SC"/>
                <a:ea typeface="Noto Sans CJK SC"/>
                <a:cs typeface="Noto Sans CJK SC"/>
              </a:rPr>
              <a:t>• SAC直接控制（可选）</a:t>
            </a:r>
          </a:p>
        </p:txBody>
      </p:sp>
      <p:sp>
        <p:nvSpPr>
          <p:cNvPr id="18" name="Rectangle 17"/>
          <p:cNvSpPr/>
          <p:nvPr/>
        </p:nvSpPr>
        <p:spPr>
          <a:xfrm>
            <a:off x="4279392" y="1938528"/>
            <a:ext cx="3621024" cy="266090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2544" y="2011680"/>
            <a:ext cx="3474720"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7407" y="2034540"/>
            <a:ext cx="3364991"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实验场景</a:t>
            </a:r>
          </a:p>
        </p:txBody>
      </p:sp>
      <p:sp>
        <p:nvSpPr>
          <p:cNvPr id="21" name="TextBox 20"/>
          <p:cNvSpPr txBox="1"/>
          <p:nvPr/>
        </p:nvSpPr>
        <p:spPr>
          <a:xfrm>
            <a:off x="4526280" y="2679192"/>
            <a:ext cx="3136392" cy="1636776"/>
          </a:xfrm>
          <a:prstGeom prst="rect">
            <a:avLst/>
          </a:prstGeom>
          <a:noFill/>
        </p:spPr>
        <p:txBody>
          <a:bodyPr wrap="square" lIns="18288" rIns="18288" tIns="18288" bIns="18288" anchor="t">
            <a:noAutofit/>
          </a:bodyPr>
          <a:lstStyle/>
          <a:p>
            <a:pPr algn="l" marL="0" indent="0">
              <a:lnSpc>
                <a:spcPct val="125000"/>
              </a:lnSpc>
              <a:spcBef>
                <a:spcPts val="0"/>
              </a:spcBef>
              <a:spcAft>
                <a:spcPts val="0"/>
              </a:spcAft>
              <a:buNone/>
            </a:pPr>
            <a:r>
              <a:rPr sz="1900" b="0" lang="zh-CN">
                <a:solidFill>
                  <a:srgbClr val="232D41"/>
                </a:solidFill>
                <a:latin typeface="Noto Sans CJK SC"/>
                <a:ea typeface="Noto Sans CJK SC"/>
                <a:cs typeface="Noto Sans CJK SC"/>
              </a:rPr>
              <a:t>静态障碍</a:t>
            </a:r>
          </a:p>
          <a:p>
            <a:pPr algn="l" marL="0" indent="0">
              <a:lnSpc>
                <a:spcPct val="125000"/>
              </a:lnSpc>
              <a:spcBef>
                <a:spcPts val="0"/>
              </a:spcBef>
              <a:spcAft>
                <a:spcPts val="0"/>
              </a:spcAft>
              <a:buNone/>
            </a:pPr>
            <a:r>
              <a:rPr sz="1900" b="0" lang="zh-CN">
                <a:solidFill>
                  <a:srgbClr val="232D41"/>
                </a:solidFill>
                <a:latin typeface="Noto Sans CJK SC"/>
                <a:ea typeface="Noto Sans CJK SC"/>
                <a:cs typeface="Noto Sans CJK SC"/>
              </a:rPr>
              <a:t>单行人横穿</a:t>
            </a:r>
          </a:p>
          <a:p>
            <a:pPr algn="l" marL="0" indent="0">
              <a:lnSpc>
                <a:spcPct val="125000"/>
              </a:lnSpc>
              <a:spcBef>
                <a:spcPts val="0"/>
              </a:spcBef>
              <a:spcAft>
                <a:spcPts val="0"/>
              </a:spcAft>
              <a:buNone/>
            </a:pPr>
            <a:r>
              <a:rPr sz="1900" b="0" lang="zh-CN">
                <a:solidFill>
                  <a:srgbClr val="232D41"/>
                </a:solidFill>
                <a:latin typeface="Noto Sans CJK SC"/>
                <a:ea typeface="Noto Sans CJK SC"/>
                <a:cs typeface="Noto Sans CJK SC"/>
              </a:rPr>
              <a:t>多动态障碍</a:t>
            </a:r>
          </a:p>
          <a:p>
            <a:pPr algn="l" marL="0" indent="0">
              <a:lnSpc>
                <a:spcPct val="125000"/>
              </a:lnSpc>
              <a:spcBef>
                <a:spcPts val="0"/>
              </a:spcBef>
              <a:spcAft>
                <a:spcPts val="0"/>
              </a:spcAft>
              <a:buNone/>
            </a:pPr>
            <a:r>
              <a:rPr sz="1900" b="0" lang="zh-CN">
                <a:solidFill>
                  <a:srgbClr val="232D41"/>
                </a:solidFill>
                <a:latin typeface="Noto Sans CJK SC"/>
                <a:ea typeface="Noto Sans CJK SC"/>
                <a:cs typeface="Noto Sans CJK SC"/>
              </a:rPr>
              <a:t>狭窄通道</a:t>
            </a:r>
          </a:p>
          <a:p>
            <a:pPr algn="l" marL="0" indent="0">
              <a:lnSpc>
                <a:spcPct val="125000"/>
              </a:lnSpc>
              <a:spcBef>
                <a:spcPts val="0"/>
              </a:spcBef>
              <a:spcAft>
                <a:spcPts val="0"/>
              </a:spcAft>
              <a:buNone/>
            </a:pPr>
            <a:r>
              <a:rPr sz="1900" b="0" lang="zh-CN">
                <a:solidFill>
                  <a:srgbClr val="232D41"/>
                </a:solidFill>
                <a:latin typeface="Noto Sans CJK SC"/>
                <a:ea typeface="Noto Sans CJK SC"/>
                <a:cs typeface="Noto Sans CJK SC"/>
              </a:rPr>
              <a:t>电梯进出</a:t>
            </a:r>
          </a:p>
        </p:txBody>
      </p:sp>
      <p:sp>
        <p:nvSpPr>
          <p:cNvPr id="22" name="Rectangle 21"/>
          <p:cNvSpPr/>
          <p:nvPr/>
        </p:nvSpPr>
        <p:spPr>
          <a:xfrm>
            <a:off x="8156448" y="1938528"/>
            <a:ext cx="3621024" cy="266090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2011680"/>
            <a:ext cx="3474720" cy="402336"/>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84464" y="2034540"/>
            <a:ext cx="3364991" cy="33832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1" lang="zh-CN">
                <a:solidFill>
                  <a:srgbClr val="FFFFFF"/>
                </a:solidFill>
                <a:latin typeface="Noto Sans CJK SC"/>
                <a:ea typeface="Noto Sans CJK SC"/>
                <a:cs typeface="Noto Sans CJK SC"/>
              </a:rPr>
              <a:t>评价指标</a:t>
            </a:r>
          </a:p>
        </p:txBody>
      </p:sp>
      <p:sp>
        <p:nvSpPr>
          <p:cNvPr id="25" name="TextBox 24"/>
          <p:cNvSpPr txBox="1"/>
          <p:nvPr/>
        </p:nvSpPr>
        <p:spPr>
          <a:xfrm>
            <a:off x="8394192" y="2679192"/>
            <a:ext cx="3136392" cy="1636776"/>
          </a:xfrm>
          <a:prstGeom prst="rect">
            <a:avLst/>
          </a:prstGeom>
          <a:noFill/>
        </p:spPr>
        <p:txBody>
          <a:bodyPr wrap="square" lIns="18288" rIns="18288" tIns="18288" bIns="18288" anchor="t">
            <a:noAutofit/>
          </a:bodyPr>
          <a:lstStyle/>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导航成功率 / 碰撞率</a:t>
            </a:r>
          </a:p>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平均耗时 / 路径长度</a:t>
            </a:r>
          </a:p>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最小障碍距离</a:t>
            </a:r>
          </a:p>
          <a:p>
            <a:pPr algn="l" marL="0" indent="0">
              <a:lnSpc>
                <a:spcPct val="135000"/>
              </a:lnSpc>
              <a:spcBef>
                <a:spcPts val="0"/>
              </a:spcBef>
              <a:spcAft>
                <a:spcPts val="0"/>
              </a:spcAft>
              <a:buNone/>
            </a:pPr>
            <a:r>
              <a:rPr sz="1800" b="0" lang="zh-CN">
                <a:solidFill>
                  <a:srgbClr val="232D41"/>
                </a:solidFill>
                <a:latin typeface="Noto Sans CJK SC"/>
                <a:ea typeface="Noto Sans CJK SC"/>
                <a:cs typeface="Noto Sans CJK SC"/>
              </a:rPr>
              <a:t>速度与角速度平滑性</a:t>
            </a:r>
          </a:p>
        </p:txBody>
      </p:sp>
      <p:sp>
        <p:nvSpPr>
          <p:cNvPr id="26" name="Rectangle 25"/>
          <p:cNvSpPr/>
          <p:nvPr/>
        </p:nvSpPr>
        <p:spPr>
          <a:xfrm>
            <a:off x="457200" y="4974336"/>
            <a:ext cx="2002536" cy="576072"/>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5029200"/>
            <a:ext cx="1856231" cy="46634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环境搭建</a:t>
            </a:r>
          </a:p>
        </p:txBody>
      </p:sp>
      <p:sp>
        <p:nvSpPr>
          <p:cNvPr id="28" name="Right Arrow 27"/>
          <p:cNvSpPr/>
          <p:nvPr/>
        </p:nvSpPr>
        <p:spPr>
          <a:xfrm>
            <a:off x="2496312" y="5175504"/>
            <a:ext cx="210312" cy="164592"/>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61488" y="4974336"/>
            <a:ext cx="2002536" cy="576072"/>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34640" y="5029200"/>
            <a:ext cx="1856231" cy="46634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算法训练</a:t>
            </a:r>
          </a:p>
        </p:txBody>
      </p:sp>
      <p:sp>
        <p:nvSpPr>
          <p:cNvPr id="31" name="Right Arrow 30"/>
          <p:cNvSpPr/>
          <p:nvPr/>
        </p:nvSpPr>
        <p:spPr>
          <a:xfrm>
            <a:off x="4800600" y="5175504"/>
            <a:ext cx="210312" cy="164592"/>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65776" y="4974336"/>
            <a:ext cx="2002536" cy="576072"/>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38928" y="5029200"/>
            <a:ext cx="1856231" cy="46634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动态避障测试</a:t>
            </a:r>
          </a:p>
        </p:txBody>
      </p:sp>
      <p:sp>
        <p:nvSpPr>
          <p:cNvPr id="34" name="Right Arrow 33"/>
          <p:cNvSpPr/>
          <p:nvPr/>
        </p:nvSpPr>
        <p:spPr>
          <a:xfrm>
            <a:off x="7104888" y="5175504"/>
            <a:ext cx="210312" cy="164592"/>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70064" y="4974336"/>
            <a:ext cx="2002536" cy="576072"/>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43216" y="5029200"/>
            <a:ext cx="1856231" cy="46634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视觉乘梯测试</a:t>
            </a:r>
          </a:p>
        </p:txBody>
      </p:sp>
      <p:sp>
        <p:nvSpPr>
          <p:cNvPr id="37" name="Right Arrow 36"/>
          <p:cNvSpPr/>
          <p:nvPr/>
        </p:nvSpPr>
        <p:spPr>
          <a:xfrm>
            <a:off x="9409176" y="5175504"/>
            <a:ext cx="210312" cy="164592"/>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674352" y="4974336"/>
            <a:ext cx="2002536" cy="576072"/>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47504" y="5029200"/>
            <a:ext cx="1856231" cy="46634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1" lang="zh-CN">
                <a:solidFill>
                  <a:srgbClr val="002FA8"/>
                </a:solidFill>
                <a:latin typeface="Noto Sans CJK SC"/>
                <a:ea typeface="Noto Sans CJK SC"/>
                <a:cs typeface="Noto Sans CJK SC"/>
              </a:rPr>
              <a:t>系统集成</a:t>
            </a:r>
          </a:p>
        </p:txBody>
      </p:sp>
      <p:sp>
        <p:nvSpPr>
          <p:cNvPr id="40" name="Rectangle 39"/>
          <p:cNvSpPr/>
          <p:nvPr/>
        </p:nvSpPr>
        <p:spPr>
          <a:xfrm>
            <a:off x="384048" y="5943600"/>
            <a:ext cx="11430000" cy="548640"/>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5216" y="6007608"/>
            <a:ext cx="11018520" cy="420623"/>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800" b="0" lang="zh-CN">
                <a:solidFill>
                  <a:srgbClr val="FFFFFF"/>
                </a:solidFill>
                <a:latin typeface="Noto Sans CJK SC"/>
                <a:ea typeface="Noto Sans CJK SC"/>
                <a:cs typeface="Noto Sans CJK SC"/>
              </a:rPr>
              <a:t>消融重点：验证动态权重、TTC奖励和平滑性奖励对导航安全与稳定性的贡献。</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rotWithShape="1">
          <a:blip r:embed="rId1">
            <a:alphaModFix amt="15000"/>
          </a:blip>
          <a:srcRect t="2152" b="44416"/>
          <a:stretch>
            <a:fillRect/>
          </a:stretch>
        </p:blipFill>
        <p:spPr>
          <a:xfrm>
            <a:off x="3" y="0"/>
            <a:ext cx="12191997" cy="2728686"/>
          </a:xfrm>
          <a:prstGeom prst="rect">
            <a:avLst/>
          </a:prstGeom>
        </p:spPr>
      </p:pic>
      <p:pic>
        <p:nvPicPr>
          <p:cNvPr id="60" name="图片 59"/>
          <p:cNvPicPr>
            <a:picLocks noChangeAspect="1"/>
          </p:cNvPicPr>
          <p:nvPr/>
        </p:nvPicPr>
        <p:blipFill rotWithShape="1">
          <a:blip r:embed="rId2"/>
          <a:srcRect l="36895" r="29736"/>
          <a:stretch>
            <a:fillRect/>
          </a:stretch>
        </p:blipFill>
        <p:spPr>
          <a:xfrm>
            <a:off x="317" y="1143000"/>
            <a:ext cx="4068319" cy="5715000"/>
          </a:xfrm>
          <a:custGeom>
            <a:avLst/>
            <a:gdLst>
              <a:gd name="connsiteX0" fmla="*/ 0 w 4068319"/>
              <a:gd name="connsiteY0" fmla="*/ 0 h 5715000"/>
              <a:gd name="connsiteX1" fmla="*/ 4068319 w 4068319"/>
              <a:gd name="connsiteY1" fmla="*/ 0 h 5715000"/>
              <a:gd name="connsiteX2" fmla="*/ 4068319 w 4068319"/>
              <a:gd name="connsiteY2" fmla="*/ 5715000 h 5715000"/>
              <a:gd name="connsiteX3" fmla="*/ 0 w 4068319"/>
              <a:gd name="connsiteY3" fmla="*/ 5715000 h 5715000"/>
            </a:gdLst>
            <a:ahLst/>
            <a:cxnLst>
              <a:cxn ang="0">
                <a:pos x="connsiteX0" y="connsiteY0"/>
              </a:cxn>
              <a:cxn ang="0">
                <a:pos x="connsiteX1" y="connsiteY1"/>
              </a:cxn>
              <a:cxn ang="0">
                <a:pos x="connsiteX2" y="connsiteY2"/>
              </a:cxn>
              <a:cxn ang="0">
                <a:pos x="connsiteX3" y="connsiteY3"/>
              </a:cxn>
            </a:cxnLst>
            <a:rect l="l" t="t" r="r" b="b"/>
            <a:pathLst>
              <a:path w="4068319" h="5715000">
                <a:moveTo>
                  <a:pt x="0" y="0"/>
                </a:moveTo>
                <a:lnTo>
                  <a:pt x="4068319" y="0"/>
                </a:lnTo>
                <a:lnTo>
                  <a:pt x="4068319" y="5715000"/>
                </a:lnTo>
                <a:lnTo>
                  <a:pt x="0" y="5715000"/>
                </a:lnTo>
                <a:close/>
              </a:path>
            </a:pathLst>
          </a:custGeom>
        </p:spPr>
      </p:pic>
      <p:sp>
        <p:nvSpPr>
          <p:cNvPr id="36" name="矩形 35"/>
          <p:cNvSpPr/>
          <p:nvPr/>
        </p:nvSpPr>
        <p:spPr>
          <a:xfrm>
            <a:off x="-634" y="0"/>
            <a:ext cx="4068953" cy="6858000"/>
          </a:xfrm>
          <a:prstGeom prst="rect">
            <a:avLst/>
          </a:prstGeom>
          <a:gradFill>
            <a:gsLst>
              <a:gs pos="0">
                <a:schemeClr val="accent1">
                  <a:alpha val="80000"/>
                </a:schemeClr>
              </a:gs>
              <a:gs pos="88000">
                <a:schemeClr val="accent1"/>
              </a:gs>
            </a:gsLst>
            <a:lin ang="16200000" scaled="1"/>
          </a:gra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rgbClr val="F2F2F2"/>
              </a:solidFill>
            </a:endParaRPr>
          </a:p>
        </p:txBody>
      </p:sp>
      <p:sp>
        <p:nvSpPr>
          <p:cNvPr id="37" name="矩形: 圆角 36"/>
          <p:cNvSpPr/>
          <p:nvPr/>
        </p:nvSpPr>
        <p:spPr>
          <a:xfrm>
            <a:off x="1651001" y="902667"/>
            <a:ext cx="10071100" cy="5171217"/>
          </a:xfrm>
          <a:prstGeom prst="roundRect">
            <a:avLst>
              <a:gd name="adj" fmla="val 1931"/>
            </a:avLst>
          </a:prstGeom>
          <a:solidFill>
            <a:schemeClr val="bg1"/>
          </a:solidFill>
          <a:ln w="12700" cap="flat" cmpd="sng" algn="ctr">
            <a:noFill/>
            <a:prstDash val="solid"/>
            <a:miter lim="800000"/>
          </a:ln>
          <a:effectLst>
            <a:outerShdw blurRad="127000" dist="38100" dir="5400000" algn="t" rotWithShape="0">
              <a:schemeClr val="accent1">
                <a:alpha val="5000"/>
              </a:schemeClr>
            </a:outerShdw>
          </a:effectLst>
        </p:spPr>
        <p:txBody>
          <a:bodyPr rtlCol="0" anchor="ctr"/>
          <a:lstStyle/>
          <a:p>
            <a:pPr algn="ctr"/>
            <a:endParaRPr lang="zh-CN" altLang="en-US" sz="1200" kern="0">
              <a:gradFill>
                <a:gsLst>
                  <a:gs pos="0">
                    <a:srgbClr val="CA865F">
                      <a:lumMod val="60000"/>
                      <a:lumOff val="40000"/>
                    </a:srgbClr>
                  </a:gs>
                  <a:gs pos="100000">
                    <a:srgbClr val="CA865F"/>
                  </a:gs>
                </a:gsLst>
                <a:lin ang="2700000" scaled="1"/>
              </a:gradFill>
              <a:latin typeface="Roboto" panose="02000000000000000000"/>
            </a:endParaRPr>
          </a:p>
        </p:txBody>
      </p:sp>
      <p:grpSp>
        <p:nvGrpSpPr>
          <p:cNvPr id="38" name="组合 37"/>
          <p:cNvGrpSpPr/>
          <p:nvPr/>
        </p:nvGrpSpPr>
        <p:grpSpPr>
          <a:xfrm>
            <a:off x="2147597" y="1226118"/>
            <a:ext cx="1667719" cy="4524315"/>
            <a:chOff x="1987941" y="979896"/>
            <a:chExt cx="1667719" cy="4524315"/>
          </a:xfrm>
        </p:grpSpPr>
        <p:sp>
          <p:nvSpPr>
            <p:cNvPr id="39" name="文本框 38"/>
            <p:cNvSpPr txBox="1"/>
            <p:nvPr/>
          </p:nvSpPr>
          <p:spPr>
            <a:xfrm>
              <a:off x="2547664" y="979896"/>
              <a:ext cx="1107996" cy="4524315"/>
            </a:xfrm>
            <a:prstGeom prst="rect">
              <a:avLst/>
            </a:prstGeom>
            <a:noFill/>
          </p:spPr>
          <p:txBody>
            <a:bodyPr wrap="none" rtlCol="0">
              <a:spAutoFit/>
            </a:bodyPr>
            <a:lstStyle/>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汇</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报</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提</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a:p>
              <a:r>
                <a:rPr lang="zh-CN" altLang="en-US"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rPr>
                <a:t>纲</a:t>
              </a:r>
              <a:endParaRPr lang="en-US" altLang="zh-CN" sz="7200" dirty="0">
                <a:solidFill>
                  <a:schemeClr val="accent1"/>
                </a:solidFill>
                <a:effectLst>
                  <a:outerShdw blurRad="38100" dist="38100" dir="2700000" algn="tl">
                    <a:schemeClr val="accent1">
                      <a:lumMod val="50000"/>
                      <a:alpha val="13000"/>
                    </a:schemeClr>
                  </a:outerShdw>
                </a:effectLst>
                <a:latin typeface="思源宋体 CN Heavy" panose="02020900000000000000" pitchFamily="18" charset="-122"/>
                <a:ea typeface="思源宋体 CN Heavy" panose="02020900000000000000" pitchFamily="18" charset="-122"/>
              </a:endParaRPr>
            </a:p>
          </p:txBody>
        </p:sp>
        <p:sp>
          <p:nvSpPr>
            <p:cNvPr id="40" name="文本框 39"/>
            <p:cNvSpPr txBox="1"/>
            <p:nvPr/>
          </p:nvSpPr>
          <p:spPr>
            <a:xfrm>
              <a:off x="1987941" y="2161966"/>
              <a:ext cx="738664" cy="3133636"/>
            </a:xfrm>
            <a:prstGeom prst="rect">
              <a:avLst/>
            </a:prstGeom>
            <a:noFill/>
            <a:ln>
              <a:noFill/>
            </a:ln>
          </p:spPr>
          <p:txBody>
            <a:bodyPr vert="eaVert" wrap="square" rtlCol="0">
              <a:spAutoFit/>
            </a:bodyPr>
            <a:lstStyle/>
            <a:p>
              <a:pPr algn="dist"/>
              <a:r>
                <a:rPr lang="en-US" altLang="zh-CN" sz="3600" dirty="0">
                  <a:ln>
                    <a:solidFill>
                      <a:schemeClr val="accent1">
                        <a:alpha val="20000"/>
                      </a:schemeClr>
                    </a:solidFill>
                  </a:ln>
                  <a:noFill/>
                  <a:latin typeface="思源黑体 CN Heavy" panose="020B0A00000000000000" pitchFamily="34" charset="-122"/>
                  <a:ea typeface="思源黑体 CN Heavy" panose="020B0A00000000000000" pitchFamily="34" charset="-122"/>
                </a:rPr>
                <a:t>contents</a:t>
              </a:r>
              <a:endParaRPr lang="zh-CN" altLang="en-US" sz="3600" dirty="0">
                <a:ln>
                  <a:solidFill>
                    <a:schemeClr val="accent1">
                      <a:alpha val="20000"/>
                    </a:schemeClr>
                  </a:solidFill>
                </a:ln>
                <a:noFill/>
                <a:latin typeface="思源黑体 CN Heavy" panose="020B0A00000000000000" pitchFamily="34" charset="-122"/>
                <a:ea typeface="思源黑体 CN Heavy" panose="020B0A00000000000000" pitchFamily="34" charset="-122"/>
              </a:endParaRPr>
            </a:p>
          </p:txBody>
        </p:sp>
      </p:grpSp>
      <p:sp>
        <p:nvSpPr>
          <p:cNvPr id="61" name="Rounded Rectangle 60"/>
          <p:cNvSpPr/>
          <p:nvPr/>
        </p:nvSpPr>
        <p:spPr>
          <a:xfrm>
            <a:off x="4645152" y="1133856"/>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55464" y="1252728"/>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01</a:t>
            </a:r>
          </a:p>
        </p:txBody>
      </p:sp>
      <p:cxnSp>
        <p:nvCxnSpPr>
          <p:cNvPr id="63" name="Connector 62"/>
          <p:cNvCxnSpPr/>
          <p:nvPr/>
        </p:nvCxnSpPr>
        <p:spPr>
          <a:xfrm>
            <a:off x="5550408" y="1335024"/>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733288" y="1243584"/>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研究背景</a:t>
            </a:r>
          </a:p>
        </p:txBody>
      </p:sp>
      <p:sp>
        <p:nvSpPr>
          <p:cNvPr id="65" name="Rounded Rectangle 64"/>
          <p:cNvSpPr/>
          <p:nvPr/>
        </p:nvSpPr>
        <p:spPr>
          <a:xfrm>
            <a:off x="4645152" y="2103120"/>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855464" y="2221991"/>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02</a:t>
            </a:r>
          </a:p>
        </p:txBody>
      </p:sp>
      <p:cxnSp>
        <p:nvCxnSpPr>
          <p:cNvPr id="67" name="Connector 66"/>
          <p:cNvCxnSpPr/>
          <p:nvPr/>
        </p:nvCxnSpPr>
        <p:spPr>
          <a:xfrm>
            <a:off x="5550408" y="2304288"/>
            <a:ext cx="0" cy="338327"/>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733288" y="2212848"/>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研究内容</a:t>
            </a:r>
          </a:p>
        </p:txBody>
      </p:sp>
      <p:sp>
        <p:nvSpPr>
          <p:cNvPr id="69" name="Rounded Rectangle 68"/>
          <p:cNvSpPr/>
          <p:nvPr/>
        </p:nvSpPr>
        <p:spPr>
          <a:xfrm>
            <a:off x="4645152" y="3072384"/>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5464" y="3191256"/>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03</a:t>
            </a:r>
          </a:p>
        </p:txBody>
      </p:sp>
      <p:cxnSp>
        <p:nvCxnSpPr>
          <p:cNvPr id="71" name="Connector 70"/>
          <p:cNvCxnSpPr/>
          <p:nvPr/>
        </p:nvCxnSpPr>
        <p:spPr>
          <a:xfrm>
            <a:off x="5550408" y="3273552"/>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733288" y="3182112"/>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主要技术路线</a:t>
            </a:r>
          </a:p>
        </p:txBody>
      </p:sp>
      <p:sp>
        <p:nvSpPr>
          <p:cNvPr id="73" name="Rounded Rectangle 72"/>
          <p:cNvSpPr/>
          <p:nvPr/>
        </p:nvSpPr>
        <p:spPr>
          <a:xfrm>
            <a:off x="4645152" y="4041648"/>
            <a:ext cx="6345936" cy="749808"/>
          </a:xfrm>
          <a:prstGeom prst="roundRect">
            <a:avLst>
              <a:gd name="adj" fmla="val 6000"/>
            </a:avLst>
          </a:prstGeom>
          <a:solidFill>
            <a:srgbClr val="FFFFFF"/>
          </a:solidFill>
          <a:ln w="7620">
            <a:solidFill>
              <a:srgbClr val="E2E6EF"/>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55464" y="4160520"/>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04</a:t>
            </a:r>
          </a:p>
        </p:txBody>
      </p:sp>
      <p:cxnSp>
        <p:nvCxnSpPr>
          <p:cNvPr id="75" name="Connector 74"/>
          <p:cNvCxnSpPr/>
          <p:nvPr/>
        </p:nvCxnSpPr>
        <p:spPr>
          <a:xfrm>
            <a:off x="5550408" y="4242816"/>
            <a:ext cx="0" cy="338328"/>
          </a:xfrm>
          <a:prstGeom prst="line">
            <a:avLst/>
          </a:prstGeom>
          <a:ln w="12700">
            <a:solidFill>
              <a:srgbClr val="CBD1DC"/>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733288" y="4151376"/>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0" lang="zh-CN">
                <a:solidFill>
                  <a:srgbClr val="BFC6D0"/>
                </a:solidFill>
                <a:latin typeface="Noto Sans CJK SC"/>
                <a:ea typeface="Noto Sans CJK SC"/>
                <a:cs typeface="Noto Sans CJK SC"/>
              </a:rPr>
              <a:t>创新点</a:t>
            </a:r>
          </a:p>
        </p:txBody>
      </p:sp>
      <p:sp>
        <p:nvSpPr>
          <p:cNvPr id="77" name="Rounded Rectangle 76"/>
          <p:cNvSpPr/>
          <p:nvPr/>
        </p:nvSpPr>
        <p:spPr>
          <a:xfrm>
            <a:off x="4645152" y="5010912"/>
            <a:ext cx="6345936" cy="749808"/>
          </a:xfrm>
          <a:prstGeom prst="roundRect">
            <a:avLst>
              <a:gd name="adj" fmla="val 6000"/>
            </a:avLst>
          </a:prstGeom>
          <a:solidFill>
            <a:srgbClr val="FFFFFF"/>
          </a:solidFill>
          <a:ln w="7620">
            <a:solidFill>
              <a:srgbClr val="CBD5E8"/>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855464" y="5129784"/>
            <a:ext cx="576072" cy="45720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05</a:t>
            </a:r>
          </a:p>
        </p:txBody>
      </p:sp>
      <p:cxnSp>
        <p:nvCxnSpPr>
          <p:cNvPr id="79" name="Connector 78"/>
          <p:cNvCxnSpPr/>
          <p:nvPr/>
        </p:nvCxnSpPr>
        <p:spPr>
          <a:xfrm>
            <a:off x="5550408" y="5212080"/>
            <a:ext cx="0" cy="338328"/>
          </a:xfrm>
          <a:prstGeom prst="line">
            <a:avLst/>
          </a:prstGeom>
          <a:ln w="12700">
            <a:solidFill>
              <a:srgbClr val="002FA8"/>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733288" y="5120640"/>
            <a:ext cx="4946904" cy="48463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500" b="1" lang="zh-CN">
                <a:solidFill>
                  <a:srgbClr val="002FA8"/>
                </a:solidFill>
                <a:latin typeface="Noto Sans CJK SC"/>
                <a:ea typeface="Noto Sans CJK SC"/>
                <a:cs typeface="Noto Sans CJK SC"/>
              </a:rPr>
              <a:t>时间安排</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4000" y="665339"/>
            <a:ext cx="11484000" cy="65705"/>
            <a:chOff x="208948" y="646179"/>
            <a:chExt cx="8680259" cy="115737"/>
          </a:xfrm>
        </p:grpSpPr>
        <p:sp>
          <p:nvSpPr>
            <p:cNvPr id="3" name="梯形 2"/>
            <p:cNvSpPr/>
            <p:nvPr/>
          </p:nvSpPr>
          <p:spPr>
            <a:xfrm flipV="1">
              <a:off x="312833" y="646179"/>
              <a:ext cx="8472488" cy="79141"/>
            </a:xfrm>
            <a:prstGeom prst="trapezoid">
              <a:avLst>
                <a:gd name="adj" fmla="val 61106"/>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HelveticaExt-Normal"/>
                <a:ea typeface="OPPOSans B"/>
              </a:endParaRPr>
            </a:p>
          </p:txBody>
        </p:sp>
        <p:sp>
          <p:nvSpPr>
            <p:cNvPr id="4" name="梯形 3"/>
            <p:cNvSpPr/>
            <p:nvPr/>
          </p:nvSpPr>
          <p:spPr>
            <a:xfrm flipV="1">
              <a:off x="208948" y="682775"/>
              <a:ext cx="8680259" cy="79141"/>
            </a:xfrm>
            <a:prstGeom prst="trapezoid">
              <a:avLst>
                <a:gd name="adj" fmla="val 611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83"/>
          <p:cNvPicPr>
            <a:picLocks noChangeAspect="1"/>
          </p:cNvPicPr>
          <p:nvPr/>
        </p:nvPicPr>
        <p:blipFill>
          <a:blip r:embed="rId1">
            <a:extLst>
              <a:ext uri="{96DAC541-7B7A-43D3-8B79-37D633B846F1}">
                <asvg:svgBlip xmlns:asvg="http://schemas.microsoft.com/office/drawing/2016/SVG/main" r:embed="rId2"/>
              </a:ext>
            </a:extLst>
          </a:blip>
          <a:srcRect/>
          <a:stretch>
            <a:fillRect/>
          </a:stretch>
        </p:blipFill>
        <p:spPr>
          <a:xfrm>
            <a:off x="10032400" y="125408"/>
            <a:ext cx="1786483" cy="524294"/>
          </a:xfrm>
          <a:prstGeom prst="rect">
            <a:avLst/>
          </a:prstGeom>
        </p:spPr>
      </p:pic>
      <p:sp>
        <p:nvSpPr>
          <p:cNvPr id="9" name="TextBox 8"/>
          <p:cNvSpPr txBox="1"/>
          <p:nvPr/>
        </p:nvSpPr>
        <p:spPr>
          <a:xfrm>
            <a:off x="265176" y="73152"/>
            <a:ext cx="704088"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0" lang="zh-CN">
                <a:solidFill>
                  <a:srgbClr val="002FA8"/>
                </a:solidFill>
                <a:latin typeface="Noto Sans CJK SC"/>
                <a:ea typeface="Noto Sans CJK SC"/>
                <a:cs typeface="Noto Sans CJK SC"/>
              </a:rPr>
              <a:t>5.1</a:t>
            </a:r>
          </a:p>
        </p:txBody>
      </p:sp>
      <p:sp>
        <p:nvSpPr>
          <p:cNvPr id="10" name="TextBox 9"/>
          <p:cNvSpPr txBox="1"/>
          <p:nvPr/>
        </p:nvSpPr>
        <p:spPr>
          <a:xfrm>
            <a:off x="1042415" y="73152"/>
            <a:ext cx="8686800" cy="512064"/>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900" b="1" lang="zh-CN">
                <a:solidFill>
                  <a:srgbClr val="002FA8"/>
                </a:solidFill>
                <a:latin typeface="Noto Sans CJK SC"/>
                <a:ea typeface="Noto Sans CJK SC"/>
                <a:cs typeface="Noto Sans CJK SC"/>
              </a:rPr>
              <a:t>研究计划与预期成果</a:t>
            </a:r>
          </a:p>
        </p:txBody>
      </p:sp>
      <p:sp>
        <p:nvSpPr>
          <p:cNvPr id="11" name="Rectangle 10"/>
          <p:cNvSpPr/>
          <p:nvPr/>
        </p:nvSpPr>
        <p:spPr>
          <a:xfrm>
            <a:off x="374904" y="914400"/>
            <a:ext cx="11448288" cy="786384"/>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4632" y="1115568"/>
            <a:ext cx="228600" cy="182880"/>
          </a:xfrm>
          <a:prstGeom prst="rightArrow">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014984"/>
            <a:ext cx="10753344" cy="59436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2100" b="0" lang="zh-CN">
                <a:solidFill>
                  <a:srgbClr val="002FA8"/>
                </a:solidFill>
                <a:latin typeface="Noto Sans CJK SC"/>
                <a:ea typeface="Noto Sans CJK SC"/>
                <a:cs typeface="Noto Sans CJK SC"/>
              </a:rPr>
              <a:t>从平台搭建、算法训练、视觉乘梯到系统集成，逐步完成论文研究。</a:t>
            </a:r>
          </a:p>
        </p:txBody>
      </p:sp>
      <p:sp>
        <p:nvSpPr>
          <p:cNvPr id="14" name="Rectangle 13"/>
          <p:cNvSpPr/>
          <p:nvPr/>
        </p:nvSpPr>
        <p:spPr>
          <a:xfrm>
            <a:off x="402336" y="1920240"/>
            <a:ext cx="11384280" cy="612648"/>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336" y="1920240"/>
            <a:ext cx="1078992" cy="612648"/>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2020824"/>
            <a:ext cx="932688" cy="41148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FFFFFF"/>
                </a:solidFill>
                <a:latin typeface="Noto Sans CJK SC"/>
                <a:ea typeface="Noto Sans CJK SC"/>
                <a:cs typeface="Noto Sans CJK SC"/>
              </a:rPr>
              <a:t>阶段1</a:t>
            </a:r>
          </a:p>
        </p:txBody>
      </p:sp>
      <p:sp>
        <p:nvSpPr>
          <p:cNvPr id="17" name="TextBox 16"/>
          <p:cNvSpPr txBox="1"/>
          <p:nvPr/>
        </p:nvSpPr>
        <p:spPr>
          <a:xfrm>
            <a:off x="1673352" y="2039112"/>
            <a:ext cx="2075688" cy="39319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平台与基线</a:t>
            </a:r>
          </a:p>
        </p:txBody>
      </p:sp>
      <p:cxnSp>
        <p:nvCxnSpPr>
          <p:cNvPr id="18" name="Connector 17"/>
          <p:cNvCxnSpPr/>
          <p:nvPr/>
        </p:nvCxnSpPr>
        <p:spPr>
          <a:xfrm>
            <a:off x="3886200" y="2039112"/>
            <a:ext cx="0" cy="384048"/>
          </a:xfrm>
          <a:prstGeom prst="line">
            <a:avLst/>
          </a:prstGeom>
          <a:ln w="12700">
            <a:solidFill>
              <a:srgbClr val="C6D1E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87368" y="2020824"/>
            <a:ext cx="7415783" cy="41148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800" b="0" lang="zh-CN">
                <a:solidFill>
                  <a:srgbClr val="232D41"/>
                </a:solidFill>
                <a:latin typeface="Noto Sans CJK SC"/>
                <a:ea typeface="Noto Sans CJK SC"/>
                <a:cs typeface="Noto Sans CJK SC"/>
              </a:rPr>
              <a:t>完成ROS/ROS2导航平台、DWA基线与动态场景搭建</a:t>
            </a:r>
          </a:p>
        </p:txBody>
      </p:sp>
      <p:sp>
        <p:nvSpPr>
          <p:cNvPr id="20" name="Rectangle 19"/>
          <p:cNvSpPr/>
          <p:nvPr/>
        </p:nvSpPr>
        <p:spPr>
          <a:xfrm>
            <a:off x="402336" y="2651760"/>
            <a:ext cx="11384280" cy="612648"/>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2336" y="2651760"/>
            <a:ext cx="1078992" cy="612648"/>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2752344"/>
            <a:ext cx="932688" cy="41148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FFFFFF"/>
                </a:solidFill>
                <a:latin typeface="Noto Sans CJK SC"/>
                <a:ea typeface="Noto Sans CJK SC"/>
                <a:cs typeface="Noto Sans CJK SC"/>
              </a:rPr>
              <a:t>阶段2</a:t>
            </a:r>
          </a:p>
        </p:txBody>
      </p:sp>
      <p:sp>
        <p:nvSpPr>
          <p:cNvPr id="23" name="TextBox 22"/>
          <p:cNvSpPr txBox="1"/>
          <p:nvPr/>
        </p:nvSpPr>
        <p:spPr>
          <a:xfrm>
            <a:off x="1673352" y="2770632"/>
            <a:ext cx="2075688" cy="39319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SAC-DWA算法</a:t>
            </a:r>
          </a:p>
        </p:txBody>
      </p:sp>
      <p:cxnSp>
        <p:nvCxnSpPr>
          <p:cNvPr id="24" name="Connector 23"/>
          <p:cNvCxnSpPr/>
          <p:nvPr/>
        </p:nvCxnSpPr>
        <p:spPr>
          <a:xfrm>
            <a:off x="3886200" y="2770632"/>
            <a:ext cx="0" cy="384048"/>
          </a:xfrm>
          <a:prstGeom prst="line">
            <a:avLst/>
          </a:prstGeom>
          <a:ln w="12700">
            <a:solidFill>
              <a:srgbClr val="C6D1E9"/>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087368" y="2752344"/>
            <a:ext cx="7415783" cy="41148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800" b="0" lang="zh-CN">
                <a:solidFill>
                  <a:srgbClr val="232D41"/>
                </a:solidFill>
                <a:latin typeface="Noto Sans CJK SC"/>
                <a:ea typeface="Noto Sans CJK SC"/>
                <a:cs typeface="Noto Sans CJK SC"/>
              </a:rPr>
              <a:t>完成状态 / 动作 / 奖励设计、训练与动态参数自适应实验</a:t>
            </a:r>
          </a:p>
        </p:txBody>
      </p:sp>
      <p:sp>
        <p:nvSpPr>
          <p:cNvPr id="26" name="Rectangle 25"/>
          <p:cNvSpPr/>
          <p:nvPr/>
        </p:nvSpPr>
        <p:spPr>
          <a:xfrm>
            <a:off x="402336" y="3383280"/>
            <a:ext cx="11384280" cy="612648"/>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02336" y="3383280"/>
            <a:ext cx="1078992" cy="612648"/>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3483864"/>
            <a:ext cx="932688" cy="41148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FFFFFF"/>
                </a:solidFill>
                <a:latin typeface="Noto Sans CJK SC"/>
                <a:ea typeface="Noto Sans CJK SC"/>
                <a:cs typeface="Noto Sans CJK SC"/>
              </a:rPr>
              <a:t>阶段3</a:t>
            </a:r>
          </a:p>
        </p:txBody>
      </p:sp>
      <p:sp>
        <p:nvSpPr>
          <p:cNvPr id="29" name="TextBox 28"/>
          <p:cNvSpPr txBox="1"/>
          <p:nvPr/>
        </p:nvSpPr>
        <p:spPr>
          <a:xfrm>
            <a:off x="1673352" y="3502152"/>
            <a:ext cx="2075688" cy="39319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视觉乘梯模块</a:t>
            </a:r>
          </a:p>
        </p:txBody>
      </p:sp>
      <p:cxnSp>
        <p:nvCxnSpPr>
          <p:cNvPr id="30" name="Connector 29"/>
          <p:cNvCxnSpPr/>
          <p:nvPr/>
        </p:nvCxnSpPr>
        <p:spPr>
          <a:xfrm>
            <a:off x="3886200" y="3502152"/>
            <a:ext cx="0" cy="384048"/>
          </a:xfrm>
          <a:prstGeom prst="line">
            <a:avLst/>
          </a:prstGeom>
          <a:ln w="12700">
            <a:solidFill>
              <a:srgbClr val="C6D1E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087368" y="3483864"/>
            <a:ext cx="7415783" cy="41148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800" b="0" lang="zh-CN">
                <a:solidFill>
                  <a:srgbClr val="232D41"/>
                </a:solidFill>
                <a:latin typeface="Noto Sans CJK SC"/>
                <a:ea typeface="Noto Sans CJK SC"/>
                <a:cs typeface="Noto Sans CJK SC"/>
              </a:rPr>
              <a:t>采集电梯数据，训练门状态识别模型，完成乘梯状态机</a:t>
            </a:r>
          </a:p>
        </p:txBody>
      </p:sp>
      <p:sp>
        <p:nvSpPr>
          <p:cNvPr id="32" name="Rectangle 31"/>
          <p:cNvSpPr/>
          <p:nvPr/>
        </p:nvSpPr>
        <p:spPr>
          <a:xfrm>
            <a:off x="402336" y="4114800"/>
            <a:ext cx="11384280" cy="612648"/>
          </a:xfrm>
          <a:prstGeom prst="rect">
            <a:avLst/>
          </a:prstGeom>
          <a:solidFill>
            <a:srgbClr val="F3F6FD"/>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2336" y="4114800"/>
            <a:ext cx="1078992" cy="612648"/>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 y="4215384"/>
            <a:ext cx="932688" cy="41148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FFFFFF"/>
                </a:solidFill>
                <a:latin typeface="Noto Sans CJK SC"/>
                <a:ea typeface="Noto Sans CJK SC"/>
                <a:cs typeface="Noto Sans CJK SC"/>
              </a:rPr>
              <a:t>阶段4</a:t>
            </a:r>
          </a:p>
        </p:txBody>
      </p:sp>
      <p:sp>
        <p:nvSpPr>
          <p:cNvPr id="35" name="TextBox 34"/>
          <p:cNvSpPr txBox="1"/>
          <p:nvPr/>
        </p:nvSpPr>
        <p:spPr>
          <a:xfrm>
            <a:off x="1673352" y="4233672"/>
            <a:ext cx="2075688" cy="39319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系统集成验证</a:t>
            </a:r>
          </a:p>
        </p:txBody>
      </p:sp>
      <p:cxnSp>
        <p:nvCxnSpPr>
          <p:cNvPr id="36" name="Connector 35"/>
          <p:cNvCxnSpPr/>
          <p:nvPr/>
        </p:nvCxnSpPr>
        <p:spPr>
          <a:xfrm>
            <a:off x="3886200" y="4233672"/>
            <a:ext cx="0" cy="384048"/>
          </a:xfrm>
          <a:prstGeom prst="line">
            <a:avLst/>
          </a:prstGeom>
          <a:ln w="12700">
            <a:solidFill>
              <a:srgbClr val="C6D1E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087368" y="4215384"/>
            <a:ext cx="7415783" cy="41148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800" b="0" lang="zh-CN">
                <a:solidFill>
                  <a:srgbClr val="232D41"/>
                </a:solidFill>
                <a:latin typeface="Noto Sans CJK SC"/>
                <a:ea typeface="Noto Sans CJK SC"/>
                <a:cs typeface="Noto Sans CJK SC"/>
              </a:rPr>
              <a:t>完成动态导航与自主进出梯联合实验及消融对比</a:t>
            </a:r>
          </a:p>
        </p:txBody>
      </p:sp>
      <p:sp>
        <p:nvSpPr>
          <p:cNvPr id="38" name="Rectangle 37"/>
          <p:cNvSpPr/>
          <p:nvPr/>
        </p:nvSpPr>
        <p:spPr>
          <a:xfrm>
            <a:off x="402336" y="4846320"/>
            <a:ext cx="11384280" cy="612648"/>
          </a:xfrm>
          <a:prstGeom prst="rect">
            <a:avLst/>
          </a:prstGeom>
          <a:solidFill>
            <a:srgbClr val="FFFFFF"/>
          </a:solidFill>
          <a:ln w="7620">
            <a:solidFill>
              <a:srgbClr val="C6D1E9"/>
            </a:solidFill>
          </a:ln>
          <a:effectLst>
            <a:outerShdw blurRad="65000" dist="19000" dir="5400000" algn="ctr" rotWithShape="0">
              <a:srgbClr val="002FA8">
                <a:alpha val="85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02336" y="4846320"/>
            <a:ext cx="1078992" cy="612648"/>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5488" y="4946904"/>
            <a:ext cx="932688" cy="411480"/>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1" lang="zh-CN">
                <a:solidFill>
                  <a:srgbClr val="FFFFFF"/>
                </a:solidFill>
                <a:latin typeface="Noto Sans CJK SC"/>
                <a:ea typeface="Noto Sans CJK SC"/>
                <a:cs typeface="Noto Sans CJK SC"/>
              </a:rPr>
              <a:t>阶段5</a:t>
            </a:r>
          </a:p>
        </p:txBody>
      </p:sp>
      <p:sp>
        <p:nvSpPr>
          <p:cNvPr id="41" name="TextBox 40"/>
          <p:cNvSpPr txBox="1"/>
          <p:nvPr/>
        </p:nvSpPr>
        <p:spPr>
          <a:xfrm>
            <a:off x="1673352" y="4965192"/>
            <a:ext cx="2075688" cy="393192"/>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900" b="1" lang="zh-CN">
                <a:solidFill>
                  <a:srgbClr val="002FA8"/>
                </a:solidFill>
                <a:latin typeface="Noto Sans CJK SC"/>
                <a:ea typeface="Noto Sans CJK SC"/>
                <a:cs typeface="Noto Sans CJK SC"/>
              </a:rPr>
              <a:t>论文撰写答辩</a:t>
            </a:r>
          </a:p>
        </p:txBody>
      </p:sp>
      <p:cxnSp>
        <p:nvCxnSpPr>
          <p:cNvPr id="42" name="Connector 41"/>
          <p:cNvCxnSpPr/>
          <p:nvPr/>
        </p:nvCxnSpPr>
        <p:spPr>
          <a:xfrm>
            <a:off x="3886200" y="4965192"/>
            <a:ext cx="0" cy="384048"/>
          </a:xfrm>
          <a:prstGeom prst="line">
            <a:avLst/>
          </a:prstGeom>
          <a:ln w="12700">
            <a:solidFill>
              <a:srgbClr val="C6D1E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087368" y="4946904"/>
            <a:ext cx="7415783" cy="411480"/>
          </a:xfrm>
          <a:prstGeom prst="rect">
            <a:avLst/>
          </a:prstGeom>
          <a:noFill/>
        </p:spPr>
        <p:txBody>
          <a:bodyPr wrap="square" lIns="18288" rIns="18288" tIns="18288" bIns="18288" anchor="ctr">
            <a:noAutofit/>
          </a:bodyPr>
          <a:lstStyle/>
          <a:p>
            <a:pPr algn="l" marL="0" indent="0">
              <a:lnSpc>
                <a:spcPct val="112000"/>
              </a:lnSpc>
              <a:spcBef>
                <a:spcPts val="0"/>
              </a:spcBef>
              <a:spcAft>
                <a:spcPts val="0"/>
              </a:spcAft>
              <a:buNone/>
            </a:pPr>
            <a:r>
              <a:rPr sz="1800" b="0" lang="zh-CN">
                <a:solidFill>
                  <a:srgbClr val="232D41"/>
                </a:solidFill>
                <a:latin typeface="Noto Sans CJK SC"/>
                <a:ea typeface="Noto Sans CJK SC"/>
                <a:cs typeface="Noto Sans CJK SC"/>
              </a:rPr>
              <a:t>整理实验结果，完成论文、PPT和答辩材料</a:t>
            </a:r>
          </a:p>
        </p:txBody>
      </p:sp>
      <p:sp>
        <p:nvSpPr>
          <p:cNvPr id="44" name="Rectangle 43"/>
          <p:cNvSpPr/>
          <p:nvPr/>
        </p:nvSpPr>
        <p:spPr>
          <a:xfrm>
            <a:off x="384048" y="5998464"/>
            <a:ext cx="11430000" cy="557784"/>
          </a:xfrm>
          <a:prstGeom prst="rect">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5216" y="6062472"/>
            <a:ext cx="11018520" cy="42976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700" b="0" lang="zh-CN">
                <a:solidFill>
                  <a:srgbClr val="FFFFFF"/>
                </a:solidFill>
                <a:latin typeface="Noto Sans CJK SC"/>
                <a:ea typeface="Noto Sans CJK SC"/>
                <a:cs typeface="Noto Sans CJK SC"/>
              </a:rPr>
              <a:t>预期成果：SAC-DWA自适应局部规划方法 + 视觉自主进出梯模块 + 仿真 / 实车实验 + 学位论文</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室内, 桌子, 风景, 大&#10;&#10;描述已自动生成"/>
          <p:cNvPicPr>
            <a:picLocks noChangeAspect="1"/>
          </p:cNvPicPr>
          <p:nvPr/>
        </p:nvPicPr>
        <p:blipFill rotWithShape="1">
          <a:blip r:embed="rId1">
            <a:extLst>
              <a:ext uri="{28A0092B-C50C-407E-A947-70E740481C1C}">
                <a14:useLocalDpi xmlns:a14="http://schemas.microsoft.com/office/drawing/2010/main" val="0"/>
              </a:ext>
            </a:extLst>
          </a:blip>
          <a:srcRect t="13697" b="10305"/>
          <a:stretch>
            <a:fillRect/>
          </a:stretch>
        </p:blipFill>
        <p:spPr>
          <a:xfrm>
            <a:off x="-1" y="-1"/>
            <a:ext cx="12192000" cy="6680016"/>
          </a:xfrm>
          <a:prstGeom prst="rect">
            <a:avLst/>
          </a:prstGeom>
        </p:spPr>
      </p:pic>
      <p:sp>
        <p:nvSpPr>
          <p:cNvPr id="6" name="矩形 5"/>
          <p:cNvSpPr/>
          <p:nvPr/>
        </p:nvSpPr>
        <p:spPr>
          <a:xfrm>
            <a:off x="-1" y="-1"/>
            <a:ext cx="12192000" cy="6858001"/>
          </a:xfrm>
          <a:prstGeom prst="rect">
            <a:avLst/>
          </a:prstGeom>
          <a:gradFill>
            <a:gsLst>
              <a:gs pos="0">
                <a:schemeClr val="bg1">
                  <a:alpha val="90000"/>
                </a:schemeClr>
              </a:gs>
              <a:gs pos="100000">
                <a:schemeClr val="bg1">
                  <a:alpha val="97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p:cNvSpPr/>
          <p:nvPr/>
        </p:nvSpPr>
        <p:spPr>
          <a:xfrm>
            <a:off x="3078" y="5828145"/>
            <a:ext cx="12185843" cy="1029856"/>
          </a:xfrm>
          <a:custGeom>
            <a:avLst/>
            <a:gdLst>
              <a:gd name="connsiteX0" fmla="*/ 9144000 w 9144000"/>
              <a:gd name="connsiteY0" fmla="*/ 351527 h 453306"/>
              <a:gd name="connsiteX1" fmla="*/ 9144000 w 9144000"/>
              <a:gd name="connsiteY1" fmla="*/ 453306 h 453306"/>
              <a:gd name="connsiteX2" fmla="*/ 6883480 w 9144000"/>
              <a:gd name="connsiteY2" fmla="*/ 453306 h 453306"/>
              <a:gd name="connsiteX3" fmla="*/ 7031169 w 9144000"/>
              <a:gd name="connsiteY3" fmla="*/ 450745 h 453306"/>
              <a:gd name="connsiteX4" fmla="*/ 8721899 w 9144000"/>
              <a:gd name="connsiteY4" fmla="*/ 380661 h 453306"/>
              <a:gd name="connsiteX5" fmla="*/ 0 w 9144000"/>
              <a:gd name="connsiteY5" fmla="*/ 0 h 453306"/>
              <a:gd name="connsiteX6" fmla="*/ 20239 w 9144000"/>
              <a:gd name="connsiteY6" fmla="*/ 6796 h 453306"/>
              <a:gd name="connsiteX7" fmla="*/ 4554173 w 9144000"/>
              <a:gd name="connsiteY7" fmla="*/ 450745 h 453306"/>
              <a:gd name="connsiteX8" fmla="*/ 4701864 w 9144000"/>
              <a:gd name="connsiteY8" fmla="*/ 453306 h 453306"/>
              <a:gd name="connsiteX9" fmla="*/ 0 w 9144000"/>
              <a:gd name="connsiteY9" fmla="*/ 453306 h 453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53306">
                <a:moveTo>
                  <a:pt x="9144000" y="351527"/>
                </a:moveTo>
                <a:lnTo>
                  <a:pt x="9144000" y="453306"/>
                </a:lnTo>
                <a:lnTo>
                  <a:pt x="6883480" y="453306"/>
                </a:lnTo>
                <a:lnTo>
                  <a:pt x="7031169" y="450745"/>
                </a:lnTo>
                <a:cubicBezTo>
                  <a:pt x="7631238" y="436794"/>
                  <a:pt x="8199449" y="412907"/>
                  <a:pt x="8721899" y="380661"/>
                </a:cubicBezTo>
                <a:close/>
                <a:moveTo>
                  <a:pt x="0" y="0"/>
                </a:moveTo>
                <a:lnTo>
                  <a:pt x="20239" y="6796"/>
                </a:lnTo>
                <a:cubicBezTo>
                  <a:pt x="743960" y="231363"/>
                  <a:pt x="2453931" y="401917"/>
                  <a:pt x="4554173" y="450745"/>
                </a:cubicBezTo>
                <a:lnTo>
                  <a:pt x="4701864" y="453306"/>
                </a:lnTo>
                <a:lnTo>
                  <a:pt x="0" y="45330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b="1" dirty="0">
              <a:solidFill>
                <a:schemeClr val="bg1"/>
              </a:solidFill>
              <a:latin typeface="微软雅黑" panose="020B0503020204020204" charset="-122"/>
              <a:ea typeface="微软雅黑" panose="020B0503020204020204" charset="-122"/>
            </a:endParaRPr>
          </a:p>
        </p:txBody>
      </p:sp>
      <p:sp>
        <p:nvSpPr>
          <p:cNvPr id="24" name="任意多边形: 形状 23"/>
          <p:cNvSpPr/>
          <p:nvPr/>
        </p:nvSpPr>
        <p:spPr>
          <a:xfrm flipH="1">
            <a:off x="-1" y="5828145"/>
            <a:ext cx="12192000" cy="1029856"/>
          </a:xfrm>
          <a:custGeom>
            <a:avLst/>
            <a:gdLst>
              <a:gd name="connsiteX0" fmla="*/ 9144000 w 9144000"/>
              <a:gd name="connsiteY0" fmla="*/ 351527 h 453306"/>
              <a:gd name="connsiteX1" fmla="*/ 9144000 w 9144000"/>
              <a:gd name="connsiteY1" fmla="*/ 453306 h 453306"/>
              <a:gd name="connsiteX2" fmla="*/ 6883480 w 9144000"/>
              <a:gd name="connsiteY2" fmla="*/ 453306 h 453306"/>
              <a:gd name="connsiteX3" fmla="*/ 7031169 w 9144000"/>
              <a:gd name="connsiteY3" fmla="*/ 450745 h 453306"/>
              <a:gd name="connsiteX4" fmla="*/ 8721899 w 9144000"/>
              <a:gd name="connsiteY4" fmla="*/ 380661 h 453306"/>
              <a:gd name="connsiteX5" fmla="*/ 0 w 9144000"/>
              <a:gd name="connsiteY5" fmla="*/ 0 h 453306"/>
              <a:gd name="connsiteX6" fmla="*/ 20239 w 9144000"/>
              <a:gd name="connsiteY6" fmla="*/ 6796 h 453306"/>
              <a:gd name="connsiteX7" fmla="*/ 4554173 w 9144000"/>
              <a:gd name="connsiteY7" fmla="*/ 450745 h 453306"/>
              <a:gd name="connsiteX8" fmla="*/ 4701864 w 9144000"/>
              <a:gd name="connsiteY8" fmla="*/ 453306 h 453306"/>
              <a:gd name="connsiteX9" fmla="*/ 0 w 9144000"/>
              <a:gd name="connsiteY9" fmla="*/ 453306 h 453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53306">
                <a:moveTo>
                  <a:pt x="9144000" y="351527"/>
                </a:moveTo>
                <a:lnTo>
                  <a:pt x="9144000" y="453306"/>
                </a:lnTo>
                <a:lnTo>
                  <a:pt x="6883480" y="453306"/>
                </a:lnTo>
                <a:lnTo>
                  <a:pt x="7031169" y="450745"/>
                </a:lnTo>
                <a:cubicBezTo>
                  <a:pt x="7631238" y="436794"/>
                  <a:pt x="8199449" y="412907"/>
                  <a:pt x="8721899" y="380661"/>
                </a:cubicBezTo>
                <a:close/>
                <a:moveTo>
                  <a:pt x="0" y="0"/>
                </a:moveTo>
                <a:lnTo>
                  <a:pt x="20239" y="6796"/>
                </a:lnTo>
                <a:cubicBezTo>
                  <a:pt x="743960" y="231363"/>
                  <a:pt x="2453931" y="401917"/>
                  <a:pt x="4554173" y="450745"/>
                </a:cubicBezTo>
                <a:lnTo>
                  <a:pt x="4701864" y="453306"/>
                </a:lnTo>
                <a:lnTo>
                  <a:pt x="0" y="45330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b="1" dirty="0">
              <a:solidFill>
                <a:schemeClr val="bg1"/>
              </a:solidFill>
              <a:latin typeface="微软雅黑" panose="020B0503020204020204" charset="-122"/>
              <a:ea typeface="微软雅黑" panose="020B0503020204020204" charset="-122"/>
            </a:endParaRPr>
          </a:p>
        </p:txBody>
      </p:sp>
      <p:grpSp>
        <p:nvGrpSpPr>
          <p:cNvPr id="29" name="组合 28"/>
          <p:cNvGrpSpPr/>
          <p:nvPr/>
        </p:nvGrpSpPr>
        <p:grpSpPr>
          <a:xfrm>
            <a:off x="-1" y="0"/>
            <a:ext cx="12192000" cy="1427677"/>
            <a:chOff x="0" y="0"/>
            <a:chExt cx="12192000" cy="1427677"/>
          </a:xfrm>
        </p:grpSpPr>
        <p:pic>
          <p:nvPicPr>
            <p:cNvPr id="22" name="图片 21"/>
            <p:cNvPicPr>
              <a:picLocks noChangeAspect="1"/>
            </p:cNvPicPr>
            <p:nvPr/>
          </p:nvPicPr>
          <p:blipFill>
            <a:blip r:embed="rId2">
              <a:alphaModFix amt="40000"/>
              <a:duotone>
                <a:schemeClr val="accent1">
                  <a:shade val="45000"/>
                  <a:satMod val="135000"/>
                </a:schemeClr>
                <a:prstClr val="white"/>
              </a:duotone>
            </a:blip>
            <a:stretch>
              <a:fillRect/>
            </a:stretch>
          </p:blipFill>
          <p:spPr>
            <a:xfrm flipV="1">
              <a:off x="7629876" y="0"/>
              <a:ext cx="4562124" cy="1427677"/>
            </a:xfrm>
            <a:prstGeom prst="rect">
              <a:avLst/>
            </a:prstGeom>
          </p:spPr>
        </p:pic>
        <p:pic>
          <p:nvPicPr>
            <p:cNvPr id="25" name="图片 24"/>
            <p:cNvPicPr>
              <a:picLocks noChangeAspect="1"/>
            </p:cNvPicPr>
            <p:nvPr/>
          </p:nvPicPr>
          <p:blipFill>
            <a:blip r:embed="rId2">
              <a:alphaModFix amt="40000"/>
              <a:duotone>
                <a:schemeClr val="accent1">
                  <a:shade val="45000"/>
                  <a:satMod val="135000"/>
                </a:schemeClr>
                <a:prstClr val="white"/>
              </a:duotone>
            </a:blip>
            <a:stretch>
              <a:fillRect/>
            </a:stretch>
          </p:blipFill>
          <p:spPr>
            <a:xfrm flipH="1" flipV="1">
              <a:off x="0" y="0"/>
              <a:ext cx="4562124" cy="1427677"/>
            </a:xfrm>
            <a:prstGeom prst="rect">
              <a:avLst/>
            </a:prstGeom>
          </p:spPr>
        </p:pic>
      </p:grpSp>
      <p:sp>
        <p:nvSpPr>
          <p:cNvPr id="26" name="矩形 25"/>
          <p:cNvSpPr/>
          <p:nvPr/>
        </p:nvSpPr>
        <p:spPr>
          <a:xfrm>
            <a:off x="-1" y="1263389"/>
            <a:ext cx="12192000" cy="2933681"/>
          </a:xfrm>
          <a:prstGeom prst="rect">
            <a:avLst/>
          </a:prstGeom>
          <a:solidFill>
            <a:schemeClr val="bg1"/>
          </a:solidFill>
          <a:ln>
            <a:noFill/>
          </a:ln>
          <a:effectLst>
            <a:outerShdw blurRad="279400" sx="85000" sy="85000" algn="ctr" rotWithShape="0">
              <a:srgbClr val="0C62C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a:off x="311149" y="4209221"/>
            <a:ext cx="11569700" cy="0"/>
          </a:xfrm>
          <a:prstGeom prst="line">
            <a:avLst/>
          </a:prstGeom>
          <a:ln w="19050">
            <a:gradFill>
              <a:gsLst>
                <a:gs pos="0">
                  <a:schemeClr val="accent1">
                    <a:alpha val="0"/>
                  </a:schemeClr>
                </a:gs>
                <a:gs pos="50000">
                  <a:schemeClr val="accent1">
                    <a:alpha val="30000"/>
                  </a:schemeClr>
                </a:gs>
                <a:gs pos="100000">
                  <a:schemeClr val="accent1">
                    <a:alpha val="0"/>
                  </a:schemeClr>
                </a:gs>
              </a:gsLst>
              <a:lin ang="10800000" scaled="0"/>
            </a:gradFill>
            <a:tailEnd type="none"/>
          </a:ln>
          <a:effectLst/>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40080" y="1700784"/>
            <a:ext cx="10908792" cy="2350008"/>
          </a:xfrm>
          <a:prstGeom prst="rect">
            <a:avLst/>
          </a:prstGeom>
          <a:noFill/>
        </p:spPr>
        <p:txBody>
          <a:bodyPr wrap="square" lIns="18288" rIns="18288" tIns="18288" bIns="18288" anchor="ctr">
            <a:noAutofit/>
          </a:bodyPr>
          <a:lstStyle/>
          <a:p>
            <a:pPr algn="ctr" marL="0" indent="0">
              <a:lnSpc>
                <a:spcPct val="135000"/>
              </a:lnSpc>
              <a:spcBef>
                <a:spcPts val="0"/>
              </a:spcBef>
              <a:spcAft>
                <a:spcPts val="0"/>
              </a:spcAft>
              <a:buNone/>
            </a:pPr>
            <a:r>
              <a:rPr sz="4800" b="1" lang="zh-CN">
                <a:solidFill>
                  <a:srgbClr val="002FA8"/>
                </a:solidFill>
                <a:latin typeface="Noto Sans CJK SC"/>
                <a:ea typeface="Noto Sans CJK SC"/>
                <a:cs typeface="Noto Sans CJK SC"/>
              </a:rPr>
              <a:t>感谢各位领导专家</a:t>
            </a:r>
            <a:endParaRPr lang="zh-CN" altLang="en-US" sz="8800">
              <a:solidFill>
                <a:schemeClr val="accent1"/>
              </a:solidFill>
              <a:latin typeface="思源宋体 CN Heavy" panose="02020900000000000000" pitchFamily="18" charset="-122"/>
              <a:ea typeface="思源宋体 CN Heavy" panose="02020900000000000000" pitchFamily="18" charset="-122"/>
              <a:cs typeface="Times New Roman" panose="02020603050405020304" pitchFamily="18" charset="0"/>
            </a:endParaRPr>
          </a:p>
          <a:p>
            <a:pPr algn="ctr" marL="0" indent="0">
              <a:lnSpc>
                <a:spcPct val="135000"/>
              </a:lnSpc>
              <a:spcBef>
                <a:spcPts val="0"/>
              </a:spcBef>
              <a:spcAft>
                <a:spcPts val="0"/>
              </a:spcAft>
              <a:buNone/>
            </a:pPr>
            <a:r>
              <a:rPr sz="4800" b="1" lang="zh-CN">
                <a:solidFill>
                  <a:srgbClr val="002FA8"/>
                </a:solidFill>
                <a:latin typeface="Noto Sans CJK SC"/>
                <a:ea typeface="Noto Sans CJK SC"/>
                <a:cs typeface="Noto Sans CJK SC"/>
              </a:rPr>
              <a:t>敬请批评指正！</a:t>
            </a:r>
          </a:p>
        </p:txBody>
      </p:sp>
      <p:sp>
        <p:nvSpPr>
          <p:cNvPr id="30" name="矩形: 圆角 29"/>
          <p:cNvSpPr/>
          <p:nvPr/>
        </p:nvSpPr>
        <p:spPr>
          <a:xfrm>
            <a:off x="1923324" y="499460"/>
            <a:ext cx="8353425" cy="465740"/>
          </a:xfrm>
          <a:prstGeom prst="roundRect">
            <a:avLst>
              <a:gd name="adj" fmla="val 2696"/>
            </a:avLst>
          </a:prstGeom>
          <a:gradFill flip="none" rotWithShape="1">
            <a:gsLst>
              <a:gs pos="1361">
                <a:schemeClr val="accent1">
                  <a:alpha val="0"/>
                </a:schemeClr>
              </a:gs>
              <a:gs pos="50000">
                <a:schemeClr val="accent1">
                  <a:alpha val="10000"/>
                </a:schemeClr>
              </a:gs>
              <a:gs pos="100000">
                <a:schemeClr val="accent1">
                  <a:alpha val="0"/>
                </a:schemeClr>
              </a:gs>
            </a:gsLst>
            <a:lin ang="0" scaled="1"/>
            <a:tileRect/>
          </a:gradFill>
          <a:ln w="3175" cap="flat" cmpd="sng" algn="ctr">
            <a:gradFill flip="none" rotWithShape="1">
              <a:gsLst>
                <a:gs pos="0">
                  <a:schemeClr val="accent1">
                    <a:alpha val="0"/>
                  </a:schemeClr>
                </a:gs>
                <a:gs pos="50000">
                  <a:schemeClr val="accent1">
                    <a:alpha val="50000"/>
                  </a:schemeClr>
                </a:gs>
                <a:gs pos="100000">
                  <a:schemeClr val="accent1">
                    <a:alpha val="0"/>
                  </a:schemeClr>
                </a:gs>
              </a:gsLst>
              <a:path path="circle">
                <a:fillToRect l="100000" t="100000"/>
              </a:path>
              <a:tileRect r="-100000" b="-100000"/>
            </a:gradFill>
            <a:prstDash val="solid"/>
            <a:miter lim="800000"/>
          </a:ln>
          <a:effectLst>
            <a:outerShdw blurRad="355600" dir="8100000" algn="tr" rotWithShape="0">
              <a:sysClr val="windowText" lastClr="000000">
                <a:alpha val="18000"/>
              </a:sys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1" lang="zh-CN" altLang="en-US" sz="1800" b="0" i="0" u="none" strike="noStrike" kern="0" cap="none" spc="0" normalizeH="0" baseline="0" noProof="0" dirty="0">
              <a:ln>
                <a:noFill/>
              </a:ln>
              <a:solidFill>
                <a:prstClr val="white"/>
              </a:solidFill>
              <a:effectLst/>
              <a:uLnTx/>
              <a:uFillTx/>
              <a:latin typeface="Roboto Bold"/>
              <a:ea typeface="宋体" panose="02010600030101010101" pitchFamily="2" charset="-122"/>
            </a:endParaRPr>
          </a:p>
        </p:txBody>
      </p:sp>
      <p:sp>
        <p:nvSpPr>
          <p:cNvPr id="31" name="Rounded Rectangle 30"/>
          <p:cNvSpPr/>
          <p:nvPr/>
        </p:nvSpPr>
        <p:spPr>
          <a:xfrm>
            <a:off x="4562856" y="4599432"/>
            <a:ext cx="3063240" cy="493776"/>
          </a:xfrm>
          <a:prstGeom prst="roundRect">
            <a:avLst>
              <a:gd name="adj" fmla="val 6000"/>
            </a:avLst>
          </a:prstGeom>
          <a:solidFill>
            <a:srgbClr val="002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0" y="4663440"/>
            <a:ext cx="2862072" cy="329184"/>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100" b="1" lang="zh-CN">
                <a:solidFill>
                  <a:srgbClr val="FFFFFF"/>
                </a:solidFill>
                <a:latin typeface="Noto Sans CJK SC"/>
                <a:ea typeface="Noto Sans CJK SC"/>
                <a:cs typeface="Noto Sans CJK SC"/>
              </a:rPr>
              <a:t>答辩人：刘方珂</a:t>
            </a:r>
          </a:p>
        </p:txBody>
      </p:sp>
      <p:sp>
        <p:nvSpPr>
          <p:cNvPr id="33" name="TextBox 32"/>
          <p:cNvSpPr txBox="1"/>
          <p:nvPr/>
        </p:nvSpPr>
        <p:spPr>
          <a:xfrm>
            <a:off x="1929384" y="539496"/>
            <a:ext cx="8339327" cy="347472"/>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2000" b="0" lang="zh-CN">
                <a:solidFill>
                  <a:srgbClr val="002FA8"/>
                </a:solidFill>
                <a:latin typeface="Noto Sans CJK SC"/>
                <a:ea typeface="Noto Sans CJK SC"/>
                <a:cs typeface="Noto Sans CJK SC"/>
              </a:rPr>
              <a:t>硕士学位论文开题答辩</a:t>
            </a:r>
          </a:p>
        </p:txBody>
      </p:sp>
      <p:sp>
        <p:nvSpPr>
          <p:cNvPr id="34" name="TextBox 33"/>
          <p:cNvSpPr txBox="1"/>
          <p:nvPr/>
        </p:nvSpPr>
        <p:spPr>
          <a:xfrm>
            <a:off x="1106424" y="5394960"/>
            <a:ext cx="9976104" cy="612648"/>
          </a:xfrm>
          <a:prstGeom prst="rect">
            <a:avLst/>
          </a:prstGeom>
          <a:noFill/>
        </p:spPr>
        <p:txBody>
          <a:bodyPr wrap="square" lIns="18288" rIns="18288" tIns="18288" bIns="18288" anchor="ctr">
            <a:noAutofit/>
          </a:bodyPr>
          <a:lstStyle/>
          <a:p>
            <a:pPr algn="ctr" marL="0" indent="0">
              <a:lnSpc>
                <a:spcPct val="112000"/>
              </a:lnSpc>
              <a:spcBef>
                <a:spcPts val="0"/>
              </a:spcBef>
              <a:spcAft>
                <a:spcPts val="0"/>
              </a:spcAft>
              <a:buNone/>
            </a:pPr>
            <a:r>
              <a:rPr sz="1900" b="0" lang="zh-CN">
                <a:solidFill>
                  <a:srgbClr val="002FA8"/>
                </a:solidFill>
                <a:latin typeface="Noto Sans CJK SC"/>
                <a:ea typeface="Noto Sans CJK SC"/>
                <a:cs typeface="Noto Sans CJK SC"/>
              </a:rPr>
              <a:t>融合视觉感知与强化学习的动态室内环境无人车规划与控制方法研究</a:t>
            </a:r>
          </a:p>
        </p:txBody>
      </p:sp>
    </p:spTree>
  </p:cSld>
  <p:clrMapOvr>
    <a:masterClrMapping/>
  </p:clrMapOvr>
</p:sld>
</file>

<file path=ppt/tags/tag1.xml><?xml version="1.0" encoding="utf-8"?>
<p:tagLst xmlns:p="http://schemas.openxmlformats.org/presentationml/2006/main">
  <p:tag name="ADJUSTMENTS" val="0"/>
</p:tagLst>
</file>

<file path=ppt/tags/tag2.xml><?xml version="1.0" encoding="utf-8"?>
<p:tagLst xmlns:p="http://schemas.openxmlformats.org/presentationml/2006/main">
  <p:tag name="ISLIDE.GUIDESSETTING" val="{&quot;Id&quot;:&quot;4ccfb3b8-1725-471f-9e2f-1a220925d111&quot;,&quot;Name&quot;:&quot;自定义&quot;,&quot;Kind&quot;:1,&quot;OldGuidesSetting&quot;:{&quot;HeaderHeight&quot;:10.0,&quot;FooterHeight&quot;:6.0,&quot;SideMargin&quot;:4.0,&quot;TopMargin&quot;:0.0,&quot;BottomMargin&quot;:0.0,&quot;IntervalMargin&quot;:1.5}}"/>
</p:tagLst>
</file>

<file path=ppt/theme/theme1.xml><?xml version="1.0" encoding="utf-8"?>
<a:theme xmlns:a="http://schemas.openxmlformats.org/drawingml/2006/main" name="Office 主题​​">
  <a:themeElements>
    <a:clrScheme name="自定义 7">
      <a:dk1>
        <a:sysClr val="windowText" lastClr="000000"/>
      </a:dk1>
      <a:lt1>
        <a:sysClr val="window" lastClr="FFFFFF"/>
      </a:lt1>
      <a:dk2>
        <a:srgbClr val="44546A"/>
      </a:dk2>
      <a:lt2>
        <a:srgbClr val="E7E6E6"/>
      </a:lt2>
      <a:accent1>
        <a:srgbClr val="002FA8"/>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2850</Words>
  <Application>WPS 演示</Application>
  <PresentationFormat>宽屏</PresentationFormat>
  <Paragraphs>462</Paragraphs>
  <Slides>19</Slides>
  <Notes>0</Notes>
  <HiddenSlides>0</HiddenSlides>
  <MMClips>0</MMClips>
  <ScaleCrop>false</ScaleCrop>
  <HeadingPairs>
    <vt:vector size="6" baseType="variant">
      <vt:variant>
        <vt:lpstr>已用的字体</vt:lpstr>
      </vt:variant>
      <vt:variant>
        <vt:i4>40</vt:i4>
      </vt:variant>
      <vt:variant>
        <vt:lpstr>主题</vt:lpstr>
      </vt:variant>
      <vt:variant>
        <vt:i4>1</vt:i4>
      </vt:variant>
      <vt:variant>
        <vt:lpstr>幻灯片标题</vt:lpstr>
      </vt:variant>
      <vt:variant>
        <vt:i4>19</vt:i4>
      </vt:variant>
    </vt:vector>
  </HeadingPairs>
  <TitlesOfParts>
    <vt:vector size="60" baseType="lpstr">
      <vt:lpstr>Arial</vt:lpstr>
      <vt:lpstr>宋体</vt:lpstr>
      <vt:lpstr>Wingdings</vt:lpstr>
      <vt:lpstr>微软雅黑</vt:lpstr>
      <vt:lpstr>思源宋体 CN Heavy</vt:lpstr>
      <vt:lpstr>Times New Roman</vt:lpstr>
      <vt:lpstr>Roboto Bold</vt:lpstr>
      <vt:lpstr>思源黑体 CN Bold</vt:lpstr>
      <vt:lpstr>Arial</vt:lpstr>
      <vt:lpstr>思源黑体 CN Light</vt:lpstr>
      <vt:lpstr>Roboto</vt:lpstr>
      <vt:lpstr>思源黑体 CN Heavy</vt:lpstr>
      <vt:lpstr>HelveticaExt-Normal</vt:lpstr>
      <vt:lpstr>OPPOSans B</vt:lpstr>
      <vt:lpstr>黑体</vt:lpstr>
      <vt:lpstr>Source Han Sans Normal</vt:lpstr>
      <vt:lpstr>微软雅黑 Light</vt:lpstr>
      <vt:lpstr>等线</vt:lpstr>
      <vt:lpstr>DIN</vt:lpstr>
      <vt:lpstr>思源黑体 CN Medium</vt:lpstr>
      <vt:lpstr>Calibri</vt:lpstr>
      <vt:lpstr>思源黑体 CN Regular</vt:lpstr>
      <vt:lpstr>Roboto</vt:lpstr>
      <vt:lpstr>Arial Unicode MS</vt:lpstr>
      <vt:lpstr>等线 Light</vt:lpstr>
      <vt:lpstr>AMGDT</vt:lpstr>
      <vt:lpstr>DIN Next LT Pro</vt:lpstr>
      <vt:lpstr>Calibri</vt:lpstr>
      <vt:lpstr>DIN</vt:lpstr>
      <vt:lpstr>HelveticaExt-Normal</vt:lpstr>
      <vt:lpstr>OPPOSans B</vt:lpstr>
      <vt:lpstr>Roboto Bold</vt:lpstr>
      <vt:lpstr>Source Han Sans Normal</vt:lpstr>
      <vt:lpstr>Wingdings</vt:lpstr>
      <vt:lpstr>思源宋体 CN Heavy</vt:lpstr>
      <vt:lpstr>思源黑体 CN Bold</vt:lpstr>
      <vt:lpstr>思源黑体 CN Heavy</vt:lpstr>
      <vt:lpstr>思源黑体 CN Light</vt:lpstr>
      <vt:lpstr>思源黑体 CN Medium</vt:lpstr>
      <vt:lpstr>思源黑体 CN Regular</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融合视觉感知与强化学习的动态室内环境无人车规划与控制方法研究</dc:title>
  <dc:creator>刘方珂</dc:creator>
  <cp:lastModifiedBy>［离线请留言］</cp:lastModifiedBy>
  <cp:revision>249</cp:revision>
  <dcterms:created xsi:type="dcterms:W3CDTF">2025-08-23T08:17:00Z</dcterms:created>
  <dcterms:modified xsi:type="dcterms:W3CDTF">2026-10-06T15:43:56Z</dcterms:modified>
  <dc:subject>硕士学位论文开题答辩</dc:subject>
  <cp:keywords>SAC,DWA,无人车,视觉感知,自主进出梯</cp:keywords>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0B218CCD1DD44B4F9D4D2A85982927F0_13</vt:lpwstr>
  </property>
  <property fmtid="{D5CDD505-2E9C-101B-9397-08002B2CF9AE}" pid="3" name="KSOProductBuildVer">
    <vt:lpwstr>2052-12.1.0.29161</vt:lpwstr>
  </property>
</Properties>
</file>